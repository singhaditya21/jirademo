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'how this can be built' demo, not a budget request. Core spine is nine slides; appendix is there if we have time or if you want to 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tiles map to the four things you weigh. If you only have ten minutes, slides 4, 5 and 10 are the ones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move: reframe from a people/discipline problem to a configuration problem, because configuration is fixable in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If nothing else lands, this should. A project-per-tower split is only justified when towers are separate vendors with data-isolation requirements — flagged as an open question, Appendix A-8.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Validators and post-functions are company-managed workflow features — another reason the project cannot be team-managed. The escalation-rate-per-analyst data is the part that usually surprises people: the control and the measurement come from the same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statuses, deliberately not more. The amber states are the ones that make or break trust in the SLA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not sixteen. The pairing is the point — a scoreboard that can be gamed by a single behaviour is not a scoreboard.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finding from the live instance, not a hypothetical. Raising it early is the point — it is the fork in the road for the whole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system well before week eight — the schema and workflow are usable from about week four. The pilot tower gets picked in phase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what they want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A4E"/>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52A4E"/>
          </a:solidFill>
          <a:ln/>
        </p:spPr>
      </p:sp>
      <p:sp>
        <p:nvSpPr>
          <p:cNvPr id="3" name="Text 1"/>
          <p:cNvSpPr/>
          <p:nvPr/>
        </p:nvSpPr>
        <p:spPr>
          <a:xfrm>
            <a:off x="502920" y="1417320"/>
            <a:ext cx="10058400" cy="274320"/>
          </a:xfrm>
          <a:prstGeom prst="rect">
            <a:avLst/>
          </a:prstGeom>
          <a:noFill/>
          <a:ln/>
        </p:spPr>
        <p:txBody>
          <a:bodyPr wrap="square" lIns="0" tIns="0" rIns="0" bIns="0" rtlCol="0" anchor="ctr"/>
          <a:lstStyle/>
          <a:p>
            <a:pPr indent="0" marL="0">
              <a:buNone/>
            </a:pPr>
            <a:r>
              <a:rPr lang="en-US" sz="1050" b="1" spc="220" kern="0" dirty="0">
                <a:solidFill>
                  <a:srgbClr val="6FC0BE"/>
                </a:solidFill>
                <a:latin typeface="Calibri" pitchFamily="34" charset="0"/>
                <a:ea typeface="Calibri" pitchFamily="34" charset="-122"/>
                <a:cs typeface="Calibri" pitchFamily="34" charset="-120"/>
              </a:rPr>
              <a:t>JIRA · IT SERVICE OPERATIONS · BUILD DEMONSTRATION</a:t>
            </a:r>
            <a:endParaRPr lang="en-US" sz="1050" dirty="0"/>
          </a:p>
        </p:txBody>
      </p:sp>
      <p:sp>
        <p:nvSpPr>
          <p:cNvPr id="4" name="Text 2"/>
          <p:cNvSpPr/>
          <p:nvPr/>
        </p:nvSpPr>
        <p:spPr>
          <a:xfrm>
            <a:off x="502920" y="1874520"/>
            <a:ext cx="10424160" cy="10515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Building an L1/L2 Support Tower on Jira</a:t>
            </a:r>
            <a:endParaRPr lang="en-US" sz="4200" dirty="0"/>
          </a:p>
        </p:txBody>
      </p:sp>
      <p:sp>
        <p:nvSpPr>
          <p:cNvPr id="5" name="Text 3"/>
          <p:cNvSpPr/>
          <p:nvPr/>
        </p:nvSpPr>
        <p:spPr>
          <a:xfrm>
            <a:off x="502920" y="2999232"/>
            <a:ext cx="9509760" cy="868680"/>
          </a:xfrm>
          <a:prstGeom prst="rect">
            <a:avLst/>
          </a:prstGeom>
          <a:noFill/>
          <a:ln/>
        </p:spPr>
        <p:txBody>
          <a:bodyPr wrap="square" lIns="0" tIns="0" rIns="0" bIns="0" rtlCol="0" anchor="ctr"/>
          <a:lstStyle/>
          <a:p>
            <a:pPr indent="0" marL="0">
              <a:lnSpc>
                <a:spcPts val="2200"/>
              </a:lnSpc>
              <a:buNone/>
            </a:pPr>
            <a:r>
              <a:rPr lang="en-US" sz="1500" dirty="0">
                <a:solidFill>
                  <a:srgbClr val="CFDAEA"/>
                </a:solidFill>
                <a:latin typeface="Calibri" pitchFamily="34" charset="0"/>
                <a:ea typeface="Calibri" pitchFamily="34" charset="-122"/>
                <a:cs typeface="Calibri" pitchFamily="34" charset="-120"/>
              </a:rPr>
              <a:t>Tier is a workflow state, not a separate project — the single decision that fixes ticket ping-pong, L1 measurability, and SLA credibility at the same time</a:t>
            </a:r>
            <a:endParaRPr lang="en-US" sz="1500" dirty="0"/>
          </a:p>
        </p:txBody>
      </p:sp>
      <p:sp>
        <p:nvSpPr>
          <p:cNvPr id="6" name="Shape 4"/>
          <p:cNvSpPr/>
          <p:nvPr/>
        </p:nvSpPr>
        <p:spPr>
          <a:xfrm>
            <a:off x="502920" y="4160520"/>
            <a:ext cx="2926080" cy="0"/>
          </a:xfrm>
          <a:prstGeom prst="line">
            <a:avLst/>
          </a:prstGeom>
          <a:noFill/>
          <a:ln w="15875">
            <a:solidFill>
              <a:srgbClr val="3D5B8C"/>
            </a:solidFill>
            <a:prstDash val="solid"/>
          </a:ln>
        </p:spPr>
      </p:sp>
      <p:sp>
        <p:nvSpPr>
          <p:cNvPr id="7" name="Text 5"/>
          <p:cNvSpPr/>
          <p:nvPr/>
        </p:nvSpPr>
        <p:spPr>
          <a:xfrm>
            <a:off x="502920" y="4343400"/>
            <a:ext cx="64008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Platform Engineering   ·   20 July 2026</a:t>
            </a:r>
            <a:endParaRPr lang="en-US" sz="1300" dirty="0"/>
          </a:p>
        </p:txBody>
      </p:sp>
      <p:sp>
        <p:nvSpPr>
          <p:cNvPr id="8" name="Text 6"/>
          <p:cNvSpPr/>
          <p:nvPr/>
        </p:nvSpPr>
        <p:spPr>
          <a:xfrm>
            <a:off x="502920" y="4645152"/>
            <a:ext cx="7315200" cy="274320"/>
          </a:xfrm>
          <a:prstGeom prst="rect">
            <a:avLst/>
          </a:prstGeom>
          <a:noFill/>
          <a:ln/>
        </p:spPr>
        <p:txBody>
          <a:bodyPr wrap="square" lIns="0" tIns="0" rIns="0" bIns="0" rtlCol="0" anchor="ctr"/>
          <a:lstStyle/>
          <a:p>
            <a:pPr indent="0" marL="0">
              <a:buNone/>
            </a:pPr>
            <a:r>
              <a:rPr lang="en-US" sz="1100" dirty="0">
                <a:solidFill>
                  <a:srgbClr val="9FB0C9"/>
                </a:solidFill>
                <a:latin typeface="Calibri" pitchFamily="34" charset="0"/>
                <a:ea typeface="Calibri" pitchFamily="34" charset="-122"/>
                <a:cs typeface="Calibri" pitchFamily="34" charset="-120"/>
              </a:rPr>
              <a:t>Design and build plan against a live Jira Cloud instance</a:t>
            </a:r>
            <a:endParaRPr lang="en-US" sz="1100" dirty="0"/>
          </a:p>
        </p:txBody>
      </p:sp>
      <p:sp>
        <p:nvSpPr>
          <p:cNvPr id="9" name="Shape 7"/>
          <p:cNvSpPr/>
          <p:nvPr/>
        </p:nvSpPr>
        <p:spPr>
          <a:xfrm>
            <a:off x="502920" y="5212080"/>
            <a:ext cx="2788920" cy="841248"/>
          </a:xfrm>
          <a:prstGeom prst="roundRect">
            <a:avLst>
              <a:gd name="adj" fmla="val 6522"/>
            </a:avLst>
          </a:prstGeom>
          <a:solidFill>
            <a:srgbClr val="27436F"/>
          </a:solidFill>
          <a:ln w="12700">
            <a:solidFill>
              <a:srgbClr val="3D5B8C"/>
            </a:solidFill>
            <a:prstDash val="solid"/>
          </a:ln>
        </p:spPr>
      </p:sp>
      <p:sp>
        <p:nvSpPr>
          <p:cNvPr id="10" name="Text 8"/>
          <p:cNvSpPr/>
          <p:nvPr/>
        </p:nvSpPr>
        <p:spPr>
          <a:xfrm>
            <a:off x="667512" y="5285232"/>
            <a:ext cx="2468880" cy="201168"/>
          </a:xfrm>
          <a:prstGeom prst="rect">
            <a:avLst/>
          </a:prstGeom>
          <a:noFill/>
          <a:ln/>
        </p:spPr>
        <p:txBody>
          <a:bodyPr wrap="square" lIns="0" tIns="0" rIns="0" bIns="0" rtlCol="0" anchor="ctr"/>
          <a:lstStyle/>
          <a:p>
            <a:pPr indent="0" marL="0">
              <a:buNone/>
            </a:pPr>
            <a:r>
              <a:rPr lang="en-US" sz="850" b="1" spc="140" kern="0" dirty="0">
                <a:solidFill>
                  <a:srgbClr val="6FC0BE"/>
                </a:solidFill>
                <a:latin typeface="Calibri" pitchFamily="34" charset="0"/>
                <a:ea typeface="Calibri" pitchFamily="34" charset="-122"/>
                <a:cs typeface="Calibri" pitchFamily="34" charset="-120"/>
              </a:rPr>
              <a:t>CORE DECK</a:t>
            </a:r>
            <a:endParaRPr lang="en-US" sz="850" dirty="0"/>
          </a:p>
        </p:txBody>
      </p:sp>
      <p:sp>
        <p:nvSpPr>
          <p:cNvPr id="11" name="Text 9"/>
          <p:cNvSpPr/>
          <p:nvPr/>
        </p:nvSpPr>
        <p:spPr>
          <a:xfrm>
            <a:off x="667512" y="5477256"/>
            <a:ext cx="24688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Slides 2–10</a:t>
            </a:r>
            <a:endParaRPr lang="en-US" sz="1200" dirty="0"/>
          </a:p>
        </p:txBody>
      </p:sp>
      <p:sp>
        <p:nvSpPr>
          <p:cNvPr id="12" name="Text 10"/>
          <p:cNvSpPr/>
          <p:nvPr/>
        </p:nvSpPr>
        <p:spPr>
          <a:xfrm>
            <a:off x="667512" y="5705856"/>
            <a:ext cx="2468880" cy="237744"/>
          </a:xfrm>
          <a:prstGeom prst="rect">
            <a:avLst/>
          </a:prstGeom>
          <a:noFill/>
          <a:ln/>
        </p:spPr>
        <p:txBody>
          <a:bodyPr wrap="square" lIns="0" tIns="0" rIns="0" bIns="0" rtlCol="0" anchor="ctr"/>
          <a:lstStyle/>
          <a:p>
            <a:pPr indent="0" marL="0">
              <a:buNone/>
            </a:pPr>
            <a:r>
              <a:rPr lang="en-US" sz="950" dirty="0">
                <a:solidFill>
                  <a:srgbClr val="9FB0C9"/>
                </a:solidFill>
                <a:latin typeface="Calibri" pitchFamily="34" charset="0"/>
                <a:ea typeface="Calibri" pitchFamily="34" charset="-122"/>
                <a:cs typeface="Calibri" pitchFamily="34" charset="-120"/>
              </a:rPr>
              <a:t>Stands alone in 10–15 minutes</a:t>
            </a:r>
            <a:endParaRPr lang="en-US" sz="950" dirty="0"/>
          </a:p>
        </p:txBody>
      </p:sp>
      <p:sp>
        <p:nvSpPr>
          <p:cNvPr id="13" name="Shape 11"/>
          <p:cNvSpPr/>
          <p:nvPr/>
        </p:nvSpPr>
        <p:spPr>
          <a:xfrm>
            <a:off x="3566160" y="5212080"/>
            <a:ext cx="2788920" cy="841248"/>
          </a:xfrm>
          <a:prstGeom prst="roundRect">
            <a:avLst>
              <a:gd name="adj" fmla="val 6522"/>
            </a:avLst>
          </a:prstGeom>
          <a:solidFill>
            <a:srgbClr val="27436F"/>
          </a:solidFill>
          <a:ln w="12700">
            <a:solidFill>
              <a:srgbClr val="3D5B8C"/>
            </a:solidFill>
            <a:prstDash val="solid"/>
          </a:ln>
        </p:spPr>
      </p:sp>
      <p:sp>
        <p:nvSpPr>
          <p:cNvPr id="14" name="Text 12"/>
          <p:cNvSpPr/>
          <p:nvPr/>
        </p:nvSpPr>
        <p:spPr>
          <a:xfrm>
            <a:off x="3730752" y="5285232"/>
            <a:ext cx="2468880" cy="201168"/>
          </a:xfrm>
          <a:prstGeom prst="rect">
            <a:avLst/>
          </a:prstGeom>
          <a:noFill/>
          <a:ln/>
        </p:spPr>
        <p:txBody>
          <a:bodyPr wrap="square" lIns="0" tIns="0" rIns="0" bIns="0" rtlCol="0" anchor="ctr"/>
          <a:lstStyle/>
          <a:p>
            <a:pPr indent="0" marL="0">
              <a:buNone/>
            </a:pPr>
            <a:r>
              <a:rPr lang="en-US" sz="850" b="1" spc="140" kern="0" dirty="0">
                <a:solidFill>
                  <a:srgbClr val="6FC0BE"/>
                </a:solidFill>
                <a:latin typeface="Calibri" pitchFamily="34" charset="0"/>
                <a:ea typeface="Calibri" pitchFamily="34" charset="-122"/>
                <a:cs typeface="Calibri" pitchFamily="34" charset="-120"/>
              </a:rPr>
              <a:t>APPENDIX</a:t>
            </a:r>
            <a:endParaRPr lang="en-US" sz="850" dirty="0"/>
          </a:p>
        </p:txBody>
      </p:sp>
      <p:sp>
        <p:nvSpPr>
          <p:cNvPr id="15" name="Text 13"/>
          <p:cNvSpPr/>
          <p:nvPr/>
        </p:nvSpPr>
        <p:spPr>
          <a:xfrm>
            <a:off x="3730752" y="5477256"/>
            <a:ext cx="24688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Slides A-1 – A-8</a:t>
            </a:r>
            <a:endParaRPr lang="en-US" sz="1200" dirty="0"/>
          </a:p>
        </p:txBody>
      </p:sp>
      <p:sp>
        <p:nvSpPr>
          <p:cNvPr id="16" name="Text 14"/>
          <p:cNvSpPr/>
          <p:nvPr/>
        </p:nvSpPr>
        <p:spPr>
          <a:xfrm>
            <a:off x="3730752" y="5705856"/>
            <a:ext cx="2468880" cy="237744"/>
          </a:xfrm>
          <a:prstGeom prst="rect">
            <a:avLst/>
          </a:prstGeom>
          <a:noFill/>
          <a:ln/>
        </p:spPr>
        <p:txBody>
          <a:bodyPr wrap="square" lIns="0" tIns="0" rIns="0" bIns="0" rtlCol="0" anchor="ctr"/>
          <a:lstStyle/>
          <a:p>
            <a:pPr indent="0" marL="0">
              <a:buNone/>
            </a:pPr>
            <a:r>
              <a:rPr lang="en-US" sz="950" dirty="0">
                <a:solidFill>
                  <a:srgbClr val="9FB0C9"/>
                </a:solidFill>
                <a:latin typeface="Calibri" pitchFamily="34" charset="0"/>
                <a:ea typeface="Calibri" pitchFamily="34" charset="-122"/>
                <a:cs typeface="Calibri" pitchFamily="34" charset="-120"/>
              </a:rPr>
              <a:t>Deep dives, on demand</a:t>
            </a:r>
            <a:endParaRPr lang="en-US" sz="950" dirty="0"/>
          </a:p>
        </p:txBody>
      </p:sp>
      <p:sp>
        <p:nvSpPr>
          <p:cNvPr id="17" name="Text 15"/>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9FB0C9"/>
                </a:solidFill>
                <a:latin typeface="Calibri" pitchFamily="34" charset="0"/>
                <a:ea typeface="Calibri" pitchFamily="34" charset="-122"/>
                <a:cs typeface="Calibri" pitchFamily="34" charset="-120"/>
              </a:rPr>
              <a:t>Source: BRIEF.md and PLAN.md, 20 July 2026; live survey of the Jira instance</a:t>
            </a:r>
            <a:endParaRPr lang="en-US" sz="850" dirty="0"/>
          </a:p>
        </p:txBody>
      </p:sp>
      <p:sp>
        <p:nvSpPr>
          <p:cNvPr id="18" name="Text 16"/>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9FB0C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EXECUTIVE SUMMARY</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Three chronic failures of L1/L2 towers share one configuration root cause — and eight weeks of configuration fixes all three</a:t>
            </a:r>
            <a:endParaRPr lang="en-US" sz="1850" dirty="0"/>
          </a:p>
        </p:txBody>
      </p:sp>
      <p:sp>
        <p:nvSpPr>
          <p:cNvPr id="4" name="Shape 2"/>
          <p:cNvSpPr/>
          <p:nvPr/>
        </p:nvSpPr>
        <p:spPr>
          <a:xfrm>
            <a:off x="502920" y="1389888"/>
            <a:ext cx="3529584" cy="1965960"/>
          </a:xfrm>
          <a:prstGeom prst="roundRect">
            <a:avLst>
              <a:gd name="adj" fmla="val 2791"/>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5" name="Text 3"/>
          <p:cNvSpPr/>
          <p:nvPr/>
        </p:nvSpPr>
        <p:spPr>
          <a:xfrm>
            <a:off x="685800" y="1517904"/>
            <a:ext cx="3163824" cy="237744"/>
          </a:xfrm>
          <a:prstGeom prst="rect">
            <a:avLst/>
          </a:prstGeom>
          <a:noFill/>
          <a:ln/>
        </p:spPr>
        <p:txBody>
          <a:bodyPr wrap="square" lIns="0" tIns="0" rIns="0" bIns="0" rtlCol="0" anchor="ctr"/>
          <a:lstStyle/>
          <a:p>
            <a:pPr indent="0" marL="0">
              <a:buNone/>
            </a:pPr>
            <a:r>
              <a:rPr lang="en-US" sz="950" b="1" spc="140" kern="0" dirty="0">
                <a:solidFill>
                  <a:srgbClr val="152A4E"/>
                </a:solidFill>
                <a:latin typeface="Calibri" pitchFamily="34" charset="0"/>
                <a:ea typeface="Calibri" pitchFamily="34" charset="-122"/>
                <a:cs typeface="Calibri" pitchFamily="34" charset="-120"/>
              </a:rPr>
              <a:t>SITUATION</a:t>
            </a:r>
            <a:endParaRPr lang="en-US" sz="950" dirty="0"/>
          </a:p>
        </p:txBody>
      </p:sp>
      <p:sp>
        <p:nvSpPr>
          <p:cNvPr id="6" name="Text 4"/>
          <p:cNvSpPr/>
          <p:nvPr/>
        </p:nvSpPr>
        <p:spPr>
          <a:xfrm>
            <a:off x="685800" y="1810512"/>
            <a:ext cx="3163824" cy="146304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Every L1/L2 tower already owns a ticket system; the tool is not the gap.</a:t>
            </a:r>
            <a:endParaRPr lang="en-US" sz="1100" dirty="0"/>
          </a:p>
          <a:p>
            <a:pPr marL="342900" indent="-342900">
              <a:lnSpc>
                <a:spcPts val="1500"/>
              </a:lnSpc>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This instance is a clean slate — site admin rights, no conflicting projects.</a:t>
            </a:r>
            <a:endParaRPr lang="en-US" sz="1100" dirty="0"/>
          </a:p>
        </p:txBody>
      </p:sp>
      <p:sp>
        <p:nvSpPr>
          <p:cNvPr id="7" name="Shape 5"/>
          <p:cNvSpPr/>
          <p:nvPr/>
        </p:nvSpPr>
        <p:spPr>
          <a:xfrm>
            <a:off x="4306824" y="1389888"/>
            <a:ext cx="3529584" cy="1965960"/>
          </a:xfrm>
          <a:prstGeom prst="roundRect">
            <a:avLst>
              <a:gd name="adj" fmla="val 2791"/>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8" name="Text 6"/>
          <p:cNvSpPr/>
          <p:nvPr/>
        </p:nvSpPr>
        <p:spPr>
          <a:xfrm>
            <a:off x="4489704" y="1517904"/>
            <a:ext cx="3163824" cy="237744"/>
          </a:xfrm>
          <a:prstGeom prst="rect">
            <a:avLst/>
          </a:prstGeom>
          <a:noFill/>
          <a:ln/>
        </p:spPr>
        <p:txBody>
          <a:bodyPr wrap="square" lIns="0" tIns="0" rIns="0" bIns="0" rtlCol="0" anchor="ctr"/>
          <a:lstStyle/>
          <a:p>
            <a:pPr indent="0" marL="0">
              <a:buNone/>
            </a:pPr>
            <a:r>
              <a:rPr lang="en-US" sz="950" b="1" spc="140" kern="0" dirty="0">
                <a:solidFill>
                  <a:srgbClr val="9E2B25"/>
                </a:solidFill>
                <a:latin typeface="Calibri" pitchFamily="34" charset="0"/>
                <a:ea typeface="Calibri" pitchFamily="34" charset="-122"/>
                <a:cs typeface="Calibri" pitchFamily="34" charset="-120"/>
              </a:rPr>
              <a:t>COMPLICATION</a:t>
            </a:r>
            <a:endParaRPr lang="en-US" sz="950" dirty="0"/>
          </a:p>
        </p:txBody>
      </p:sp>
      <p:sp>
        <p:nvSpPr>
          <p:cNvPr id="9" name="Text 7"/>
          <p:cNvSpPr/>
          <p:nvPr/>
        </p:nvSpPr>
        <p:spPr>
          <a:xfrm>
            <a:off x="4489704" y="1810512"/>
            <a:ext cx="3163824" cy="146304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Towers fail the same three ways: ping-pong, an L1 that cannot prove its value, and SLA reports nobody trusts.</a:t>
            </a:r>
            <a:endParaRPr lang="en-US" sz="1100" dirty="0"/>
          </a:p>
          <a:p>
            <a:pPr marL="342900" indent="-342900">
              <a:lnSpc>
                <a:spcPts val="1500"/>
              </a:lnSpc>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All three are caused by treating escalation as a handoff between queues.</a:t>
            </a:r>
            <a:endParaRPr lang="en-US" sz="1100" dirty="0"/>
          </a:p>
        </p:txBody>
      </p:sp>
      <p:sp>
        <p:nvSpPr>
          <p:cNvPr id="10" name="Shape 8"/>
          <p:cNvSpPr/>
          <p:nvPr/>
        </p:nvSpPr>
        <p:spPr>
          <a:xfrm>
            <a:off x="8110728" y="1389888"/>
            <a:ext cx="3529584" cy="1965960"/>
          </a:xfrm>
          <a:prstGeom prst="roundRect">
            <a:avLst>
              <a:gd name="adj" fmla="val 2791"/>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11" name="Text 9"/>
          <p:cNvSpPr/>
          <p:nvPr/>
        </p:nvSpPr>
        <p:spPr>
          <a:xfrm>
            <a:off x="8293608" y="1517904"/>
            <a:ext cx="3163824" cy="237744"/>
          </a:xfrm>
          <a:prstGeom prst="rect">
            <a:avLst/>
          </a:prstGeom>
          <a:noFill/>
          <a:ln/>
        </p:spPr>
        <p:txBody>
          <a:bodyPr wrap="square" lIns="0" tIns="0" rIns="0" bIns="0" rtlCol="0" anchor="ctr"/>
          <a:lstStyle/>
          <a:p>
            <a:pPr indent="0" marL="0">
              <a:buNone/>
            </a:pPr>
            <a:r>
              <a:rPr lang="en-US" sz="950" b="1" spc="140" kern="0" dirty="0">
                <a:solidFill>
                  <a:srgbClr val="0E7C7B"/>
                </a:solidFill>
                <a:latin typeface="Calibri" pitchFamily="34" charset="0"/>
                <a:ea typeface="Calibri" pitchFamily="34" charset="-122"/>
                <a:cs typeface="Calibri" pitchFamily="34" charset="-120"/>
              </a:rPr>
              <a:t>RESOLUTION</a:t>
            </a:r>
            <a:endParaRPr lang="en-US" sz="950" dirty="0"/>
          </a:p>
        </p:txBody>
      </p:sp>
      <p:sp>
        <p:nvSpPr>
          <p:cNvPr id="12" name="Text 10"/>
          <p:cNvSpPr/>
          <p:nvPr/>
        </p:nvSpPr>
        <p:spPr>
          <a:xfrm>
            <a:off x="8293608" y="1810512"/>
            <a:ext cx="3163824" cy="146304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Make tier a workflow state and tower a field, inside one project.</a:t>
            </a:r>
            <a:endParaRPr lang="en-US" sz="1100" dirty="0"/>
          </a:p>
          <a:p>
            <a:pPr marL="342900" indent="-342900">
              <a:lnSpc>
                <a:spcPts val="1500"/>
              </a:lnSpc>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Gate escalation with a validator; derive priority; pause the SLA clock.</a:t>
            </a:r>
            <a:endParaRPr lang="en-US" sz="1100" dirty="0"/>
          </a:p>
          <a:p>
            <a:pPr marL="342900" indent="-342900">
              <a:lnSpc>
                <a:spcPts val="1500"/>
              </a:lnSpc>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Build it via REST API, pilot one tower, then roll out.</a:t>
            </a:r>
            <a:endParaRPr lang="en-US" sz="1100" dirty="0"/>
          </a:p>
        </p:txBody>
      </p:sp>
      <p:sp>
        <p:nvSpPr>
          <p:cNvPr id="13" name="Text 11"/>
          <p:cNvSpPr/>
          <p:nvPr/>
        </p:nvSpPr>
        <p:spPr>
          <a:xfrm>
            <a:off x="502920" y="3611880"/>
            <a:ext cx="7315200" cy="237744"/>
          </a:xfrm>
          <a:prstGeom prst="rect">
            <a:avLst/>
          </a:prstGeom>
          <a:noFill/>
          <a:ln/>
        </p:spPr>
        <p:txBody>
          <a:bodyPr wrap="square" lIns="0" tIns="0" rIns="0" bIns="0" rtlCol="0" anchor="ctr"/>
          <a:lstStyle/>
          <a:p>
            <a:pPr indent="0" marL="0">
              <a:buNone/>
            </a:pPr>
            <a:r>
              <a:rPr lang="en-US" sz="1100" b="1" dirty="0">
                <a:solidFill>
                  <a:srgbClr val="152A4E"/>
                </a:solidFill>
                <a:latin typeface="Calibri" pitchFamily="34" charset="0"/>
                <a:ea typeface="Calibri" pitchFamily="34" charset="-122"/>
                <a:cs typeface="Calibri" pitchFamily="34" charset="-120"/>
              </a:rPr>
              <a:t>What this deck proves — one panel for each thing you weigh</a:t>
            </a:r>
            <a:endParaRPr lang="en-US" sz="1100" dirty="0"/>
          </a:p>
        </p:txBody>
      </p:sp>
      <p:sp>
        <p:nvSpPr>
          <p:cNvPr id="14" name="Shape 12"/>
          <p:cNvSpPr/>
          <p:nvPr/>
        </p:nvSpPr>
        <p:spPr>
          <a:xfrm>
            <a:off x="502920" y="3913632"/>
            <a:ext cx="2679192" cy="1874520"/>
          </a:xfrm>
          <a:prstGeom prst="roundRect">
            <a:avLst>
              <a:gd name="adj" fmla="val 2927"/>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15" name="Shape 13"/>
          <p:cNvSpPr/>
          <p:nvPr/>
        </p:nvSpPr>
        <p:spPr>
          <a:xfrm>
            <a:off x="685800" y="4096512"/>
            <a:ext cx="274320" cy="274320"/>
          </a:xfrm>
          <a:prstGeom prst="roundRect">
            <a:avLst>
              <a:gd name="adj" fmla="val 16667"/>
            </a:avLst>
          </a:prstGeom>
          <a:solidFill>
            <a:srgbClr val="0E7C7B"/>
          </a:solidFill>
          <a:ln w="12700">
            <a:solidFill>
              <a:srgbClr val="0E7C7B"/>
            </a:solidFill>
            <a:prstDash val="solid"/>
          </a:ln>
        </p:spPr>
      </p:sp>
      <p:sp>
        <p:nvSpPr>
          <p:cNvPr id="16" name="Text 14"/>
          <p:cNvSpPr/>
          <p:nvPr/>
        </p:nvSpPr>
        <p:spPr>
          <a:xfrm>
            <a:off x="685800" y="40965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Text 15"/>
          <p:cNvSpPr/>
          <p:nvPr/>
        </p:nvSpPr>
        <p:spPr>
          <a:xfrm>
            <a:off x="1033272" y="4096512"/>
            <a:ext cx="1965960" cy="274320"/>
          </a:xfrm>
          <a:prstGeom prst="rect">
            <a:avLst/>
          </a:prstGeom>
          <a:noFill/>
          <a:ln/>
        </p:spPr>
        <p:txBody>
          <a:bodyPr wrap="square" lIns="0" tIns="0" rIns="0" bIns="0" rtlCol="0" anchor="ctr"/>
          <a:lstStyle/>
          <a:p>
            <a:pPr indent="0" marL="0">
              <a:buNone/>
            </a:pPr>
            <a:r>
              <a:rPr lang="en-US" sz="1150" b="1" dirty="0">
                <a:solidFill>
                  <a:srgbClr val="152A4E"/>
                </a:solidFill>
                <a:latin typeface="Calibri" pitchFamily="34" charset="0"/>
                <a:ea typeface="Calibri" pitchFamily="34" charset="-122"/>
                <a:cs typeface="Calibri" pitchFamily="34" charset="-120"/>
              </a:rPr>
              <a:t>Business outcome</a:t>
            </a:r>
            <a:endParaRPr lang="en-US" sz="1150" dirty="0"/>
          </a:p>
        </p:txBody>
      </p:sp>
      <p:sp>
        <p:nvSpPr>
          <p:cNvPr id="18" name="Text 16"/>
          <p:cNvSpPr/>
          <p:nvPr/>
        </p:nvSpPr>
        <p:spPr>
          <a:xfrm>
            <a:off x="685800" y="4480560"/>
            <a:ext cx="2313432" cy="960120"/>
          </a:xfrm>
          <a:prstGeom prst="rect">
            <a:avLst/>
          </a:prstGeom>
          <a:noFill/>
          <a:ln/>
        </p:spPr>
        <p:txBody>
          <a:bodyPr wrap="square" lIns="0" tIns="0" rIns="0" bIns="0" rtlCol="0" anchor="ctr"/>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FTR at L1, reopen rate, SLA attainment — targets set from the pilot's own measured baseline, not imported benchmarks</a:t>
            </a:r>
            <a:endParaRPr lang="en-US" sz="1000" dirty="0"/>
          </a:p>
        </p:txBody>
      </p:sp>
      <p:sp>
        <p:nvSpPr>
          <p:cNvPr id="19" name="Text 17"/>
          <p:cNvSpPr/>
          <p:nvPr/>
        </p:nvSpPr>
        <p:spPr>
          <a:xfrm>
            <a:off x="685800" y="5468112"/>
            <a:ext cx="2313432" cy="219456"/>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Slides 7–8</a:t>
            </a:r>
            <a:endParaRPr lang="en-US" sz="900" dirty="0"/>
          </a:p>
        </p:txBody>
      </p:sp>
      <p:sp>
        <p:nvSpPr>
          <p:cNvPr id="20" name="Shape 18"/>
          <p:cNvSpPr/>
          <p:nvPr/>
        </p:nvSpPr>
        <p:spPr>
          <a:xfrm>
            <a:off x="3337560" y="3913632"/>
            <a:ext cx="2679192" cy="1874520"/>
          </a:xfrm>
          <a:prstGeom prst="roundRect">
            <a:avLst>
              <a:gd name="adj" fmla="val 2927"/>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1" name="Shape 19"/>
          <p:cNvSpPr/>
          <p:nvPr/>
        </p:nvSpPr>
        <p:spPr>
          <a:xfrm>
            <a:off x="3520440" y="4096512"/>
            <a:ext cx="274320" cy="274320"/>
          </a:xfrm>
          <a:prstGeom prst="roundRect">
            <a:avLst>
              <a:gd name="adj" fmla="val 16667"/>
            </a:avLst>
          </a:prstGeom>
          <a:solidFill>
            <a:srgbClr val="0E7C7B"/>
          </a:solidFill>
          <a:ln w="12700">
            <a:solidFill>
              <a:srgbClr val="0E7C7B"/>
            </a:solidFill>
            <a:prstDash val="solid"/>
          </a:ln>
        </p:spPr>
      </p:sp>
      <p:sp>
        <p:nvSpPr>
          <p:cNvPr id="22" name="Text 20"/>
          <p:cNvSpPr/>
          <p:nvPr/>
        </p:nvSpPr>
        <p:spPr>
          <a:xfrm>
            <a:off x="3520440" y="40965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Text 21"/>
          <p:cNvSpPr/>
          <p:nvPr/>
        </p:nvSpPr>
        <p:spPr>
          <a:xfrm>
            <a:off x="3867912" y="4096512"/>
            <a:ext cx="1965960" cy="274320"/>
          </a:xfrm>
          <a:prstGeom prst="rect">
            <a:avLst/>
          </a:prstGeom>
          <a:noFill/>
          <a:ln/>
        </p:spPr>
        <p:txBody>
          <a:bodyPr wrap="square" lIns="0" tIns="0" rIns="0" bIns="0" rtlCol="0" anchor="ctr"/>
          <a:lstStyle/>
          <a:p>
            <a:pPr indent="0" marL="0">
              <a:buNone/>
            </a:pPr>
            <a:r>
              <a:rPr lang="en-US" sz="1150" b="1" dirty="0">
                <a:solidFill>
                  <a:srgbClr val="152A4E"/>
                </a:solidFill>
                <a:latin typeface="Calibri" pitchFamily="34" charset="0"/>
                <a:ea typeface="Calibri" pitchFamily="34" charset="-122"/>
                <a:cs typeface="Calibri" pitchFamily="34" charset="-120"/>
              </a:rPr>
              <a:t>Technical design</a:t>
            </a:r>
            <a:endParaRPr lang="en-US" sz="1150" dirty="0"/>
          </a:p>
        </p:txBody>
      </p:sp>
      <p:sp>
        <p:nvSpPr>
          <p:cNvPr id="24" name="Text 22"/>
          <p:cNvSpPr/>
          <p:nvPr/>
        </p:nvSpPr>
        <p:spPr>
          <a:xfrm>
            <a:off x="3520440" y="4480560"/>
            <a:ext cx="2313432" cy="960120"/>
          </a:xfrm>
          <a:prstGeom prst="rect">
            <a:avLst/>
          </a:prstGeom>
          <a:noFill/>
          <a:ln/>
        </p:spPr>
        <p:txBody>
          <a:bodyPr wrap="square" lIns="0" tIns="0" rIns="0" bIns="0" rtlCol="0" anchor="ctr"/>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Tier as state, escalation validator + post-function, derived priority</a:t>
            </a:r>
            <a:endParaRPr lang="en-US" sz="1000" dirty="0"/>
          </a:p>
        </p:txBody>
      </p:sp>
      <p:sp>
        <p:nvSpPr>
          <p:cNvPr id="25" name="Text 23"/>
          <p:cNvSpPr/>
          <p:nvPr/>
        </p:nvSpPr>
        <p:spPr>
          <a:xfrm>
            <a:off x="3520440" y="5468112"/>
            <a:ext cx="2313432" cy="219456"/>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Slides 4–6</a:t>
            </a:r>
            <a:endParaRPr lang="en-US" sz="900" dirty="0"/>
          </a:p>
        </p:txBody>
      </p:sp>
      <p:sp>
        <p:nvSpPr>
          <p:cNvPr id="26" name="Shape 24"/>
          <p:cNvSpPr/>
          <p:nvPr/>
        </p:nvSpPr>
        <p:spPr>
          <a:xfrm>
            <a:off x="6172200" y="3913632"/>
            <a:ext cx="2679192" cy="1874520"/>
          </a:xfrm>
          <a:prstGeom prst="roundRect">
            <a:avLst>
              <a:gd name="adj" fmla="val 2927"/>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7" name="Shape 25"/>
          <p:cNvSpPr/>
          <p:nvPr/>
        </p:nvSpPr>
        <p:spPr>
          <a:xfrm>
            <a:off x="6355080" y="4096512"/>
            <a:ext cx="274320" cy="274320"/>
          </a:xfrm>
          <a:prstGeom prst="roundRect">
            <a:avLst>
              <a:gd name="adj" fmla="val 16667"/>
            </a:avLst>
          </a:prstGeom>
          <a:solidFill>
            <a:srgbClr val="0E7C7B"/>
          </a:solidFill>
          <a:ln w="12700">
            <a:solidFill>
              <a:srgbClr val="0E7C7B"/>
            </a:solidFill>
            <a:prstDash val="solid"/>
          </a:ln>
        </p:spPr>
      </p:sp>
      <p:sp>
        <p:nvSpPr>
          <p:cNvPr id="28" name="Text 26"/>
          <p:cNvSpPr/>
          <p:nvPr/>
        </p:nvSpPr>
        <p:spPr>
          <a:xfrm>
            <a:off x="6355080" y="40965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Text 27"/>
          <p:cNvSpPr/>
          <p:nvPr/>
        </p:nvSpPr>
        <p:spPr>
          <a:xfrm>
            <a:off x="6702552" y="4096512"/>
            <a:ext cx="1965960" cy="274320"/>
          </a:xfrm>
          <a:prstGeom prst="rect">
            <a:avLst/>
          </a:prstGeom>
          <a:noFill/>
          <a:ln/>
        </p:spPr>
        <p:txBody>
          <a:bodyPr wrap="square" lIns="0" tIns="0" rIns="0" bIns="0" rtlCol="0" anchor="ctr"/>
          <a:lstStyle/>
          <a:p>
            <a:pPr indent="0" marL="0">
              <a:buNone/>
            </a:pPr>
            <a:r>
              <a:rPr lang="en-US" sz="1150" b="1" dirty="0">
                <a:solidFill>
                  <a:srgbClr val="152A4E"/>
                </a:solidFill>
                <a:latin typeface="Calibri" pitchFamily="34" charset="0"/>
                <a:ea typeface="Calibri" pitchFamily="34" charset="-122"/>
                <a:cs typeface="Calibri" pitchFamily="34" charset="-120"/>
              </a:rPr>
              <a:t>Delivery plan</a:t>
            </a:r>
            <a:endParaRPr lang="en-US" sz="1150" dirty="0"/>
          </a:p>
        </p:txBody>
      </p:sp>
      <p:sp>
        <p:nvSpPr>
          <p:cNvPr id="30" name="Text 28"/>
          <p:cNvSpPr/>
          <p:nvPr/>
        </p:nvSpPr>
        <p:spPr>
          <a:xfrm>
            <a:off x="6355080" y="4480560"/>
            <a:ext cx="2313432" cy="960120"/>
          </a:xfrm>
          <a:prstGeom prst="rect">
            <a:avLst/>
          </a:prstGeom>
          <a:noFill/>
          <a:ln/>
        </p:spPr>
        <p:txBody>
          <a:bodyPr wrap="square" lIns="0" tIns="0" rIns="0" bIns="0" rtlCol="0" anchor="ctr"/>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8 phases, ~8 weeks, 2-week pilot as the tuning point, risks named</a:t>
            </a:r>
            <a:endParaRPr lang="en-US" sz="1000" dirty="0"/>
          </a:p>
        </p:txBody>
      </p:sp>
      <p:sp>
        <p:nvSpPr>
          <p:cNvPr id="31" name="Text 29"/>
          <p:cNvSpPr/>
          <p:nvPr/>
        </p:nvSpPr>
        <p:spPr>
          <a:xfrm>
            <a:off x="6355080" y="5468112"/>
            <a:ext cx="2313432" cy="219456"/>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Slide 10</a:t>
            </a:r>
            <a:endParaRPr lang="en-US" sz="900" dirty="0"/>
          </a:p>
        </p:txBody>
      </p:sp>
      <p:sp>
        <p:nvSpPr>
          <p:cNvPr id="32" name="Shape 30"/>
          <p:cNvSpPr/>
          <p:nvPr/>
        </p:nvSpPr>
        <p:spPr>
          <a:xfrm>
            <a:off x="9006840" y="3913632"/>
            <a:ext cx="2679192" cy="1874520"/>
          </a:xfrm>
          <a:prstGeom prst="roundRect">
            <a:avLst>
              <a:gd name="adj" fmla="val 2927"/>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33" name="Shape 31"/>
          <p:cNvSpPr/>
          <p:nvPr/>
        </p:nvSpPr>
        <p:spPr>
          <a:xfrm>
            <a:off x="9189720" y="4096512"/>
            <a:ext cx="274320" cy="274320"/>
          </a:xfrm>
          <a:prstGeom prst="roundRect">
            <a:avLst>
              <a:gd name="adj" fmla="val 16667"/>
            </a:avLst>
          </a:prstGeom>
          <a:solidFill>
            <a:srgbClr val="0E7C7B"/>
          </a:solidFill>
          <a:ln w="12700">
            <a:solidFill>
              <a:srgbClr val="0E7C7B"/>
            </a:solidFill>
            <a:prstDash val="solid"/>
          </a:ln>
        </p:spPr>
      </p:sp>
      <p:sp>
        <p:nvSpPr>
          <p:cNvPr id="34" name="Text 32"/>
          <p:cNvSpPr/>
          <p:nvPr/>
        </p:nvSpPr>
        <p:spPr>
          <a:xfrm>
            <a:off x="9189720" y="40965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3"/>
          <p:cNvSpPr/>
          <p:nvPr/>
        </p:nvSpPr>
        <p:spPr>
          <a:xfrm>
            <a:off x="9537192" y="4096512"/>
            <a:ext cx="1965960" cy="274320"/>
          </a:xfrm>
          <a:prstGeom prst="rect">
            <a:avLst/>
          </a:prstGeom>
          <a:noFill/>
          <a:ln/>
        </p:spPr>
        <p:txBody>
          <a:bodyPr wrap="square" lIns="0" tIns="0" rIns="0" bIns="0" rtlCol="0" anchor="ctr"/>
          <a:lstStyle/>
          <a:p>
            <a:pPr indent="0" marL="0">
              <a:buNone/>
            </a:pPr>
            <a:r>
              <a:rPr lang="en-US" sz="1150" b="1" dirty="0">
                <a:solidFill>
                  <a:srgbClr val="152A4E"/>
                </a:solidFill>
                <a:latin typeface="Calibri" pitchFamily="34" charset="0"/>
                <a:ea typeface="Calibri" pitchFamily="34" charset="-122"/>
                <a:cs typeface="Calibri" pitchFamily="34" charset="-120"/>
              </a:rPr>
              <a:t>Jira credibility</a:t>
            </a:r>
            <a:endParaRPr lang="en-US" sz="1150" dirty="0"/>
          </a:p>
        </p:txBody>
      </p:sp>
      <p:sp>
        <p:nvSpPr>
          <p:cNvPr id="36" name="Text 34"/>
          <p:cNvSpPr/>
          <p:nvPr/>
        </p:nvSpPr>
        <p:spPr>
          <a:xfrm>
            <a:off x="9189720" y="4480560"/>
            <a:ext cx="2313432" cy="960120"/>
          </a:xfrm>
          <a:prstGeom prst="rect">
            <a:avLst/>
          </a:prstGeom>
          <a:noFill/>
          <a:ln/>
        </p:spPr>
        <p:txBody>
          <a:bodyPr wrap="square" lIns="0" tIns="0" rIns="0" bIns="0" rtlCol="0" anchor="ctr"/>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Schemes, validators, post-functions, JSM vs Jira Software, REST-scripted</a:t>
            </a:r>
            <a:endParaRPr lang="en-US" sz="1000" dirty="0"/>
          </a:p>
        </p:txBody>
      </p:sp>
      <p:sp>
        <p:nvSpPr>
          <p:cNvPr id="37" name="Text 35"/>
          <p:cNvSpPr/>
          <p:nvPr/>
        </p:nvSpPr>
        <p:spPr>
          <a:xfrm>
            <a:off x="9189720" y="5468112"/>
            <a:ext cx="2313432" cy="219456"/>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Slide 9, Appendix</a:t>
            </a:r>
            <a:endParaRPr lang="en-US" sz="900" dirty="0"/>
          </a:p>
        </p:txBody>
      </p:sp>
      <p:sp>
        <p:nvSpPr>
          <p:cNvPr id="38" name="Text 36"/>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BRIEF.md; PLAN.md. Financial figures are illustrative — see slide 8 for assumptions</a:t>
            </a:r>
            <a:endParaRPr lang="en-US" sz="850" dirty="0"/>
          </a:p>
        </p:txBody>
      </p:sp>
      <p:sp>
        <p:nvSpPr>
          <p:cNvPr id="39" name="Text 37"/>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THE PROBLEM</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Ping-pong, an unmeasurable L1, and untrusted SLA reports are three symptoms of one design choice — not three people problems</a:t>
            </a:r>
            <a:endParaRPr lang="en-US" sz="1850" dirty="0"/>
          </a:p>
        </p:txBody>
      </p:sp>
      <p:sp>
        <p:nvSpPr>
          <p:cNvPr id="4" name="Shape 2"/>
          <p:cNvSpPr/>
          <p:nvPr/>
        </p:nvSpPr>
        <p:spPr>
          <a:xfrm>
            <a:off x="502920" y="1481328"/>
            <a:ext cx="5623560" cy="1042416"/>
          </a:xfrm>
          <a:prstGeom prst="roundRect">
            <a:avLst>
              <a:gd name="adj" fmla="val 5263"/>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5" name="Shape 3"/>
          <p:cNvSpPr/>
          <p:nvPr/>
        </p:nvSpPr>
        <p:spPr>
          <a:xfrm>
            <a:off x="667512" y="1810512"/>
            <a:ext cx="310896" cy="310896"/>
          </a:xfrm>
          <a:prstGeom prst="roundRect">
            <a:avLst>
              <a:gd name="adj" fmla="val 14706"/>
            </a:avLst>
          </a:prstGeom>
          <a:solidFill>
            <a:srgbClr val="9E2B25"/>
          </a:solidFill>
          <a:ln w="12700">
            <a:solidFill>
              <a:srgbClr val="9E2B25"/>
            </a:solidFill>
            <a:prstDash val="solid"/>
          </a:ln>
        </p:spPr>
      </p:sp>
      <p:sp>
        <p:nvSpPr>
          <p:cNvPr id="6" name="Text 4"/>
          <p:cNvSpPr/>
          <p:nvPr/>
        </p:nvSpPr>
        <p:spPr>
          <a:xfrm>
            <a:off x="667512" y="18105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97280" y="1609344"/>
            <a:ext cx="4846320" cy="256032"/>
          </a:xfrm>
          <a:prstGeom prst="rect">
            <a:avLst/>
          </a:prstGeom>
          <a:noFill/>
          <a:ln/>
        </p:spPr>
        <p:txBody>
          <a:bodyPr wrap="square" lIns="0" tIns="0" rIns="0" bIns="0" rtlCol="0" anchor="ctr"/>
          <a:lstStyle/>
          <a:p>
            <a:pPr indent="0" marL="0">
              <a:buNone/>
            </a:pPr>
            <a:r>
              <a:rPr lang="en-US" sz="1250" b="1" dirty="0">
                <a:solidFill>
                  <a:srgbClr val="152A4E"/>
                </a:solidFill>
                <a:latin typeface="Calibri" pitchFamily="34" charset="0"/>
                <a:ea typeface="Calibri" pitchFamily="34" charset="-122"/>
                <a:cs typeface="Calibri" pitchFamily="34" charset="-120"/>
              </a:rPr>
              <a:t>Ticket ping-pong</a:t>
            </a:r>
            <a:endParaRPr lang="en-US" sz="1250" dirty="0"/>
          </a:p>
        </p:txBody>
      </p:sp>
      <p:sp>
        <p:nvSpPr>
          <p:cNvPr id="8" name="Text 6"/>
          <p:cNvSpPr/>
          <p:nvPr/>
        </p:nvSpPr>
        <p:spPr>
          <a:xfrm>
            <a:off x="1097280" y="1883664"/>
            <a:ext cx="4846320" cy="566928"/>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L1 forwards to L2 without troubleshooting. L2 sends it back. Nobody owns the ticket.</a:t>
            </a:r>
            <a:endParaRPr lang="en-US" sz="1050" dirty="0"/>
          </a:p>
        </p:txBody>
      </p:sp>
      <p:sp>
        <p:nvSpPr>
          <p:cNvPr id="9" name="Shape 7"/>
          <p:cNvSpPr/>
          <p:nvPr/>
        </p:nvSpPr>
        <p:spPr>
          <a:xfrm>
            <a:off x="6263640" y="2002536"/>
            <a:ext cx="566928" cy="0"/>
          </a:xfrm>
          <a:prstGeom prst="line">
            <a:avLst/>
          </a:prstGeom>
          <a:noFill/>
          <a:ln w="19050">
            <a:solidFill>
              <a:srgbClr val="6B7280"/>
            </a:solidFill>
            <a:prstDash val="solid"/>
            <a:tailEnd type="triangle"/>
          </a:ln>
        </p:spPr>
      </p:sp>
      <p:sp>
        <p:nvSpPr>
          <p:cNvPr id="10" name="Shape 8"/>
          <p:cNvSpPr/>
          <p:nvPr/>
        </p:nvSpPr>
        <p:spPr>
          <a:xfrm>
            <a:off x="502920" y="2688336"/>
            <a:ext cx="5623560" cy="1042416"/>
          </a:xfrm>
          <a:prstGeom prst="roundRect">
            <a:avLst>
              <a:gd name="adj" fmla="val 5263"/>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11" name="Shape 9"/>
          <p:cNvSpPr/>
          <p:nvPr/>
        </p:nvSpPr>
        <p:spPr>
          <a:xfrm>
            <a:off x="667512" y="3017520"/>
            <a:ext cx="310896" cy="310896"/>
          </a:xfrm>
          <a:prstGeom prst="roundRect">
            <a:avLst>
              <a:gd name="adj" fmla="val 14706"/>
            </a:avLst>
          </a:prstGeom>
          <a:solidFill>
            <a:srgbClr val="9E2B25"/>
          </a:solidFill>
          <a:ln w="12700">
            <a:solidFill>
              <a:srgbClr val="9E2B25"/>
            </a:solidFill>
            <a:prstDash val="solid"/>
          </a:ln>
        </p:spPr>
      </p:sp>
      <p:sp>
        <p:nvSpPr>
          <p:cNvPr id="12" name="Text 10"/>
          <p:cNvSpPr/>
          <p:nvPr/>
        </p:nvSpPr>
        <p:spPr>
          <a:xfrm>
            <a:off x="667512" y="30175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097280" y="2816352"/>
            <a:ext cx="4846320" cy="256032"/>
          </a:xfrm>
          <a:prstGeom prst="rect">
            <a:avLst/>
          </a:prstGeom>
          <a:noFill/>
          <a:ln/>
        </p:spPr>
        <p:txBody>
          <a:bodyPr wrap="square" lIns="0" tIns="0" rIns="0" bIns="0" rtlCol="0" anchor="ctr"/>
          <a:lstStyle/>
          <a:p>
            <a:pPr indent="0" marL="0">
              <a:buNone/>
            </a:pPr>
            <a:r>
              <a:rPr lang="en-US" sz="1250" b="1" dirty="0">
                <a:solidFill>
                  <a:srgbClr val="152A4E"/>
                </a:solidFill>
                <a:latin typeface="Calibri" pitchFamily="34" charset="0"/>
                <a:ea typeface="Calibri" pitchFamily="34" charset="-122"/>
                <a:cs typeface="Calibri" pitchFamily="34" charset="-120"/>
              </a:rPr>
              <a:t>L1 cannot prove its value</a:t>
            </a:r>
            <a:endParaRPr lang="en-US" sz="1250" dirty="0"/>
          </a:p>
        </p:txBody>
      </p:sp>
      <p:sp>
        <p:nvSpPr>
          <p:cNvPr id="14" name="Text 12"/>
          <p:cNvSpPr/>
          <p:nvPr/>
        </p:nvSpPr>
        <p:spPr>
          <a:xfrm>
            <a:off x="1097280" y="3090672"/>
            <a:ext cx="4846320" cy="566928"/>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If you cannot measure what L1 resolves without escalating, L1 looks like an expensive switchboard — and gets cut.</a:t>
            </a:r>
            <a:endParaRPr lang="en-US" sz="1050" dirty="0"/>
          </a:p>
        </p:txBody>
      </p:sp>
      <p:sp>
        <p:nvSpPr>
          <p:cNvPr id="15" name="Shape 13"/>
          <p:cNvSpPr/>
          <p:nvPr/>
        </p:nvSpPr>
        <p:spPr>
          <a:xfrm>
            <a:off x="6263640" y="3209544"/>
            <a:ext cx="566928" cy="0"/>
          </a:xfrm>
          <a:prstGeom prst="line">
            <a:avLst/>
          </a:prstGeom>
          <a:noFill/>
          <a:ln w="19050">
            <a:solidFill>
              <a:srgbClr val="6B7280"/>
            </a:solidFill>
            <a:prstDash val="solid"/>
            <a:tailEnd type="triangle"/>
          </a:ln>
        </p:spPr>
      </p:sp>
      <p:sp>
        <p:nvSpPr>
          <p:cNvPr id="16" name="Shape 14"/>
          <p:cNvSpPr/>
          <p:nvPr/>
        </p:nvSpPr>
        <p:spPr>
          <a:xfrm>
            <a:off x="502920" y="3895344"/>
            <a:ext cx="5623560" cy="1042416"/>
          </a:xfrm>
          <a:prstGeom prst="roundRect">
            <a:avLst>
              <a:gd name="adj" fmla="val 5263"/>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17" name="Shape 15"/>
          <p:cNvSpPr/>
          <p:nvPr/>
        </p:nvSpPr>
        <p:spPr>
          <a:xfrm>
            <a:off x="667512" y="4224528"/>
            <a:ext cx="310896" cy="310896"/>
          </a:xfrm>
          <a:prstGeom prst="roundRect">
            <a:avLst>
              <a:gd name="adj" fmla="val 14706"/>
            </a:avLst>
          </a:prstGeom>
          <a:solidFill>
            <a:srgbClr val="9E2B25"/>
          </a:solidFill>
          <a:ln w="12700">
            <a:solidFill>
              <a:srgbClr val="9E2B25"/>
            </a:solidFill>
            <a:prstDash val="solid"/>
          </a:ln>
        </p:spPr>
      </p:sp>
      <p:sp>
        <p:nvSpPr>
          <p:cNvPr id="18" name="Text 16"/>
          <p:cNvSpPr/>
          <p:nvPr/>
        </p:nvSpPr>
        <p:spPr>
          <a:xfrm>
            <a:off x="667512" y="42245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097280" y="4023360"/>
            <a:ext cx="4846320" cy="256032"/>
          </a:xfrm>
          <a:prstGeom prst="rect">
            <a:avLst/>
          </a:prstGeom>
          <a:noFill/>
          <a:ln/>
        </p:spPr>
        <p:txBody>
          <a:bodyPr wrap="square" lIns="0" tIns="0" rIns="0" bIns="0" rtlCol="0" anchor="ctr"/>
          <a:lstStyle/>
          <a:p>
            <a:pPr indent="0" marL="0">
              <a:buNone/>
            </a:pPr>
            <a:r>
              <a:rPr lang="en-US" sz="1250" b="1" dirty="0">
                <a:solidFill>
                  <a:srgbClr val="152A4E"/>
                </a:solidFill>
                <a:latin typeface="Calibri" pitchFamily="34" charset="0"/>
                <a:ea typeface="Calibri" pitchFamily="34" charset="-122"/>
                <a:cs typeface="Calibri" pitchFamily="34" charset="-120"/>
              </a:rPr>
              <a:t>SLA reports nobody trusts</a:t>
            </a:r>
            <a:endParaRPr lang="en-US" sz="1250" dirty="0"/>
          </a:p>
        </p:txBody>
      </p:sp>
      <p:sp>
        <p:nvSpPr>
          <p:cNvPr id="20" name="Text 18"/>
          <p:cNvSpPr/>
          <p:nvPr/>
        </p:nvSpPr>
        <p:spPr>
          <a:xfrm>
            <a:off x="1097280" y="4297680"/>
            <a:ext cx="4846320" cy="566928"/>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Clocks that run while a ticket waits on the customer make every team look like it is failing, so leadership stops reading.</a:t>
            </a:r>
            <a:endParaRPr lang="en-US" sz="1050" dirty="0"/>
          </a:p>
        </p:txBody>
      </p:sp>
      <p:sp>
        <p:nvSpPr>
          <p:cNvPr id="21" name="Shape 19"/>
          <p:cNvSpPr/>
          <p:nvPr/>
        </p:nvSpPr>
        <p:spPr>
          <a:xfrm>
            <a:off x="6263640" y="4416552"/>
            <a:ext cx="566928" cy="0"/>
          </a:xfrm>
          <a:prstGeom prst="line">
            <a:avLst/>
          </a:prstGeom>
          <a:noFill/>
          <a:ln w="19050">
            <a:solidFill>
              <a:srgbClr val="6B7280"/>
            </a:solidFill>
            <a:prstDash val="solid"/>
            <a:tailEnd type="triangle"/>
          </a:ln>
        </p:spPr>
      </p:sp>
      <p:sp>
        <p:nvSpPr>
          <p:cNvPr id="22" name="Shape 20"/>
          <p:cNvSpPr/>
          <p:nvPr/>
        </p:nvSpPr>
        <p:spPr>
          <a:xfrm>
            <a:off x="6967728" y="1481328"/>
            <a:ext cx="4718304" cy="2249424"/>
          </a:xfrm>
          <a:prstGeom prst="roundRect">
            <a:avLst>
              <a:gd name="adj" fmla="val 2439"/>
            </a:avLst>
          </a:prstGeom>
          <a:solidFill>
            <a:srgbClr val="F7E5E3"/>
          </a:solidFill>
          <a:ln w="12700">
            <a:solidFill>
              <a:srgbClr val="E3BFBB"/>
            </a:solidFill>
            <a:prstDash val="solid"/>
          </a:ln>
          <a:effectLst>
            <a:outerShdw sx="100000" sy="100000" kx="0" ky="0" algn="bl" rotWithShape="0" blurRad="76200" dist="12700" dir="5400000">
              <a:srgbClr val="9AA7BA">
                <a:alpha val="22000"/>
              </a:srgbClr>
            </a:outerShdw>
          </a:effectLst>
        </p:spPr>
      </p:sp>
      <p:sp>
        <p:nvSpPr>
          <p:cNvPr id="23" name="Text 21"/>
          <p:cNvSpPr/>
          <p:nvPr/>
        </p:nvSpPr>
        <p:spPr>
          <a:xfrm>
            <a:off x="7178040" y="1645920"/>
            <a:ext cx="4297680" cy="237744"/>
          </a:xfrm>
          <a:prstGeom prst="rect">
            <a:avLst/>
          </a:prstGeom>
          <a:noFill/>
          <a:ln/>
        </p:spPr>
        <p:txBody>
          <a:bodyPr wrap="square" lIns="0" tIns="0" rIns="0" bIns="0" rtlCol="0" anchor="ctr"/>
          <a:lstStyle/>
          <a:p>
            <a:pPr indent="0" marL="0">
              <a:buNone/>
            </a:pPr>
            <a:r>
              <a:rPr lang="en-US" sz="950" b="1" spc="140" kern="0" dirty="0">
                <a:solidFill>
                  <a:srgbClr val="9E2B25"/>
                </a:solidFill>
                <a:latin typeface="Calibri" pitchFamily="34" charset="0"/>
                <a:ea typeface="Calibri" pitchFamily="34" charset="-122"/>
                <a:cs typeface="Calibri" pitchFamily="34" charset="-120"/>
              </a:rPr>
              <a:t>ROOT CAUSE</a:t>
            </a:r>
            <a:endParaRPr lang="en-US" sz="950" dirty="0"/>
          </a:p>
        </p:txBody>
      </p:sp>
      <p:sp>
        <p:nvSpPr>
          <p:cNvPr id="24" name="Text 22"/>
          <p:cNvSpPr/>
          <p:nvPr/>
        </p:nvSpPr>
        <p:spPr>
          <a:xfrm>
            <a:off x="7178040" y="1920240"/>
            <a:ext cx="4297680" cy="685800"/>
          </a:xfrm>
          <a:prstGeom prst="rect">
            <a:avLst/>
          </a:prstGeom>
          <a:noFill/>
          <a:ln/>
        </p:spPr>
        <p:txBody>
          <a:bodyPr wrap="square" lIns="0" tIns="0" rIns="0" bIns="0" rtlCol="0" anchor="ctr"/>
          <a:lstStyle/>
          <a:p>
            <a:pPr indent="0" marL="0">
              <a:lnSpc>
                <a:spcPts val="2100"/>
              </a:lnSpc>
              <a:buNone/>
            </a:pPr>
            <a:r>
              <a:rPr lang="en-US" sz="1600" b="1" dirty="0">
                <a:solidFill>
                  <a:srgbClr val="152A4E"/>
                </a:solidFill>
                <a:latin typeface="Cambria" pitchFamily="34" charset="0"/>
                <a:ea typeface="Cambria" pitchFamily="34" charset="-122"/>
                <a:cs typeface="Cambria" pitchFamily="34" charset="-120"/>
              </a:rPr>
              <a:t>Escalation is built as a handoff between separate L1 and L2 queues or projects</a:t>
            </a:r>
            <a:endParaRPr lang="en-US" sz="1600" dirty="0"/>
          </a:p>
        </p:txBody>
      </p:sp>
      <p:sp>
        <p:nvSpPr>
          <p:cNvPr id="25" name="Text 23"/>
          <p:cNvSpPr/>
          <p:nvPr/>
        </p:nvSpPr>
        <p:spPr>
          <a:xfrm>
            <a:off x="7178040" y="2688336"/>
            <a:ext cx="4297680" cy="932688"/>
          </a:xfrm>
          <a:prstGeom prst="rect">
            <a:avLst/>
          </a:prstGeom>
          <a:noFill/>
          <a:ln/>
        </p:spPr>
        <p:txBody>
          <a:bodyPr wrap="square" lIns="0" tIns="0" rIns="0" bIns="0" rtlCol="0" anchor="t"/>
          <a:lstStyle/>
          <a:p>
            <a:pPr marL="342900" indent="-342900">
              <a:lnSpc>
                <a:spcPts val="1500"/>
              </a:lnSpc>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A handoff mints a new ticket ID</a:t>
            </a:r>
            <a:endParaRPr lang="en-US" sz="1100" dirty="0"/>
          </a:p>
          <a:p>
            <a:pPr marL="342900" indent="-342900">
              <a:lnSpc>
                <a:spcPts val="1500"/>
              </a:lnSpc>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It restarts the SLA clock</a:t>
            </a:r>
            <a:endParaRPr lang="en-US" sz="1100" dirty="0"/>
          </a:p>
          <a:p>
            <a:pPr marL="342900" indent="-342900">
              <a:lnSpc>
                <a:spcPts val="1500"/>
              </a:lnSpc>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It splits the audit trail in two</a:t>
            </a:r>
            <a:endParaRPr lang="en-US" sz="1100" dirty="0"/>
          </a:p>
        </p:txBody>
      </p:sp>
      <p:sp>
        <p:nvSpPr>
          <p:cNvPr id="26" name="Shape 24"/>
          <p:cNvSpPr/>
          <p:nvPr/>
        </p:nvSpPr>
        <p:spPr>
          <a:xfrm>
            <a:off x="6967728" y="3877056"/>
            <a:ext cx="4718304" cy="2084832"/>
          </a:xfrm>
          <a:prstGeom prst="roundRect">
            <a:avLst>
              <a:gd name="adj" fmla="val 2632"/>
            </a:avLst>
          </a:prstGeom>
          <a:solidFill>
            <a:srgbClr val="D9EAE9"/>
          </a:solidFill>
          <a:ln w="12700">
            <a:solidFill>
              <a:srgbClr val="A9CFCD"/>
            </a:solidFill>
            <a:prstDash val="solid"/>
          </a:ln>
          <a:effectLst>
            <a:outerShdw sx="100000" sy="100000" kx="0" ky="0" algn="bl" rotWithShape="0" blurRad="76200" dist="12700" dir="5400000">
              <a:srgbClr val="9AA7BA">
                <a:alpha val="22000"/>
              </a:srgbClr>
            </a:outerShdw>
          </a:effectLst>
        </p:spPr>
      </p:sp>
      <p:sp>
        <p:nvSpPr>
          <p:cNvPr id="27" name="Text 25"/>
          <p:cNvSpPr/>
          <p:nvPr/>
        </p:nvSpPr>
        <p:spPr>
          <a:xfrm>
            <a:off x="7178040" y="4023360"/>
            <a:ext cx="4297680" cy="237744"/>
          </a:xfrm>
          <a:prstGeom prst="rect">
            <a:avLst/>
          </a:prstGeom>
          <a:noFill/>
          <a:ln/>
        </p:spPr>
        <p:txBody>
          <a:bodyPr wrap="square" lIns="0" tIns="0" rIns="0" bIns="0" rtlCol="0" anchor="ctr"/>
          <a:lstStyle/>
          <a:p>
            <a:pPr indent="0" marL="0">
              <a:buNone/>
            </a:pPr>
            <a:r>
              <a:rPr lang="en-US" sz="950" b="1" spc="140" kern="0" dirty="0">
                <a:solidFill>
                  <a:srgbClr val="0E7C7B"/>
                </a:solidFill>
                <a:latin typeface="Calibri" pitchFamily="34" charset="0"/>
                <a:ea typeface="Calibri" pitchFamily="34" charset="-122"/>
                <a:cs typeface="Calibri" pitchFamily="34" charset="-120"/>
              </a:rPr>
              <a:t>SO WHAT</a:t>
            </a:r>
            <a:endParaRPr lang="en-US" sz="950" dirty="0"/>
          </a:p>
        </p:txBody>
      </p:sp>
      <p:sp>
        <p:nvSpPr>
          <p:cNvPr id="28" name="Text 26"/>
          <p:cNvSpPr/>
          <p:nvPr/>
        </p:nvSpPr>
        <p:spPr>
          <a:xfrm>
            <a:off x="7178040" y="4279392"/>
            <a:ext cx="4297680" cy="566928"/>
          </a:xfrm>
          <a:prstGeom prst="rect">
            <a:avLst/>
          </a:prstGeom>
          <a:noFill/>
          <a:ln/>
        </p:spPr>
        <p:txBody>
          <a:bodyPr wrap="square" lIns="0" tIns="0" rIns="0" bIns="0" rtlCol="0" anchor="ctr"/>
          <a:lstStyle/>
          <a:p>
            <a:pPr indent="0" marL="0">
              <a:lnSpc>
                <a:spcPts val="2000"/>
              </a:lnSpc>
              <a:buNone/>
            </a:pPr>
            <a:r>
              <a:rPr lang="en-US" sz="1500" b="1" dirty="0">
                <a:solidFill>
                  <a:srgbClr val="152A4E"/>
                </a:solidFill>
                <a:latin typeface="Cambria" pitchFamily="34" charset="0"/>
                <a:ea typeface="Cambria" pitchFamily="34" charset="-122"/>
                <a:cs typeface="Cambria" pitchFamily="34" charset="-120"/>
              </a:rPr>
              <a:t>All three are configuration problems, not people problems</a:t>
            </a:r>
            <a:endParaRPr lang="en-US" sz="1500" dirty="0"/>
          </a:p>
        </p:txBody>
      </p:sp>
      <p:sp>
        <p:nvSpPr>
          <p:cNvPr id="29" name="Text 27"/>
          <p:cNvSpPr/>
          <p:nvPr/>
        </p:nvSpPr>
        <p:spPr>
          <a:xfrm>
            <a:off x="7178040" y="4901184"/>
            <a:ext cx="4297680" cy="868680"/>
          </a:xfrm>
          <a:prstGeom prst="rect">
            <a:avLst/>
          </a:prstGeom>
          <a:noFill/>
          <a:ln/>
        </p:spPr>
        <p:txBody>
          <a:bodyPr wrap="square" lIns="0" tIns="0" rIns="0" bIns="0" rtlCol="0" anchor="ctr"/>
          <a:lstStyle/>
          <a:p>
            <a:pPr indent="0" marL="0">
              <a:lnSpc>
                <a:spcPts val="1500"/>
              </a:lnSpc>
              <a:buNone/>
            </a:pPr>
            <a:r>
              <a:rPr lang="en-US" sz="1100" dirty="0">
                <a:solidFill>
                  <a:srgbClr val="1A1A1A"/>
                </a:solidFill>
                <a:latin typeface="Calibri" pitchFamily="34" charset="0"/>
                <a:ea typeface="Calibri" pitchFamily="34" charset="-122"/>
                <a:cs typeface="Calibri" pitchFamily="34" charset="-120"/>
              </a:rPr>
              <a:t>That is the good news. Culture change takes quarters. Configuration change takes weeks — and it holds under queue pressure, which policy does not.</a:t>
            </a:r>
            <a:endParaRPr lang="en-US" sz="1100" dirty="0"/>
          </a:p>
        </p:txBody>
      </p:sp>
      <p:sp>
        <p:nvSpPr>
          <p:cNvPr id="30" name="Text 28"/>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BRIEF.md, 'The problem is not we need a ticket system'</a:t>
            </a:r>
            <a:endParaRPr lang="en-US" sz="850" dirty="0"/>
          </a:p>
        </p:txBody>
      </p:sp>
      <p:sp>
        <p:nvSpPr>
          <p:cNvPr id="31" name="Text 29"/>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THE CORE DESIGN DECISION</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Tier is a workflow STATE and tower is a FIELD, inside ONE project — that is what preserves one ticket key, one continuous SLA clock, one audit trail</a:t>
            </a:r>
            <a:endParaRPr lang="en-US" sz="1850" dirty="0"/>
          </a:p>
        </p:txBody>
      </p:sp>
      <p:sp>
        <p:nvSpPr>
          <p:cNvPr id="4" name="Shape 2"/>
          <p:cNvSpPr/>
          <p:nvPr/>
        </p:nvSpPr>
        <p:spPr>
          <a:xfrm>
            <a:off x="502920" y="1481328"/>
            <a:ext cx="5349240" cy="3703320"/>
          </a:xfrm>
          <a:prstGeom prst="roundRect">
            <a:avLst>
              <a:gd name="adj" fmla="val 1481"/>
            </a:avLst>
          </a:prstGeom>
          <a:solidFill>
            <a:srgbClr val="F7E5E3"/>
          </a:solidFill>
          <a:ln w="12700">
            <a:solidFill>
              <a:srgbClr val="E3BFBB"/>
            </a:solidFill>
            <a:prstDash val="solid"/>
          </a:ln>
          <a:effectLst>
            <a:outerShdw sx="100000" sy="100000" kx="0" ky="0" algn="bl" rotWithShape="0" blurRad="76200" dist="12700" dir="5400000">
              <a:srgbClr val="9AA7BA">
                <a:alpha val="22000"/>
              </a:srgbClr>
            </a:outerShdw>
          </a:effectLst>
        </p:spPr>
      </p:sp>
      <p:sp>
        <p:nvSpPr>
          <p:cNvPr id="5" name="Text 3"/>
          <p:cNvSpPr/>
          <p:nvPr/>
        </p:nvSpPr>
        <p:spPr>
          <a:xfrm>
            <a:off x="704088" y="1609344"/>
            <a:ext cx="4937760" cy="219456"/>
          </a:xfrm>
          <a:prstGeom prst="rect">
            <a:avLst/>
          </a:prstGeom>
          <a:noFill/>
          <a:ln/>
        </p:spPr>
        <p:txBody>
          <a:bodyPr wrap="square" lIns="0" tIns="0" rIns="0" bIns="0" rtlCol="0" anchor="ctr"/>
          <a:lstStyle/>
          <a:p>
            <a:pPr indent="0" marL="0">
              <a:buNone/>
            </a:pPr>
            <a:r>
              <a:rPr lang="en-US" sz="900" b="1" spc="120" kern="0" dirty="0">
                <a:solidFill>
                  <a:srgbClr val="9E2B25"/>
                </a:solidFill>
                <a:latin typeface="Calibri" pitchFamily="34" charset="0"/>
                <a:ea typeface="Calibri" pitchFamily="34" charset="-122"/>
                <a:cs typeface="Calibri" pitchFamily="34" charset="-120"/>
              </a:rPr>
              <a:t>THE INSTINCT  ·  SEPARATE L1 AND L2 PROJECTS</a:t>
            </a:r>
            <a:endParaRPr lang="en-US" sz="900" dirty="0"/>
          </a:p>
        </p:txBody>
      </p:sp>
      <p:sp>
        <p:nvSpPr>
          <p:cNvPr id="6" name="Shape 4"/>
          <p:cNvSpPr/>
          <p:nvPr/>
        </p:nvSpPr>
        <p:spPr>
          <a:xfrm>
            <a:off x="758952" y="1956816"/>
            <a:ext cx="1965960" cy="868680"/>
          </a:xfrm>
          <a:prstGeom prst="roundRect">
            <a:avLst>
              <a:gd name="adj" fmla="val 5263"/>
            </a:avLst>
          </a:prstGeom>
          <a:solidFill>
            <a:srgbClr val="FFFFFF"/>
          </a:solidFill>
          <a:ln w="12700">
            <a:solidFill>
              <a:srgbClr val="FFFFFF"/>
            </a:solidFill>
            <a:prstDash val="solid"/>
          </a:ln>
        </p:spPr>
      </p:sp>
      <p:sp>
        <p:nvSpPr>
          <p:cNvPr id="7" name="Text 5"/>
          <p:cNvSpPr/>
          <p:nvPr/>
        </p:nvSpPr>
        <p:spPr>
          <a:xfrm>
            <a:off x="758952" y="1956816"/>
            <a:ext cx="1965960" cy="868680"/>
          </a:xfrm>
          <a:prstGeom prst="rect">
            <a:avLst/>
          </a:prstGeom>
          <a:noFill/>
          <a:ln/>
        </p:spPr>
        <p:txBody>
          <a:bodyPr wrap="square" lIns="0" tIns="0" rIns="0" bIns="0" rtlCol="0" anchor="ctr"/>
          <a:lstStyle/>
          <a:p>
            <a:pPr algn="ctr" indent="0" marL="0">
              <a:buNone/>
            </a:pPr>
            <a:endParaRPr lang="en-US" sz="950" dirty="0"/>
          </a:p>
        </p:txBody>
      </p:sp>
      <p:sp>
        <p:nvSpPr>
          <p:cNvPr id="8" name="Text 6"/>
          <p:cNvSpPr/>
          <p:nvPr/>
        </p:nvSpPr>
        <p:spPr>
          <a:xfrm>
            <a:off x="813816" y="2029968"/>
            <a:ext cx="1856232" cy="201168"/>
          </a:xfrm>
          <a:prstGeom prst="rect">
            <a:avLst/>
          </a:prstGeom>
          <a:noFill/>
          <a:ln/>
        </p:spPr>
        <p:txBody>
          <a:bodyPr wrap="square" lIns="0" tIns="0" rIns="0" bIns="0" rtlCol="0" anchor="ctr"/>
          <a:lstStyle/>
          <a:p>
            <a:pPr algn="ctr" indent="0" marL="0">
              <a:buNone/>
            </a:pPr>
            <a:r>
              <a:rPr lang="en-US" sz="850" b="1" dirty="0">
                <a:solidFill>
                  <a:srgbClr val="6B7280"/>
                </a:solidFill>
                <a:latin typeface="Calibri" pitchFamily="34" charset="0"/>
                <a:ea typeface="Calibri" pitchFamily="34" charset="-122"/>
                <a:cs typeface="Calibri" pitchFamily="34" charset="-120"/>
              </a:rPr>
              <a:t>PROJECT: SUP (L1)</a:t>
            </a:r>
            <a:endParaRPr lang="en-US" sz="850" dirty="0"/>
          </a:p>
        </p:txBody>
      </p:sp>
      <p:sp>
        <p:nvSpPr>
          <p:cNvPr id="9" name="Text 7"/>
          <p:cNvSpPr/>
          <p:nvPr/>
        </p:nvSpPr>
        <p:spPr>
          <a:xfrm>
            <a:off x="813816" y="2231136"/>
            <a:ext cx="1856232" cy="292608"/>
          </a:xfrm>
          <a:prstGeom prst="rect">
            <a:avLst/>
          </a:prstGeom>
          <a:noFill/>
          <a:ln/>
        </p:spPr>
        <p:txBody>
          <a:bodyPr wrap="square" lIns="0" tIns="0" rIns="0" bIns="0" rtlCol="0" anchor="ctr"/>
          <a:lstStyle/>
          <a:p>
            <a:pPr algn="ctr" indent="0" marL="0">
              <a:buNone/>
            </a:pPr>
            <a:r>
              <a:rPr lang="en-US" sz="1600" b="1" dirty="0">
                <a:solidFill>
                  <a:srgbClr val="152A4E"/>
                </a:solidFill>
                <a:latin typeface="Calibri" pitchFamily="34" charset="0"/>
                <a:ea typeface="Calibri" pitchFamily="34" charset="-122"/>
                <a:cs typeface="Calibri" pitchFamily="34" charset="-120"/>
              </a:rPr>
              <a:t>SUP-123</a:t>
            </a:r>
            <a:endParaRPr lang="en-US" sz="1600" dirty="0"/>
          </a:p>
        </p:txBody>
      </p:sp>
      <p:sp>
        <p:nvSpPr>
          <p:cNvPr id="10" name="Text 8"/>
          <p:cNvSpPr/>
          <p:nvPr/>
        </p:nvSpPr>
        <p:spPr>
          <a:xfrm>
            <a:off x="813816" y="2523744"/>
            <a:ext cx="1856232" cy="219456"/>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clock starts</a:t>
            </a:r>
            <a:endParaRPr lang="en-US" sz="900" dirty="0"/>
          </a:p>
        </p:txBody>
      </p:sp>
      <p:sp>
        <p:nvSpPr>
          <p:cNvPr id="11" name="Shape 9"/>
          <p:cNvSpPr/>
          <p:nvPr/>
        </p:nvSpPr>
        <p:spPr>
          <a:xfrm>
            <a:off x="2862072" y="2395728"/>
            <a:ext cx="658368" cy="0"/>
          </a:xfrm>
          <a:prstGeom prst="line">
            <a:avLst/>
          </a:prstGeom>
          <a:noFill/>
          <a:ln w="19050">
            <a:solidFill>
              <a:srgbClr val="9E2B25"/>
            </a:solidFill>
            <a:prstDash val="solid"/>
            <a:tailEnd type="triangle"/>
          </a:ln>
        </p:spPr>
      </p:sp>
      <p:sp>
        <p:nvSpPr>
          <p:cNvPr id="12" name="Text 10"/>
          <p:cNvSpPr/>
          <p:nvPr/>
        </p:nvSpPr>
        <p:spPr>
          <a:xfrm>
            <a:off x="2715768" y="2450592"/>
            <a:ext cx="950976" cy="201168"/>
          </a:xfrm>
          <a:prstGeom prst="rect">
            <a:avLst/>
          </a:prstGeom>
          <a:noFill/>
          <a:ln/>
        </p:spPr>
        <p:txBody>
          <a:bodyPr wrap="square" lIns="0" tIns="0" rIns="0" bIns="0" rtlCol="0" anchor="ctr"/>
          <a:lstStyle/>
          <a:p>
            <a:pPr algn="ctr" indent="0" marL="0">
              <a:buNone/>
            </a:pPr>
            <a:r>
              <a:rPr lang="en-US" sz="850" i="1" dirty="0">
                <a:solidFill>
                  <a:srgbClr val="9E2B25"/>
                </a:solidFill>
                <a:latin typeface="Calibri" pitchFamily="34" charset="0"/>
                <a:ea typeface="Calibri" pitchFamily="34" charset="-122"/>
                <a:cs typeface="Calibri" pitchFamily="34" charset="-120"/>
              </a:rPr>
              <a:t>hand off</a:t>
            </a:r>
            <a:endParaRPr lang="en-US" sz="850" dirty="0"/>
          </a:p>
        </p:txBody>
      </p:sp>
      <p:sp>
        <p:nvSpPr>
          <p:cNvPr id="13" name="Shape 11"/>
          <p:cNvSpPr/>
          <p:nvPr/>
        </p:nvSpPr>
        <p:spPr>
          <a:xfrm>
            <a:off x="3630168" y="1956816"/>
            <a:ext cx="1965960" cy="868680"/>
          </a:xfrm>
          <a:prstGeom prst="roundRect">
            <a:avLst>
              <a:gd name="adj" fmla="val 5263"/>
            </a:avLst>
          </a:prstGeom>
          <a:solidFill>
            <a:srgbClr val="FFFFFF"/>
          </a:solidFill>
          <a:ln w="12700">
            <a:solidFill>
              <a:srgbClr val="FFFFFF"/>
            </a:solidFill>
            <a:prstDash val="solid"/>
          </a:ln>
        </p:spPr>
      </p:sp>
      <p:sp>
        <p:nvSpPr>
          <p:cNvPr id="14" name="Text 12"/>
          <p:cNvSpPr/>
          <p:nvPr/>
        </p:nvSpPr>
        <p:spPr>
          <a:xfrm>
            <a:off x="3630168" y="1956816"/>
            <a:ext cx="1965960" cy="868680"/>
          </a:xfrm>
          <a:prstGeom prst="rect">
            <a:avLst/>
          </a:prstGeom>
          <a:noFill/>
          <a:ln/>
        </p:spPr>
        <p:txBody>
          <a:bodyPr wrap="square" lIns="0" tIns="0" rIns="0" bIns="0" rtlCol="0" anchor="ctr"/>
          <a:lstStyle/>
          <a:p>
            <a:pPr algn="ctr" indent="0" marL="0">
              <a:buNone/>
            </a:pPr>
            <a:endParaRPr lang="en-US" sz="950" dirty="0"/>
          </a:p>
        </p:txBody>
      </p:sp>
      <p:sp>
        <p:nvSpPr>
          <p:cNvPr id="15" name="Text 13"/>
          <p:cNvSpPr/>
          <p:nvPr/>
        </p:nvSpPr>
        <p:spPr>
          <a:xfrm>
            <a:off x="3685032" y="2029968"/>
            <a:ext cx="1856232" cy="201168"/>
          </a:xfrm>
          <a:prstGeom prst="rect">
            <a:avLst/>
          </a:prstGeom>
          <a:noFill/>
          <a:ln/>
        </p:spPr>
        <p:txBody>
          <a:bodyPr wrap="square" lIns="0" tIns="0" rIns="0" bIns="0" rtlCol="0" anchor="ctr"/>
          <a:lstStyle/>
          <a:p>
            <a:pPr algn="ctr" indent="0" marL="0">
              <a:buNone/>
            </a:pPr>
            <a:r>
              <a:rPr lang="en-US" sz="850" b="1" dirty="0">
                <a:solidFill>
                  <a:srgbClr val="6B7280"/>
                </a:solidFill>
                <a:latin typeface="Calibri" pitchFamily="34" charset="0"/>
                <a:ea typeface="Calibri" pitchFamily="34" charset="-122"/>
                <a:cs typeface="Calibri" pitchFamily="34" charset="-120"/>
              </a:rPr>
              <a:t>PROJECT: NET (L2)</a:t>
            </a:r>
            <a:endParaRPr lang="en-US" sz="850" dirty="0"/>
          </a:p>
        </p:txBody>
      </p:sp>
      <p:sp>
        <p:nvSpPr>
          <p:cNvPr id="16" name="Text 14"/>
          <p:cNvSpPr/>
          <p:nvPr/>
        </p:nvSpPr>
        <p:spPr>
          <a:xfrm>
            <a:off x="3685032" y="2231136"/>
            <a:ext cx="1856232" cy="292608"/>
          </a:xfrm>
          <a:prstGeom prst="rect">
            <a:avLst/>
          </a:prstGeom>
          <a:noFill/>
          <a:ln/>
        </p:spPr>
        <p:txBody>
          <a:bodyPr wrap="square" lIns="0" tIns="0" rIns="0" bIns="0" rtlCol="0" anchor="ctr"/>
          <a:lstStyle/>
          <a:p>
            <a:pPr algn="ctr" indent="0" marL="0">
              <a:buNone/>
            </a:pPr>
            <a:r>
              <a:rPr lang="en-US" sz="1600" b="1" dirty="0">
                <a:solidFill>
                  <a:srgbClr val="9E2B25"/>
                </a:solidFill>
                <a:latin typeface="Calibri" pitchFamily="34" charset="0"/>
                <a:ea typeface="Calibri" pitchFamily="34" charset="-122"/>
                <a:cs typeface="Calibri" pitchFamily="34" charset="-120"/>
              </a:rPr>
              <a:t>NET-456</a:t>
            </a:r>
            <a:endParaRPr lang="en-US" sz="1600" dirty="0"/>
          </a:p>
        </p:txBody>
      </p:sp>
      <p:sp>
        <p:nvSpPr>
          <p:cNvPr id="17" name="Text 15"/>
          <p:cNvSpPr/>
          <p:nvPr/>
        </p:nvSpPr>
        <p:spPr>
          <a:xfrm>
            <a:off x="3685032" y="2523744"/>
            <a:ext cx="1856232" cy="219456"/>
          </a:xfrm>
          <a:prstGeom prst="rect">
            <a:avLst/>
          </a:prstGeom>
          <a:noFill/>
          <a:ln/>
        </p:spPr>
        <p:txBody>
          <a:bodyPr wrap="square" lIns="0" tIns="0" rIns="0" bIns="0" rtlCol="0" anchor="ctr"/>
          <a:lstStyle/>
          <a:p>
            <a:pPr algn="ctr" indent="0" marL="0">
              <a:buNone/>
            </a:pPr>
            <a:r>
              <a:rPr lang="en-US" sz="900" dirty="0">
                <a:solidFill>
                  <a:srgbClr val="9E2B25"/>
                </a:solidFill>
                <a:latin typeface="Calibri" pitchFamily="34" charset="0"/>
                <a:ea typeface="Calibri" pitchFamily="34" charset="-122"/>
                <a:cs typeface="Calibri" pitchFamily="34" charset="-120"/>
              </a:rPr>
              <a:t>clock restarts</a:t>
            </a:r>
            <a:endParaRPr lang="en-US" sz="900" dirty="0"/>
          </a:p>
        </p:txBody>
      </p:sp>
      <p:sp>
        <p:nvSpPr>
          <p:cNvPr id="18" name="Text 16"/>
          <p:cNvSpPr/>
          <p:nvPr/>
        </p:nvSpPr>
        <p:spPr>
          <a:xfrm>
            <a:off x="758952" y="2962656"/>
            <a:ext cx="4846320" cy="219456"/>
          </a:xfrm>
          <a:prstGeom prst="rect">
            <a:avLst/>
          </a:prstGeom>
          <a:noFill/>
          <a:ln/>
        </p:spPr>
        <p:txBody>
          <a:bodyPr wrap="square" lIns="0" tIns="0" rIns="0" bIns="0" rtlCol="0" anchor="ctr"/>
          <a:lstStyle/>
          <a:p>
            <a:pPr indent="0" marL="0">
              <a:buNone/>
            </a:pPr>
            <a:r>
              <a:rPr lang="en-US" sz="850" b="1" spc="110" kern="0" dirty="0">
                <a:solidFill>
                  <a:srgbClr val="9E2B25"/>
                </a:solidFill>
                <a:latin typeface="Calibri" pitchFamily="34" charset="0"/>
                <a:ea typeface="Calibri" pitchFamily="34" charset="-122"/>
                <a:cs typeface="Calibri" pitchFamily="34" charset="-120"/>
              </a:rPr>
              <a:t>WHAT THE HANDOFF BREAKS</a:t>
            </a:r>
            <a:endParaRPr lang="en-US" sz="850" dirty="0"/>
          </a:p>
        </p:txBody>
      </p:sp>
      <p:sp>
        <p:nvSpPr>
          <p:cNvPr id="19" name="Shape 17"/>
          <p:cNvSpPr/>
          <p:nvPr/>
        </p:nvSpPr>
        <p:spPr>
          <a:xfrm>
            <a:off x="777240" y="3346704"/>
            <a:ext cx="146304" cy="146304"/>
          </a:xfrm>
          <a:prstGeom prst="ellipse">
            <a:avLst/>
          </a:prstGeom>
          <a:solidFill>
            <a:srgbClr val="9E2B25"/>
          </a:solidFill>
          <a:ln w="12700">
            <a:solidFill>
              <a:srgbClr val="9E2B25"/>
            </a:solidFill>
            <a:prstDash val="solid"/>
          </a:ln>
        </p:spPr>
      </p:sp>
      <p:sp>
        <p:nvSpPr>
          <p:cNvPr id="20" name="Text 18"/>
          <p:cNvSpPr/>
          <p:nvPr/>
        </p:nvSpPr>
        <p:spPr>
          <a:xfrm>
            <a:off x="1069848" y="3273552"/>
            <a:ext cx="4617720" cy="548640"/>
          </a:xfrm>
          <a:prstGeom prst="rect">
            <a:avLst/>
          </a:prstGeom>
          <a:noFill/>
          <a:ln/>
        </p:spPr>
        <p:txBody>
          <a:bodyPr wrap="square" lIns="0" tIns="0" rIns="0" bIns="0" rtlCol="0" anchor="t"/>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New ticket key — the customer is now tracking two references</a:t>
            </a:r>
            <a:endParaRPr lang="en-US" sz="1050" dirty="0"/>
          </a:p>
        </p:txBody>
      </p:sp>
      <p:sp>
        <p:nvSpPr>
          <p:cNvPr id="21" name="Shape 19"/>
          <p:cNvSpPr/>
          <p:nvPr/>
        </p:nvSpPr>
        <p:spPr>
          <a:xfrm>
            <a:off x="777240" y="3968496"/>
            <a:ext cx="146304" cy="146304"/>
          </a:xfrm>
          <a:prstGeom prst="ellipse">
            <a:avLst/>
          </a:prstGeom>
          <a:solidFill>
            <a:srgbClr val="9E2B25"/>
          </a:solidFill>
          <a:ln w="12700">
            <a:solidFill>
              <a:srgbClr val="9E2B25"/>
            </a:solidFill>
            <a:prstDash val="solid"/>
          </a:ln>
        </p:spPr>
      </p:sp>
      <p:sp>
        <p:nvSpPr>
          <p:cNvPr id="22" name="Text 20"/>
          <p:cNvSpPr/>
          <p:nvPr/>
        </p:nvSpPr>
        <p:spPr>
          <a:xfrm>
            <a:off x="1069848" y="3895344"/>
            <a:ext cx="4617720" cy="548640"/>
          </a:xfrm>
          <a:prstGeom prst="rect">
            <a:avLst/>
          </a:prstGeom>
          <a:noFill/>
          <a:ln/>
        </p:spPr>
        <p:txBody>
          <a:bodyPr wrap="square" lIns="0" tIns="0" rIns="0" bIns="0" rtlCol="0" anchor="t"/>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SLA clock restarts — end-to-end MTTR cannot be computed</a:t>
            </a:r>
            <a:endParaRPr lang="en-US" sz="1050" dirty="0"/>
          </a:p>
        </p:txBody>
      </p:sp>
      <p:sp>
        <p:nvSpPr>
          <p:cNvPr id="23" name="Shape 21"/>
          <p:cNvSpPr/>
          <p:nvPr/>
        </p:nvSpPr>
        <p:spPr>
          <a:xfrm>
            <a:off x="777240" y="4590288"/>
            <a:ext cx="146304" cy="146304"/>
          </a:xfrm>
          <a:prstGeom prst="ellipse">
            <a:avLst/>
          </a:prstGeom>
          <a:solidFill>
            <a:srgbClr val="9E2B25"/>
          </a:solidFill>
          <a:ln w="12700">
            <a:solidFill>
              <a:srgbClr val="9E2B25"/>
            </a:solidFill>
            <a:prstDash val="solid"/>
          </a:ln>
        </p:spPr>
      </p:sp>
      <p:sp>
        <p:nvSpPr>
          <p:cNvPr id="24" name="Text 22"/>
          <p:cNvSpPr/>
          <p:nvPr/>
        </p:nvSpPr>
        <p:spPr>
          <a:xfrm>
            <a:off x="1069848" y="4517136"/>
            <a:ext cx="4617720" cy="548640"/>
          </a:xfrm>
          <a:prstGeom prst="rect">
            <a:avLst/>
          </a:prstGeom>
          <a:noFill/>
          <a:ln/>
        </p:spPr>
        <p:txBody>
          <a:bodyPr wrap="square" lIns="0" tIns="0" rIns="0" bIns="0" rtlCol="0" anchor="t"/>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Audit trail splits — ping-pong becomes invisible in reporting</a:t>
            </a:r>
            <a:endParaRPr lang="en-US" sz="1050" dirty="0"/>
          </a:p>
        </p:txBody>
      </p:sp>
      <p:sp>
        <p:nvSpPr>
          <p:cNvPr id="25" name="Shape 23"/>
          <p:cNvSpPr/>
          <p:nvPr/>
        </p:nvSpPr>
        <p:spPr>
          <a:xfrm>
            <a:off x="6336792" y="1481328"/>
            <a:ext cx="5349240" cy="3703320"/>
          </a:xfrm>
          <a:prstGeom prst="roundRect">
            <a:avLst>
              <a:gd name="adj" fmla="val 1481"/>
            </a:avLst>
          </a:prstGeom>
          <a:solidFill>
            <a:srgbClr val="D9EAE9"/>
          </a:solidFill>
          <a:ln w="12700">
            <a:solidFill>
              <a:srgbClr val="A9CFCD"/>
            </a:solidFill>
            <a:prstDash val="solid"/>
          </a:ln>
          <a:effectLst>
            <a:outerShdw sx="100000" sy="100000" kx="0" ky="0" algn="bl" rotWithShape="0" blurRad="76200" dist="12700" dir="5400000">
              <a:srgbClr val="9AA7BA">
                <a:alpha val="22000"/>
              </a:srgbClr>
            </a:outerShdw>
          </a:effectLst>
        </p:spPr>
      </p:sp>
      <p:sp>
        <p:nvSpPr>
          <p:cNvPr id="26" name="Text 24"/>
          <p:cNvSpPr/>
          <p:nvPr/>
        </p:nvSpPr>
        <p:spPr>
          <a:xfrm>
            <a:off x="6537960" y="1609344"/>
            <a:ext cx="4937760" cy="219456"/>
          </a:xfrm>
          <a:prstGeom prst="rect">
            <a:avLst/>
          </a:prstGeom>
          <a:noFill/>
          <a:ln/>
        </p:spPr>
        <p:txBody>
          <a:bodyPr wrap="square" lIns="0" tIns="0" rIns="0" bIns="0" rtlCol="0" anchor="ctr"/>
          <a:lstStyle/>
          <a:p>
            <a:pPr indent="0" marL="0">
              <a:buNone/>
            </a:pPr>
            <a:r>
              <a:rPr lang="en-US" sz="900" b="1" spc="120" kern="0" dirty="0">
                <a:solidFill>
                  <a:srgbClr val="0E7C7B"/>
                </a:solidFill>
                <a:latin typeface="Calibri" pitchFamily="34" charset="0"/>
                <a:ea typeface="Calibri" pitchFamily="34" charset="-122"/>
                <a:cs typeface="Calibri" pitchFamily="34" charset="-120"/>
              </a:rPr>
              <a:t>THE DESIGN  ·  ONE PROJECT, TIER AS A WORKFLOW STATE</a:t>
            </a:r>
            <a:endParaRPr lang="en-US" sz="900" dirty="0"/>
          </a:p>
        </p:txBody>
      </p:sp>
      <p:sp>
        <p:nvSpPr>
          <p:cNvPr id="27" name="Shape 25"/>
          <p:cNvSpPr/>
          <p:nvPr/>
        </p:nvSpPr>
        <p:spPr>
          <a:xfrm>
            <a:off x="6537960" y="1956816"/>
            <a:ext cx="4956048" cy="868680"/>
          </a:xfrm>
          <a:prstGeom prst="roundRect">
            <a:avLst>
              <a:gd name="adj" fmla="val 5263"/>
            </a:avLst>
          </a:prstGeom>
          <a:solidFill>
            <a:srgbClr val="FFFFFF"/>
          </a:solidFill>
          <a:ln w="15875">
            <a:solidFill>
              <a:srgbClr val="0E7C7B"/>
            </a:solidFill>
            <a:prstDash val="solid"/>
          </a:ln>
        </p:spPr>
      </p:sp>
      <p:sp>
        <p:nvSpPr>
          <p:cNvPr id="28" name="Text 26"/>
          <p:cNvSpPr/>
          <p:nvPr/>
        </p:nvSpPr>
        <p:spPr>
          <a:xfrm>
            <a:off x="6656832" y="2011680"/>
            <a:ext cx="4718304" cy="201168"/>
          </a:xfrm>
          <a:prstGeom prst="rect">
            <a:avLst/>
          </a:prstGeom>
          <a:noFill/>
          <a:ln/>
        </p:spPr>
        <p:txBody>
          <a:bodyPr wrap="square" lIns="0" tIns="0" rIns="0" bIns="0" rtlCol="0" anchor="ctr"/>
          <a:lstStyle/>
          <a:p>
            <a:pPr algn="ctr" indent="0" marL="0">
              <a:buNone/>
            </a:pPr>
            <a:r>
              <a:rPr lang="en-US" sz="850" b="1" dirty="0">
                <a:solidFill>
                  <a:srgbClr val="6B7280"/>
                </a:solidFill>
                <a:latin typeface="Calibri" pitchFamily="34" charset="0"/>
                <a:ea typeface="Calibri" pitchFamily="34" charset="-122"/>
                <a:cs typeface="Calibri" pitchFamily="34" charset="-120"/>
              </a:rPr>
              <a:t>PROJECT: OPS   ·   Tower field = Network</a:t>
            </a:r>
            <a:endParaRPr lang="en-US" sz="850" dirty="0"/>
          </a:p>
        </p:txBody>
      </p:sp>
      <p:sp>
        <p:nvSpPr>
          <p:cNvPr id="29" name="Text 27"/>
          <p:cNvSpPr/>
          <p:nvPr/>
        </p:nvSpPr>
        <p:spPr>
          <a:xfrm>
            <a:off x="6656832" y="2194560"/>
            <a:ext cx="1417320" cy="292608"/>
          </a:xfrm>
          <a:prstGeom prst="rect">
            <a:avLst/>
          </a:prstGeom>
          <a:noFill/>
          <a:ln/>
        </p:spPr>
        <p:txBody>
          <a:bodyPr wrap="square" lIns="0" tIns="0" rIns="0" bIns="0" rtlCol="0" anchor="ctr"/>
          <a:lstStyle/>
          <a:p>
            <a:pPr indent="0" marL="0">
              <a:buNone/>
            </a:pPr>
            <a:r>
              <a:rPr lang="en-US" sz="1600" b="1" dirty="0">
                <a:solidFill>
                  <a:srgbClr val="152A4E"/>
                </a:solidFill>
                <a:latin typeface="Calibri" pitchFamily="34" charset="0"/>
                <a:ea typeface="Calibri" pitchFamily="34" charset="-122"/>
                <a:cs typeface="Calibri" pitchFamily="34" charset="-120"/>
              </a:rPr>
              <a:t>OPS-1042</a:t>
            </a:r>
            <a:endParaRPr lang="en-US" sz="1600" dirty="0"/>
          </a:p>
        </p:txBody>
      </p:sp>
      <p:sp>
        <p:nvSpPr>
          <p:cNvPr id="30" name="Shape 28"/>
          <p:cNvSpPr/>
          <p:nvPr/>
        </p:nvSpPr>
        <p:spPr>
          <a:xfrm>
            <a:off x="8211312" y="2231136"/>
            <a:ext cx="658368" cy="256032"/>
          </a:xfrm>
          <a:prstGeom prst="roundRect">
            <a:avLst>
              <a:gd name="adj" fmla="val 17857"/>
            </a:avLst>
          </a:prstGeom>
          <a:solidFill>
            <a:srgbClr val="0E7C7B"/>
          </a:solidFill>
          <a:ln w="12700">
            <a:solidFill>
              <a:srgbClr val="0E7C7B"/>
            </a:solidFill>
            <a:prstDash val="solid"/>
          </a:ln>
        </p:spPr>
      </p:sp>
      <p:sp>
        <p:nvSpPr>
          <p:cNvPr id="31" name="Text 29"/>
          <p:cNvSpPr/>
          <p:nvPr/>
        </p:nvSpPr>
        <p:spPr>
          <a:xfrm>
            <a:off x="8211312" y="2231136"/>
            <a:ext cx="658368"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L1</a:t>
            </a:r>
            <a:endParaRPr lang="en-US" sz="950" dirty="0"/>
          </a:p>
        </p:txBody>
      </p:sp>
      <p:sp>
        <p:nvSpPr>
          <p:cNvPr id="32" name="Shape 30"/>
          <p:cNvSpPr/>
          <p:nvPr/>
        </p:nvSpPr>
        <p:spPr>
          <a:xfrm>
            <a:off x="8906256" y="2359152"/>
            <a:ext cx="365760" cy="0"/>
          </a:xfrm>
          <a:prstGeom prst="line">
            <a:avLst/>
          </a:prstGeom>
          <a:noFill/>
          <a:ln w="15875">
            <a:solidFill>
              <a:srgbClr val="27436F"/>
            </a:solidFill>
            <a:prstDash val="solid"/>
            <a:tailEnd type="triangle"/>
          </a:ln>
        </p:spPr>
      </p:sp>
      <p:sp>
        <p:nvSpPr>
          <p:cNvPr id="33" name="Shape 31"/>
          <p:cNvSpPr/>
          <p:nvPr/>
        </p:nvSpPr>
        <p:spPr>
          <a:xfrm>
            <a:off x="9308592" y="2231136"/>
            <a:ext cx="658368" cy="256032"/>
          </a:xfrm>
          <a:prstGeom prst="roundRect">
            <a:avLst>
              <a:gd name="adj" fmla="val 17857"/>
            </a:avLst>
          </a:prstGeom>
          <a:solidFill>
            <a:srgbClr val="27436F"/>
          </a:solidFill>
          <a:ln w="12700">
            <a:solidFill>
              <a:srgbClr val="27436F"/>
            </a:solidFill>
            <a:prstDash val="solid"/>
          </a:ln>
        </p:spPr>
      </p:sp>
      <p:sp>
        <p:nvSpPr>
          <p:cNvPr id="34" name="Text 32"/>
          <p:cNvSpPr/>
          <p:nvPr/>
        </p:nvSpPr>
        <p:spPr>
          <a:xfrm>
            <a:off x="9308592" y="2231136"/>
            <a:ext cx="658368"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L2</a:t>
            </a:r>
            <a:endParaRPr lang="en-US" sz="950" dirty="0"/>
          </a:p>
        </p:txBody>
      </p:sp>
      <p:sp>
        <p:nvSpPr>
          <p:cNvPr id="35" name="Shape 33"/>
          <p:cNvSpPr/>
          <p:nvPr/>
        </p:nvSpPr>
        <p:spPr>
          <a:xfrm>
            <a:off x="10003536" y="2359152"/>
            <a:ext cx="365760" cy="0"/>
          </a:xfrm>
          <a:prstGeom prst="line">
            <a:avLst/>
          </a:prstGeom>
          <a:noFill/>
          <a:ln w="15875">
            <a:solidFill>
              <a:srgbClr val="27436F"/>
            </a:solidFill>
            <a:prstDash val="solid"/>
            <a:tailEnd type="triangle"/>
          </a:ln>
        </p:spPr>
      </p:sp>
      <p:sp>
        <p:nvSpPr>
          <p:cNvPr id="36" name="Shape 34"/>
          <p:cNvSpPr/>
          <p:nvPr/>
        </p:nvSpPr>
        <p:spPr>
          <a:xfrm>
            <a:off x="10405872" y="2231136"/>
            <a:ext cx="658368" cy="256032"/>
          </a:xfrm>
          <a:prstGeom prst="roundRect">
            <a:avLst>
              <a:gd name="adj" fmla="val 17857"/>
            </a:avLst>
          </a:prstGeom>
          <a:solidFill>
            <a:srgbClr val="27436F"/>
          </a:solidFill>
          <a:ln w="12700">
            <a:solidFill>
              <a:srgbClr val="27436F"/>
            </a:solidFill>
            <a:prstDash val="solid"/>
          </a:ln>
        </p:spPr>
      </p:sp>
      <p:sp>
        <p:nvSpPr>
          <p:cNvPr id="37" name="Text 35"/>
          <p:cNvSpPr/>
          <p:nvPr/>
        </p:nvSpPr>
        <p:spPr>
          <a:xfrm>
            <a:off x="10405872" y="2231136"/>
            <a:ext cx="658368"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L3</a:t>
            </a:r>
            <a:endParaRPr lang="en-US" sz="950" dirty="0"/>
          </a:p>
        </p:txBody>
      </p:sp>
      <p:sp>
        <p:nvSpPr>
          <p:cNvPr id="38" name="Text 36"/>
          <p:cNvSpPr/>
          <p:nvPr/>
        </p:nvSpPr>
        <p:spPr>
          <a:xfrm>
            <a:off x="6656832" y="2523744"/>
            <a:ext cx="4718304" cy="237744"/>
          </a:xfrm>
          <a:prstGeom prst="rect">
            <a:avLst/>
          </a:prstGeom>
          <a:noFill/>
          <a:ln/>
        </p:spPr>
        <p:txBody>
          <a:bodyPr wrap="square" lIns="0" tIns="0" rIns="0" bIns="0" rtlCol="0" anchor="ctr"/>
          <a:lstStyle/>
          <a:p>
            <a:pPr algn="ctr" indent="0" marL="0">
              <a:buNone/>
            </a:pPr>
            <a:r>
              <a:rPr lang="en-US" sz="900" i="1" dirty="0">
                <a:solidFill>
                  <a:srgbClr val="0E7C7B"/>
                </a:solidFill>
                <a:latin typeface="Calibri" pitchFamily="34" charset="0"/>
                <a:ea typeface="Calibri" pitchFamily="34" charset="-122"/>
                <a:cs typeface="Calibri" pitchFamily="34" charset="-120"/>
              </a:rPr>
              <a:t>Support Tier field flips on a workflow transition — same issue key throughout</a:t>
            </a:r>
            <a:endParaRPr lang="en-US" sz="900" dirty="0"/>
          </a:p>
        </p:txBody>
      </p:sp>
      <p:sp>
        <p:nvSpPr>
          <p:cNvPr id="39" name="Text 37"/>
          <p:cNvSpPr/>
          <p:nvPr/>
        </p:nvSpPr>
        <p:spPr>
          <a:xfrm>
            <a:off x="6537960" y="2962656"/>
            <a:ext cx="4846320" cy="219456"/>
          </a:xfrm>
          <a:prstGeom prst="rect">
            <a:avLst/>
          </a:prstGeom>
          <a:noFill/>
          <a:ln/>
        </p:spPr>
        <p:txBody>
          <a:bodyPr wrap="square" lIns="0" tIns="0" rIns="0" bIns="0" rtlCol="0" anchor="ctr"/>
          <a:lstStyle/>
          <a:p>
            <a:pPr indent="0" marL="0">
              <a:buNone/>
            </a:pPr>
            <a:r>
              <a:rPr lang="en-US" sz="850" b="1" spc="110" kern="0" dirty="0">
                <a:solidFill>
                  <a:srgbClr val="2E6B4A"/>
                </a:solidFill>
                <a:latin typeface="Calibri" pitchFamily="34" charset="0"/>
                <a:ea typeface="Calibri" pitchFamily="34" charset="-122"/>
                <a:cs typeface="Calibri" pitchFamily="34" charset="-120"/>
              </a:rPr>
              <a:t>WHAT ONE PROJECT PRESERVES</a:t>
            </a:r>
            <a:endParaRPr lang="en-US" sz="850" dirty="0"/>
          </a:p>
        </p:txBody>
      </p:sp>
      <p:sp>
        <p:nvSpPr>
          <p:cNvPr id="40" name="Shape 38"/>
          <p:cNvSpPr/>
          <p:nvPr/>
        </p:nvSpPr>
        <p:spPr>
          <a:xfrm>
            <a:off x="6556248" y="3346704"/>
            <a:ext cx="146304" cy="146304"/>
          </a:xfrm>
          <a:prstGeom prst="ellipse">
            <a:avLst/>
          </a:prstGeom>
          <a:solidFill>
            <a:srgbClr val="2E6B4A"/>
          </a:solidFill>
          <a:ln w="12700">
            <a:solidFill>
              <a:srgbClr val="2E6B4A"/>
            </a:solidFill>
            <a:prstDash val="solid"/>
          </a:ln>
        </p:spPr>
      </p:sp>
      <p:sp>
        <p:nvSpPr>
          <p:cNvPr id="41" name="Text 39"/>
          <p:cNvSpPr/>
          <p:nvPr/>
        </p:nvSpPr>
        <p:spPr>
          <a:xfrm>
            <a:off x="6848856" y="3273552"/>
            <a:ext cx="4617720" cy="548640"/>
          </a:xfrm>
          <a:prstGeom prst="rect">
            <a:avLst/>
          </a:prstGeom>
          <a:noFill/>
          <a:ln/>
        </p:spPr>
        <p:txBody>
          <a:bodyPr wrap="square" lIns="0" tIns="0" rIns="0" bIns="0" rtlCol="0" anchor="t"/>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One ticket key — OPS-1042 from raise to close, for customer and for audit</a:t>
            </a:r>
            <a:endParaRPr lang="en-US" sz="1050" dirty="0"/>
          </a:p>
        </p:txBody>
      </p:sp>
      <p:sp>
        <p:nvSpPr>
          <p:cNvPr id="42" name="Shape 40"/>
          <p:cNvSpPr/>
          <p:nvPr/>
        </p:nvSpPr>
        <p:spPr>
          <a:xfrm>
            <a:off x="6556248" y="3968496"/>
            <a:ext cx="146304" cy="146304"/>
          </a:xfrm>
          <a:prstGeom prst="ellipse">
            <a:avLst/>
          </a:prstGeom>
          <a:solidFill>
            <a:srgbClr val="2E6B4A"/>
          </a:solidFill>
          <a:ln w="12700">
            <a:solidFill>
              <a:srgbClr val="2E6B4A"/>
            </a:solidFill>
            <a:prstDash val="solid"/>
          </a:ln>
        </p:spPr>
      </p:sp>
      <p:sp>
        <p:nvSpPr>
          <p:cNvPr id="43" name="Text 41"/>
          <p:cNvSpPr/>
          <p:nvPr/>
        </p:nvSpPr>
        <p:spPr>
          <a:xfrm>
            <a:off x="6848856" y="3895344"/>
            <a:ext cx="4617720" cy="548640"/>
          </a:xfrm>
          <a:prstGeom prst="rect">
            <a:avLst/>
          </a:prstGeom>
          <a:noFill/>
          <a:ln/>
        </p:spPr>
        <p:txBody>
          <a:bodyPr wrap="square" lIns="0" tIns="0" rIns="0" bIns="0" rtlCol="0" anchor="t"/>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One SLA clock — runs continuously across tiers, so MTTR is real end to end</a:t>
            </a:r>
            <a:endParaRPr lang="en-US" sz="1050" dirty="0"/>
          </a:p>
        </p:txBody>
      </p:sp>
      <p:sp>
        <p:nvSpPr>
          <p:cNvPr id="44" name="Shape 42"/>
          <p:cNvSpPr/>
          <p:nvPr/>
        </p:nvSpPr>
        <p:spPr>
          <a:xfrm>
            <a:off x="6556248" y="4590288"/>
            <a:ext cx="146304" cy="146304"/>
          </a:xfrm>
          <a:prstGeom prst="ellipse">
            <a:avLst/>
          </a:prstGeom>
          <a:solidFill>
            <a:srgbClr val="2E6B4A"/>
          </a:solidFill>
          <a:ln w="12700">
            <a:solidFill>
              <a:srgbClr val="2E6B4A"/>
            </a:solidFill>
            <a:prstDash val="solid"/>
          </a:ln>
        </p:spPr>
      </p:sp>
      <p:sp>
        <p:nvSpPr>
          <p:cNvPr id="45" name="Text 43"/>
          <p:cNvSpPr/>
          <p:nvPr/>
        </p:nvSpPr>
        <p:spPr>
          <a:xfrm>
            <a:off x="6848856" y="4517136"/>
            <a:ext cx="4617720" cy="548640"/>
          </a:xfrm>
          <a:prstGeom prst="rect">
            <a:avLst/>
          </a:prstGeom>
          <a:noFill/>
          <a:ln/>
        </p:spPr>
        <p:txBody>
          <a:bodyPr wrap="square" lIns="0" tIns="0" rIns="0" bIns="0" rtlCol="0" anchor="t"/>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One history — every hand that touched it, so ping-pong is finally measurable</a:t>
            </a:r>
            <a:endParaRPr lang="en-US" sz="1050" dirty="0"/>
          </a:p>
        </p:txBody>
      </p:sp>
      <p:sp>
        <p:nvSpPr>
          <p:cNvPr id="46" name="Shape 44"/>
          <p:cNvSpPr/>
          <p:nvPr/>
        </p:nvSpPr>
        <p:spPr>
          <a:xfrm>
            <a:off x="502920" y="5321808"/>
            <a:ext cx="11183112" cy="713232"/>
          </a:xfrm>
          <a:prstGeom prst="roundRect">
            <a:avLst>
              <a:gd name="adj" fmla="val 7692"/>
            </a:avLst>
          </a:prstGeom>
          <a:solidFill>
            <a:srgbClr val="152A4E"/>
          </a:solidFill>
          <a:ln w="12700">
            <a:solidFill>
              <a:srgbClr val="152A4E"/>
            </a:solidFill>
            <a:prstDash val="solid"/>
          </a:ln>
          <a:effectLst>
            <a:outerShdw sx="100000" sy="100000" kx="0" ky="0" algn="bl" rotWithShape="0" blurRad="76200" dist="12700" dir="5400000">
              <a:srgbClr val="9AA7BA">
                <a:alpha val="22000"/>
              </a:srgbClr>
            </a:outerShdw>
          </a:effectLst>
        </p:spPr>
      </p:sp>
      <p:sp>
        <p:nvSpPr>
          <p:cNvPr id="47" name="Text 45"/>
          <p:cNvSpPr/>
          <p:nvPr/>
        </p:nvSpPr>
        <p:spPr>
          <a:xfrm>
            <a:off x="777240" y="5321808"/>
            <a:ext cx="10607040"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Everything else in the build follows from this one choice. Tower stays a single-select field, so a ticket can move between towers without ever leaving the project.</a:t>
            </a:r>
            <a:endParaRPr lang="en-US" sz="1200" dirty="0"/>
          </a:p>
        </p:txBody>
      </p:sp>
      <p:sp>
        <p:nvSpPr>
          <p:cNvPr id="48" name="Text 46"/>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§3, 'Core model: tier is a state, tower is a dimension'; BRIEF.md</a:t>
            </a:r>
            <a:endParaRPr lang="en-US" sz="850" dirty="0"/>
          </a:p>
        </p:txBody>
      </p:sp>
      <p:sp>
        <p:nvSpPr>
          <p:cNvPr id="49" name="Text 47"/>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THE ENFORCEMENT MECHANISM</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A workflow validator on In Progress L1 → Escalated to L2 enforces in configuration what policy cannot enforce under queue pressure</a:t>
            </a:r>
            <a:endParaRPr lang="en-US" sz="1850" dirty="0"/>
          </a:p>
        </p:txBody>
      </p:sp>
      <p:sp>
        <p:nvSpPr>
          <p:cNvPr id="4" name="Shape 2"/>
          <p:cNvSpPr/>
          <p:nvPr/>
        </p:nvSpPr>
        <p:spPr>
          <a:xfrm>
            <a:off x="502920" y="1417320"/>
            <a:ext cx="11183112" cy="548640"/>
          </a:xfrm>
          <a:prstGeom prst="roundRect">
            <a:avLst>
              <a:gd name="adj" fmla="val 10000"/>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5" name="Text 3"/>
          <p:cNvSpPr/>
          <p:nvPr/>
        </p:nvSpPr>
        <p:spPr>
          <a:xfrm>
            <a:off x="731520" y="1417320"/>
            <a:ext cx="10698480" cy="548640"/>
          </a:xfrm>
          <a:prstGeom prst="rect">
            <a:avLst/>
          </a:prstGeom>
          <a:noFill/>
          <a:ln/>
        </p:spPr>
        <p:txBody>
          <a:bodyPr wrap="square" lIns="0" tIns="0" rIns="0" bIns="0" rtlCol="0" anchor="ctr"/>
          <a:lstStyle/>
          <a:p>
            <a:pPr indent="0" marL="0">
              <a:buNone/>
            </a:pPr>
            <a:r>
              <a:rPr lang="en-US" sz="1150" b="1" dirty="0">
                <a:solidFill>
                  <a:srgbClr val="9E2B25"/>
                </a:solidFill>
                <a:latin typeface="Calibri" pitchFamily="34" charset="0"/>
                <a:ea typeface="Calibri" pitchFamily="34" charset="-122"/>
                <a:cs typeface="Calibri" pitchFamily="34" charset="-120"/>
              </a:rPr>
              <a:t>POLICY: </a:t>
            </a:r>
            <a:pPr indent="0" marL="0">
              <a:buNone/>
            </a:pPr>
            <a:r>
              <a:rPr lang="en-US" sz="1150" dirty="0">
                <a:solidFill>
                  <a:srgbClr val="1A1A1A"/>
                </a:solidFill>
                <a:latin typeface="Calibri" pitchFamily="34" charset="0"/>
                <a:ea typeface="Calibri" pitchFamily="34" charset="-122"/>
                <a:cs typeface="Calibri" pitchFamily="34" charset="-120"/>
              </a:rPr>
              <a:t>“L1 must troubleshoot before escalating” — erodes the moment the queue backs up.        </a:t>
            </a:r>
            <a:pPr indent="0" marL="0">
              <a:buNone/>
            </a:pPr>
            <a:r>
              <a:rPr lang="en-US" sz="1150" b="1" dirty="0">
                <a:solidFill>
                  <a:srgbClr val="0E7C7B"/>
                </a:solidFill>
                <a:latin typeface="Calibri" pitchFamily="34" charset="0"/>
                <a:ea typeface="Calibri" pitchFamily="34" charset="-122"/>
                <a:cs typeface="Calibri" pitchFamily="34" charset="-120"/>
              </a:rPr>
              <a:t>CONFIGURATION: </a:t>
            </a:r>
            <a:pPr indent="0" marL="0">
              <a:buNone/>
            </a:pPr>
            <a:r>
              <a:rPr lang="en-US" sz="1150" dirty="0">
                <a:solidFill>
                  <a:srgbClr val="1A1A1A"/>
                </a:solidFill>
                <a:latin typeface="Calibri" pitchFamily="34" charset="0"/>
                <a:ea typeface="Calibri" pitchFamily="34" charset="-122"/>
                <a:cs typeface="Calibri" pitchFamily="34" charset="-120"/>
              </a:rPr>
              <a:t>the transition simply will not execute.</a:t>
            </a:r>
            <a:endParaRPr lang="en-US" sz="1150" dirty="0"/>
          </a:p>
        </p:txBody>
      </p:sp>
      <p:sp>
        <p:nvSpPr>
          <p:cNvPr id="6" name="Shape 4"/>
          <p:cNvSpPr/>
          <p:nvPr/>
        </p:nvSpPr>
        <p:spPr>
          <a:xfrm>
            <a:off x="502920" y="2212848"/>
            <a:ext cx="1874520" cy="914400"/>
          </a:xfrm>
          <a:prstGeom prst="roundRect">
            <a:avLst>
              <a:gd name="adj" fmla="val 5000"/>
            </a:avLst>
          </a:prstGeom>
          <a:solidFill>
            <a:srgbClr val="FFFFFF"/>
          </a:solidFill>
          <a:ln w="15875">
            <a:solidFill>
              <a:srgbClr val="152A4E"/>
            </a:solidFill>
            <a:prstDash val="solid"/>
          </a:ln>
        </p:spPr>
      </p:sp>
      <p:sp>
        <p:nvSpPr>
          <p:cNvPr id="7" name="Text 5"/>
          <p:cNvSpPr/>
          <p:nvPr/>
        </p:nvSpPr>
        <p:spPr>
          <a:xfrm>
            <a:off x="502920" y="2212848"/>
            <a:ext cx="1874520" cy="566928"/>
          </a:xfrm>
          <a:prstGeom prst="rect">
            <a:avLst/>
          </a:prstGeom>
          <a:noFill/>
          <a:ln/>
        </p:spPr>
        <p:txBody>
          <a:bodyPr wrap="square" lIns="0" tIns="0" rIns="0" bIns="0" rtlCol="0" anchor="b"/>
          <a:lstStyle/>
          <a:p>
            <a:pPr algn="ctr" indent="0" marL="0">
              <a:buNone/>
            </a:pPr>
            <a:r>
              <a:rPr lang="en-US" sz="1200" b="1" dirty="0">
                <a:solidFill>
                  <a:srgbClr val="152A4E"/>
                </a:solidFill>
                <a:latin typeface="Calibri" pitchFamily="34" charset="0"/>
                <a:ea typeface="Calibri" pitchFamily="34" charset="-122"/>
                <a:cs typeface="Calibri" pitchFamily="34" charset="-120"/>
              </a:rPr>
              <a:t>In Progress L1</a:t>
            </a:r>
            <a:endParaRPr lang="en-US" sz="1200" dirty="0"/>
          </a:p>
        </p:txBody>
      </p:sp>
      <p:sp>
        <p:nvSpPr>
          <p:cNvPr id="8" name="Text 6"/>
          <p:cNvSpPr/>
          <p:nvPr/>
        </p:nvSpPr>
        <p:spPr>
          <a:xfrm>
            <a:off x="502920" y="2761488"/>
            <a:ext cx="1874520" cy="27432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Tier = L1</a:t>
            </a:r>
            <a:endParaRPr lang="en-US" sz="950" dirty="0"/>
          </a:p>
        </p:txBody>
      </p:sp>
      <p:sp>
        <p:nvSpPr>
          <p:cNvPr id="9" name="Shape 7"/>
          <p:cNvSpPr/>
          <p:nvPr/>
        </p:nvSpPr>
        <p:spPr>
          <a:xfrm>
            <a:off x="2450592" y="2670048"/>
            <a:ext cx="457200" cy="0"/>
          </a:xfrm>
          <a:prstGeom prst="line">
            <a:avLst/>
          </a:prstGeom>
          <a:noFill/>
          <a:ln w="19050">
            <a:solidFill>
              <a:srgbClr val="152A4E"/>
            </a:solidFill>
            <a:prstDash val="solid"/>
            <a:tailEnd type="triangle"/>
          </a:ln>
        </p:spPr>
      </p:sp>
      <p:sp>
        <p:nvSpPr>
          <p:cNvPr id="10" name="Shape 8"/>
          <p:cNvSpPr/>
          <p:nvPr/>
        </p:nvSpPr>
        <p:spPr>
          <a:xfrm>
            <a:off x="2980944" y="2048256"/>
            <a:ext cx="3931920" cy="1243584"/>
          </a:xfrm>
          <a:prstGeom prst="roundRect">
            <a:avLst>
              <a:gd name="adj" fmla="val 4412"/>
            </a:avLst>
          </a:prstGeom>
          <a:solidFill>
            <a:srgbClr val="FBEEDA"/>
          </a:solidFill>
          <a:ln w="19050">
            <a:solidFill>
              <a:srgbClr val="A86A11"/>
            </a:solidFill>
            <a:prstDash val="solid"/>
          </a:ln>
          <a:effectLst>
            <a:outerShdw sx="100000" sy="100000" kx="0" ky="0" algn="bl" rotWithShape="0" blurRad="76200" dist="12700" dir="5400000">
              <a:srgbClr val="9AA7BA">
                <a:alpha val="22000"/>
              </a:srgbClr>
            </a:outerShdw>
          </a:effectLst>
        </p:spPr>
      </p:sp>
      <p:sp>
        <p:nvSpPr>
          <p:cNvPr id="11" name="Text 9"/>
          <p:cNvSpPr/>
          <p:nvPr/>
        </p:nvSpPr>
        <p:spPr>
          <a:xfrm>
            <a:off x="3127248" y="2139696"/>
            <a:ext cx="3657600" cy="219456"/>
          </a:xfrm>
          <a:prstGeom prst="rect">
            <a:avLst/>
          </a:prstGeom>
          <a:noFill/>
          <a:ln/>
        </p:spPr>
        <p:txBody>
          <a:bodyPr wrap="square" lIns="0" tIns="0" rIns="0" bIns="0" rtlCol="0" anchor="ctr"/>
          <a:lstStyle/>
          <a:p>
            <a:pPr indent="0" marL="0">
              <a:buNone/>
            </a:pPr>
            <a:r>
              <a:rPr lang="en-US" sz="900" b="1" spc="110" kern="0" dirty="0">
                <a:solidFill>
                  <a:srgbClr val="A86A11"/>
                </a:solidFill>
                <a:latin typeface="Calibri" pitchFamily="34" charset="0"/>
                <a:ea typeface="Calibri" pitchFamily="34" charset="-122"/>
                <a:cs typeface="Calibri" pitchFamily="34" charset="-120"/>
              </a:rPr>
              <a:t>VALIDATOR — THE ESCALATION GATE</a:t>
            </a:r>
            <a:endParaRPr lang="en-US" sz="900" dirty="0"/>
          </a:p>
        </p:txBody>
      </p:sp>
      <p:sp>
        <p:nvSpPr>
          <p:cNvPr id="12" name="Text 10"/>
          <p:cNvSpPr/>
          <p:nvPr/>
        </p:nvSpPr>
        <p:spPr>
          <a:xfrm>
            <a:off x="3127248" y="2359152"/>
            <a:ext cx="3657600" cy="201168"/>
          </a:xfrm>
          <a:prstGeom prst="rect">
            <a:avLst/>
          </a:prstGeom>
          <a:noFill/>
          <a:ln/>
        </p:spPr>
        <p:txBody>
          <a:bodyPr wrap="square" lIns="0" tIns="0" rIns="0" bIns="0" rtlCol="0" anchor="ctr"/>
          <a:lstStyle/>
          <a:p>
            <a:pPr indent="0" marL="0">
              <a:buNone/>
            </a:pPr>
            <a:r>
              <a:rPr lang="en-US" sz="950" i="1" dirty="0">
                <a:solidFill>
                  <a:srgbClr val="1A1A1A"/>
                </a:solidFill>
                <a:latin typeface="Calibri" pitchFamily="34" charset="0"/>
                <a:ea typeface="Calibri" pitchFamily="34" charset="-122"/>
                <a:cs typeface="Calibri" pitchFamily="34" charset="-120"/>
              </a:rPr>
              <a:t>Transition blocked unless all three are supplied:</a:t>
            </a:r>
            <a:endParaRPr lang="en-US" sz="950" dirty="0"/>
          </a:p>
        </p:txBody>
      </p:sp>
      <p:sp>
        <p:nvSpPr>
          <p:cNvPr id="13" name="Text 11"/>
          <p:cNvSpPr/>
          <p:nvPr/>
        </p:nvSpPr>
        <p:spPr>
          <a:xfrm>
            <a:off x="3127248" y="2596896"/>
            <a:ext cx="3657600" cy="658368"/>
          </a:xfrm>
          <a:prstGeom prst="rect">
            <a:avLst/>
          </a:prstGeom>
          <a:noFill/>
          <a:ln/>
        </p:spPr>
        <p:txBody>
          <a:bodyPr wrap="square" lIns="0" tIns="0" rIns="0" bIns="0" rtlCol="0" anchor="t"/>
          <a:lstStyle/>
          <a:p>
            <a:pPr marL="342900" indent="-342900">
              <a:lnSpc>
                <a:spcPts val="1300"/>
              </a:lnSpc>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Escalation Reason  (select, required)</a:t>
            </a:r>
            <a:endParaRPr lang="en-US" sz="1000" dirty="0"/>
          </a:p>
          <a:p>
            <a:pPr marL="342900" indent="-342900">
              <a:lnSpc>
                <a:spcPts val="1300"/>
              </a:lnSpc>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Troubleshooting Performed  (text, min length)</a:t>
            </a:r>
            <a:endParaRPr lang="en-US" sz="1000" dirty="0"/>
          </a:p>
          <a:p>
            <a:pPr marL="342900" indent="-342900">
              <a:lnSpc>
                <a:spcPts val="1300"/>
              </a:lnSpc>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KB Article Checked  (checkbox / article link)</a:t>
            </a:r>
            <a:endParaRPr lang="en-US" sz="1000" dirty="0"/>
          </a:p>
        </p:txBody>
      </p:sp>
      <p:sp>
        <p:nvSpPr>
          <p:cNvPr id="14" name="Shape 12"/>
          <p:cNvSpPr/>
          <p:nvPr/>
        </p:nvSpPr>
        <p:spPr>
          <a:xfrm>
            <a:off x="7059168" y="2670048"/>
            <a:ext cx="457200" cy="0"/>
          </a:xfrm>
          <a:prstGeom prst="line">
            <a:avLst/>
          </a:prstGeom>
          <a:noFill/>
          <a:ln w="19050">
            <a:solidFill>
              <a:srgbClr val="152A4E"/>
            </a:solidFill>
            <a:prstDash val="solid"/>
            <a:tailEnd type="triangle"/>
          </a:ln>
        </p:spPr>
      </p:sp>
      <p:sp>
        <p:nvSpPr>
          <p:cNvPr id="15" name="Shape 13"/>
          <p:cNvSpPr/>
          <p:nvPr/>
        </p:nvSpPr>
        <p:spPr>
          <a:xfrm>
            <a:off x="7589520" y="2212848"/>
            <a:ext cx="1874520" cy="914400"/>
          </a:xfrm>
          <a:prstGeom prst="roundRect">
            <a:avLst>
              <a:gd name="adj" fmla="val 5000"/>
            </a:avLst>
          </a:prstGeom>
          <a:solidFill>
            <a:srgbClr val="FFFFFF"/>
          </a:solidFill>
          <a:ln w="15875">
            <a:solidFill>
              <a:srgbClr val="0E7C7B"/>
            </a:solidFill>
            <a:prstDash val="solid"/>
          </a:ln>
        </p:spPr>
      </p:sp>
      <p:sp>
        <p:nvSpPr>
          <p:cNvPr id="16" name="Text 14"/>
          <p:cNvSpPr/>
          <p:nvPr/>
        </p:nvSpPr>
        <p:spPr>
          <a:xfrm>
            <a:off x="7589520" y="2212848"/>
            <a:ext cx="1874520" cy="566928"/>
          </a:xfrm>
          <a:prstGeom prst="rect">
            <a:avLst/>
          </a:prstGeom>
          <a:noFill/>
          <a:ln/>
        </p:spPr>
        <p:txBody>
          <a:bodyPr wrap="square" lIns="0" tIns="0" rIns="0" bIns="0" rtlCol="0" anchor="b"/>
          <a:lstStyle/>
          <a:p>
            <a:pPr algn="ctr" indent="0" marL="0">
              <a:buNone/>
            </a:pPr>
            <a:r>
              <a:rPr lang="en-US" sz="1200" b="1" dirty="0">
                <a:solidFill>
                  <a:srgbClr val="152A4E"/>
                </a:solidFill>
                <a:latin typeface="Calibri" pitchFamily="34" charset="0"/>
                <a:ea typeface="Calibri" pitchFamily="34" charset="-122"/>
                <a:cs typeface="Calibri" pitchFamily="34" charset="-120"/>
              </a:rPr>
              <a:t>Escalated to L2</a:t>
            </a:r>
            <a:endParaRPr lang="en-US" sz="1200" dirty="0"/>
          </a:p>
        </p:txBody>
      </p:sp>
      <p:sp>
        <p:nvSpPr>
          <p:cNvPr id="17" name="Text 15"/>
          <p:cNvSpPr/>
          <p:nvPr/>
        </p:nvSpPr>
        <p:spPr>
          <a:xfrm>
            <a:off x="7589520" y="2761488"/>
            <a:ext cx="1874520" cy="274320"/>
          </a:xfrm>
          <a:prstGeom prst="rect">
            <a:avLst/>
          </a:prstGeom>
          <a:noFill/>
          <a:ln/>
        </p:spPr>
        <p:txBody>
          <a:bodyPr wrap="square" lIns="0" tIns="0" rIns="0" bIns="0" rtlCol="0" anchor="ctr"/>
          <a:lstStyle/>
          <a:p>
            <a:pPr algn="ctr" indent="0" marL="0">
              <a:buNone/>
            </a:pPr>
            <a:r>
              <a:rPr lang="en-US" sz="950" dirty="0">
                <a:solidFill>
                  <a:srgbClr val="0E7C7B"/>
                </a:solidFill>
                <a:latin typeface="Calibri" pitchFamily="34" charset="0"/>
                <a:ea typeface="Calibri" pitchFamily="34" charset="-122"/>
                <a:cs typeface="Calibri" pitchFamily="34" charset="-120"/>
              </a:rPr>
              <a:t>Tier = L2</a:t>
            </a:r>
            <a:endParaRPr lang="en-US" sz="950" dirty="0"/>
          </a:p>
        </p:txBody>
      </p:sp>
      <p:sp>
        <p:nvSpPr>
          <p:cNvPr id="18" name="Shape 16"/>
          <p:cNvSpPr/>
          <p:nvPr/>
        </p:nvSpPr>
        <p:spPr>
          <a:xfrm>
            <a:off x="9601200" y="2670048"/>
            <a:ext cx="384048" cy="0"/>
          </a:xfrm>
          <a:prstGeom prst="line">
            <a:avLst/>
          </a:prstGeom>
          <a:noFill/>
          <a:ln w="19050">
            <a:solidFill>
              <a:srgbClr val="152A4E"/>
            </a:solidFill>
            <a:prstDash val="solid"/>
            <a:tailEnd type="triangle"/>
          </a:ln>
        </p:spPr>
      </p:sp>
      <p:sp>
        <p:nvSpPr>
          <p:cNvPr id="19" name="Shape 17"/>
          <p:cNvSpPr/>
          <p:nvPr/>
        </p:nvSpPr>
        <p:spPr>
          <a:xfrm>
            <a:off x="10058400" y="2212848"/>
            <a:ext cx="1627632" cy="914400"/>
          </a:xfrm>
          <a:prstGeom prst="roundRect">
            <a:avLst>
              <a:gd name="adj" fmla="val 5000"/>
            </a:avLst>
          </a:prstGeom>
          <a:solidFill>
            <a:srgbClr val="F2F5F9"/>
          </a:solidFill>
          <a:ln w="12700">
            <a:solidFill>
              <a:srgbClr val="D3DBE6"/>
            </a:solidFill>
            <a:prstDash val="solid"/>
          </a:ln>
        </p:spPr>
      </p:sp>
      <p:sp>
        <p:nvSpPr>
          <p:cNvPr id="20" name="Text 18"/>
          <p:cNvSpPr/>
          <p:nvPr/>
        </p:nvSpPr>
        <p:spPr>
          <a:xfrm>
            <a:off x="10058400" y="2286000"/>
            <a:ext cx="1627632" cy="457200"/>
          </a:xfrm>
          <a:prstGeom prst="rect">
            <a:avLst/>
          </a:prstGeom>
          <a:noFill/>
          <a:ln/>
        </p:spPr>
        <p:txBody>
          <a:bodyPr wrap="square" lIns="0" tIns="0" rIns="0" bIns="0" rtlCol="0" anchor="ctr"/>
          <a:lstStyle/>
          <a:p>
            <a:pPr algn="ctr" indent="0" marL="0">
              <a:buNone/>
            </a:pPr>
            <a:r>
              <a:rPr lang="en-US" sz="1100" b="1" dirty="0">
                <a:solidFill>
                  <a:srgbClr val="152A4E"/>
                </a:solidFill>
                <a:latin typeface="Calibri" pitchFamily="34" charset="0"/>
                <a:ea typeface="Calibri" pitchFamily="34" charset="-122"/>
                <a:cs typeface="Calibri" pitchFamily="34" charset="-120"/>
              </a:rPr>
              <a:t>L2 tower queue</a:t>
            </a:r>
            <a:endParaRPr lang="en-US" sz="1100" dirty="0"/>
          </a:p>
        </p:txBody>
      </p:sp>
      <p:sp>
        <p:nvSpPr>
          <p:cNvPr id="21" name="Text 19"/>
          <p:cNvSpPr/>
          <p:nvPr/>
        </p:nvSpPr>
        <p:spPr>
          <a:xfrm>
            <a:off x="10058400" y="2724912"/>
            <a:ext cx="1627632" cy="310896"/>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not a named person</a:t>
            </a:r>
            <a:endParaRPr lang="en-US" sz="850" dirty="0"/>
          </a:p>
        </p:txBody>
      </p:sp>
      <p:sp>
        <p:nvSpPr>
          <p:cNvPr id="22" name="Shape 20"/>
          <p:cNvSpPr/>
          <p:nvPr/>
        </p:nvSpPr>
        <p:spPr>
          <a:xfrm>
            <a:off x="2980944" y="3429000"/>
            <a:ext cx="6483096" cy="566928"/>
          </a:xfrm>
          <a:prstGeom prst="roundRect">
            <a:avLst>
              <a:gd name="adj" fmla="val 8065"/>
            </a:avLst>
          </a:prstGeom>
          <a:solidFill>
            <a:srgbClr val="D9EAE9"/>
          </a:solidFill>
          <a:ln w="12700">
            <a:solidFill>
              <a:srgbClr val="0E7C7B"/>
            </a:solidFill>
            <a:prstDash val="solid"/>
          </a:ln>
        </p:spPr>
      </p:sp>
      <p:sp>
        <p:nvSpPr>
          <p:cNvPr id="23" name="Text 21"/>
          <p:cNvSpPr/>
          <p:nvPr/>
        </p:nvSpPr>
        <p:spPr>
          <a:xfrm>
            <a:off x="3127248" y="3429000"/>
            <a:ext cx="6217920" cy="566928"/>
          </a:xfrm>
          <a:prstGeom prst="rect">
            <a:avLst/>
          </a:prstGeom>
          <a:noFill/>
          <a:ln/>
        </p:spPr>
        <p:txBody>
          <a:bodyPr wrap="square" lIns="0" tIns="0" rIns="0" bIns="0" rtlCol="0" anchor="ctr"/>
          <a:lstStyle/>
          <a:p>
            <a:pPr indent="0" marL="0">
              <a:buNone/>
            </a:pPr>
            <a:r>
              <a:rPr lang="en-US" sz="950" b="1" spc="110" kern="0" dirty="0">
                <a:solidFill>
                  <a:srgbClr val="0E7C7B"/>
                </a:solidFill>
                <a:latin typeface="Calibri" pitchFamily="34" charset="0"/>
                <a:ea typeface="Calibri" pitchFamily="34" charset="-122"/>
                <a:cs typeface="Calibri" pitchFamily="34" charset="-120"/>
              </a:rPr>
              <a:t>POST-FUNCTION   </a:t>
            </a:r>
            <a:pPr indent="0" marL="0">
              <a:buNone/>
            </a:pPr>
            <a:r>
              <a:rPr lang="en-US" sz="1100" dirty="0">
                <a:solidFill>
                  <a:srgbClr val="1A1A1A"/>
                </a:solidFill>
                <a:latin typeface="Calibri" pitchFamily="34" charset="0"/>
                <a:ea typeface="Calibri" pitchFamily="34" charset="-122"/>
                <a:cs typeface="Calibri" pitchFamily="34" charset="-120"/>
              </a:rPr>
              <a:t>sets Support Tier = L2  ·  clears the assignee so the ticket lands in the tower pool</a:t>
            </a:r>
            <a:endParaRPr lang="en-US" sz="950" dirty="0"/>
          </a:p>
        </p:txBody>
      </p:sp>
      <p:sp>
        <p:nvSpPr>
          <p:cNvPr id="24" name="Shape 22"/>
          <p:cNvSpPr/>
          <p:nvPr/>
        </p:nvSpPr>
        <p:spPr>
          <a:xfrm>
            <a:off x="502920" y="4187952"/>
            <a:ext cx="5477256" cy="1298448"/>
          </a:xfrm>
          <a:prstGeom prst="roundRect">
            <a:avLst>
              <a:gd name="adj" fmla="val 4225"/>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5" name="Text 23"/>
          <p:cNvSpPr/>
          <p:nvPr/>
        </p:nvSpPr>
        <p:spPr>
          <a:xfrm>
            <a:off x="704088" y="4315968"/>
            <a:ext cx="5074920" cy="256032"/>
          </a:xfrm>
          <a:prstGeom prst="rect">
            <a:avLst/>
          </a:prstGeom>
          <a:noFill/>
          <a:ln/>
        </p:spPr>
        <p:txBody>
          <a:bodyPr wrap="square" lIns="0" tIns="0" rIns="0" bIns="0" rtlCol="0" anchor="ctr"/>
          <a:lstStyle/>
          <a:p>
            <a:pPr indent="0" marL="0">
              <a:buNone/>
            </a:pPr>
            <a:r>
              <a:rPr lang="en-US" sz="1250" b="1" dirty="0">
                <a:solidFill>
                  <a:srgbClr val="152A4E"/>
                </a:solidFill>
                <a:latin typeface="Calibri" pitchFamily="34" charset="0"/>
                <a:ea typeface="Calibri" pitchFamily="34" charset="-122"/>
                <a:cs typeface="Calibri" pitchFamily="34" charset="-120"/>
              </a:rPr>
              <a:t>It blocks the lazy escalation</a:t>
            </a:r>
            <a:endParaRPr lang="en-US" sz="1250" dirty="0"/>
          </a:p>
        </p:txBody>
      </p:sp>
      <p:sp>
        <p:nvSpPr>
          <p:cNvPr id="26" name="Text 24"/>
          <p:cNvSpPr/>
          <p:nvPr/>
        </p:nvSpPr>
        <p:spPr>
          <a:xfrm>
            <a:off x="704088" y="4608576"/>
            <a:ext cx="5074920" cy="777240"/>
          </a:xfrm>
          <a:prstGeom prst="rect">
            <a:avLst/>
          </a:prstGeom>
          <a:noFill/>
          <a:ln/>
        </p:spPr>
        <p:txBody>
          <a:bodyPr wrap="square" lIns="0" tIns="0" rIns="0" bIns="0" rtlCol="0" anchor="ctr"/>
          <a:lstStyle/>
          <a:p>
            <a:pPr indent="0" marL="0">
              <a:lnSpc>
                <a:spcPts val="1400"/>
              </a:lnSpc>
              <a:buNone/>
            </a:pPr>
            <a:r>
              <a:rPr lang="en-US" sz="1100" dirty="0">
                <a:solidFill>
                  <a:srgbClr val="1A1A1A"/>
                </a:solidFill>
                <a:latin typeface="Calibri" pitchFamily="34" charset="0"/>
                <a:ea typeface="Calibri" pitchFamily="34" charset="-122"/>
                <a:cs typeface="Calibri" pitchFamily="34" charset="-120"/>
              </a:rPr>
              <a:t>The ticket cannot move to L2 without evidence of troubleshooting. No supervisor intervention and no reminders required — the workflow itself refuses.</a:t>
            </a:r>
            <a:endParaRPr lang="en-US" sz="1050" dirty="0"/>
          </a:p>
        </p:txBody>
      </p:sp>
      <p:sp>
        <p:nvSpPr>
          <p:cNvPr id="27" name="Shape 25"/>
          <p:cNvSpPr/>
          <p:nvPr/>
        </p:nvSpPr>
        <p:spPr>
          <a:xfrm>
            <a:off x="6208776" y="4187952"/>
            <a:ext cx="5477256" cy="1298448"/>
          </a:xfrm>
          <a:prstGeom prst="roundRect">
            <a:avLst>
              <a:gd name="adj" fmla="val 4225"/>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8" name="Text 26"/>
          <p:cNvSpPr/>
          <p:nvPr/>
        </p:nvSpPr>
        <p:spPr>
          <a:xfrm>
            <a:off x="6409944" y="4315968"/>
            <a:ext cx="5074920" cy="256032"/>
          </a:xfrm>
          <a:prstGeom prst="rect">
            <a:avLst/>
          </a:prstGeom>
          <a:noFill/>
          <a:ln/>
        </p:spPr>
        <p:txBody>
          <a:bodyPr wrap="square" lIns="0" tIns="0" rIns="0" bIns="0" rtlCol="0" anchor="ctr"/>
          <a:lstStyle/>
          <a:p>
            <a:pPr indent="0" marL="0">
              <a:buNone/>
            </a:pPr>
            <a:r>
              <a:rPr lang="en-US" sz="1250" b="1" dirty="0">
                <a:solidFill>
                  <a:srgbClr val="152A4E"/>
                </a:solidFill>
                <a:latin typeface="Calibri" pitchFamily="34" charset="0"/>
                <a:ea typeface="Calibri" pitchFamily="34" charset="-122"/>
                <a:cs typeface="Calibri" pitchFamily="34" charset="-120"/>
              </a:rPr>
              <a:t>It manufactures the data</a:t>
            </a:r>
            <a:endParaRPr lang="en-US" sz="1250" dirty="0"/>
          </a:p>
        </p:txBody>
      </p:sp>
      <p:sp>
        <p:nvSpPr>
          <p:cNvPr id="29" name="Text 27"/>
          <p:cNvSpPr/>
          <p:nvPr/>
        </p:nvSpPr>
        <p:spPr>
          <a:xfrm>
            <a:off x="6409944" y="4608576"/>
            <a:ext cx="5074920" cy="777240"/>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Every escalation now carries a structured reason, which yields escalation rate per analyst — the single metric that tells you whether L1 is working, and who needs coaching.</a:t>
            </a:r>
            <a:endParaRPr lang="en-US" sz="1050" dirty="0"/>
          </a:p>
        </p:txBody>
      </p:sp>
      <p:sp>
        <p:nvSpPr>
          <p:cNvPr id="30" name="Text 28"/>
          <p:cNvSpPr/>
          <p:nvPr/>
        </p:nvSpPr>
        <p:spPr>
          <a:xfrm>
            <a:off x="502920" y="5541264"/>
            <a:ext cx="11183112" cy="658368"/>
          </a:xfrm>
          <a:prstGeom prst="rect">
            <a:avLst/>
          </a:prstGeom>
          <a:noFill/>
          <a:ln/>
        </p:spPr>
        <p:txBody>
          <a:bodyPr wrap="square" lIns="0" tIns="0" rIns="0" bIns="0" rtlCol="0" anchor="ctr"/>
          <a:lstStyle/>
          <a:p>
            <a:pPr indent="0" marL="0">
              <a:lnSpc>
                <a:spcPts val="1400"/>
              </a:lnSpc>
              <a:buNone/>
            </a:pPr>
            <a:r>
              <a:rPr lang="en-US" sz="1000" dirty="0">
                <a:solidFill>
                  <a:srgbClr val="1A1A1A"/>
                </a:solidFill>
                <a:latin typeface="Calibri" pitchFamily="34" charset="0"/>
                <a:ea typeface="Calibri" pitchFamily="34" charset="-122"/>
                <a:cs typeface="Calibri" pitchFamily="34" charset="-120"/>
              </a:rPr>
              <a:t>BUT DO NOT GATE A MAJOR INCIDENT.  A second transition — 'Escalate — major incident' — carries no validators and is restricted to the Major Incident Manager role. Role-restricted rather than priority-conditional, because native Jira conditions branch on role and permission rather than field value, so it needs no paid app. Nothing is lost: a validator on Resolved → Closed requires the same three fields on every ticket, so majors pay the gate on the way out.</a:t>
            </a:r>
            <a:endParaRPr lang="en-US" sz="1050" dirty="0"/>
          </a:p>
        </p:txBody>
      </p:sp>
      <p:sp>
        <p:nvSpPr>
          <p:cNvPr id="31" name="Text 29"/>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§7 'The escalation gate'; §8 field schema; BRIEF.md 'enforce discipline in config, not policy'</a:t>
            </a:r>
            <a:endParaRPr lang="en-US" sz="850" dirty="0"/>
          </a:p>
        </p:txBody>
      </p:sp>
      <p:sp>
        <p:nvSpPr>
          <p:cNvPr id="32" name="Text 30"/>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WORKFLOW MODEL</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Eleven statuses cover the full lifecycle, and the two SLA-paused states are what make the attainment report defensible</a:t>
            </a:r>
            <a:endParaRPr lang="en-US" sz="1850" dirty="0"/>
          </a:p>
        </p:txBody>
      </p:sp>
      <p:sp>
        <p:nvSpPr>
          <p:cNvPr id="4" name="Shape 2"/>
          <p:cNvSpPr/>
          <p:nvPr/>
        </p:nvSpPr>
        <p:spPr>
          <a:xfrm>
            <a:off x="1929384" y="1609344"/>
            <a:ext cx="2587752" cy="274320"/>
          </a:xfrm>
          <a:prstGeom prst="roundRect">
            <a:avLst>
              <a:gd name="adj" fmla="val 13333"/>
            </a:avLst>
          </a:prstGeom>
          <a:solidFill>
            <a:srgbClr val="D9EAE9"/>
          </a:solidFill>
          <a:ln w="12700">
            <a:solidFill>
              <a:srgbClr val="D9EAE9"/>
            </a:solidFill>
            <a:prstDash val="solid"/>
          </a:ln>
        </p:spPr>
      </p:sp>
      <p:sp>
        <p:nvSpPr>
          <p:cNvPr id="5" name="Text 3"/>
          <p:cNvSpPr/>
          <p:nvPr/>
        </p:nvSpPr>
        <p:spPr>
          <a:xfrm>
            <a:off x="1929384" y="1609344"/>
            <a:ext cx="2587752" cy="274320"/>
          </a:xfrm>
          <a:prstGeom prst="rect">
            <a:avLst/>
          </a:prstGeom>
          <a:noFill/>
          <a:ln/>
        </p:spPr>
        <p:txBody>
          <a:bodyPr wrap="square" lIns="0" tIns="0" rIns="0" bIns="0" rtlCol="0" anchor="ctr"/>
          <a:lstStyle/>
          <a:p>
            <a:pPr algn="ctr" indent="0" marL="0">
              <a:buNone/>
            </a:pPr>
            <a:r>
              <a:rPr lang="en-US" sz="850" b="1" spc="110" kern="0" dirty="0">
                <a:solidFill>
                  <a:srgbClr val="0E7C7B"/>
                </a:solidFill>
                <a:latin typeface="Calibri" pitchFamily="34" charset="0"/>
                <a:ea typeface="Calibri" pitchFamily="34" charset="-122"/>
                <a:cs typeface="Calibri" pitchFamily="34" charset="-120"/>
              </a:rPr>
              <a:t>TIER L1</a:t>
            </a:r>
            <a:endParaRPr lang="en-US" sz="850" dirty="0"/>
          </a:p>
        </p:txBody>
      </p:sp>
      <p:sp>
        <p:nvSpPr>
          <p:cNvPr id="6" name="Shape 4"/>
          <p:cNvSpPr/>
          <p:nvPr/>
        </p:nvSpPr>
        <p:spPr>
          <a:xfrm>
            <a:off x="4727448" y="1609344"/>
            <a:ext cx="2587752" cy="274320"/>
          </a:xfrm>
          <a:prstGeom prst="roundRect">
            <a:avLst>
              <a:gd name="adj" fmla="val 13333"/>
            </a:avLst>
          </a:prstGeom>
          <a:solidFill>
            <a:srgbClr val="D9EAE9"/>
          </a:solidFill>
          <a:ln w="12700">
            <a:solidFill>
              <a:srgbClr val="D9EAE9"/>
            </a:solidFill>
            <a:prstDash val="solid"/>
          </a:ln>
        </p:spPr>
      </p:sp>
      <p:sp>
        <p:nvSpPr>
          <p:cNvPr id="7" name="Text 5"/>
          <p:cNvSpPr/>
          <p:nvPr/>
        </p:nvSpPr>
        <p:spPr>
          <a:xfrm>
            <a:off x="4727448" y="1609344"/>
            <a:ext cx="2587752" cy="274320"/>
          </a:xfrm>
          <a:prstGeom prst="rect">
            <a:avLst/>
          </a:prstGeom>
          <a:noFill/>
          <a:ln/>
        </p:spPr>
        <p:txBody>
          <a:bodyPr wrap="square" lIns="0" tIns="0" rIns="0" bIns="0" rtlCol="0" anchor="ctr"/>
          <a:lstStyle/>
          <a:p>
            <a:pPr algn="ctr" indent="0" marL="0">
              <a:buNone/>
            </a:pPr>
            <a:r>
              <a:rPr lang="en-US" sz="850" b="1" spc="110" kern="0" dirty="0">
                <a:solidFill>
                  <a:srgbClr val="0E7C7B"/>
                </a:solidFill>
                <a:latin typeface="Calibri" pitchFamily="34" charset="0"/>
                <a:ea typeface="Calibri" pitchFamily="34" charset="-122"/>
                <a:cs typeface="Calibri" pitchFamily="34" charset="-120"/>
              </a:rPr>
              <a:t>TIER L2</a:t>
            </a:r>
            <a:endParaRPr lang="en-US" sz="850" dirty="0"/>
          </a:p>
        </p:txBody>
      </p:sp>
      <p:sp>
        <p:nvSpPr>
          <p:cNvPr id="8" name="Shape 6"/>
          <p:cNvSpPr/>
          <p:nvPr/>
        </p:nvSpPr>
        <p:spPr>
          <a:xfrm>
            <a:off x="7525512" y="1609344"/>
            <a:ext cx="1188720" cy="274320"/>
          </a:xfrm>
          <a:prstGeom prst="roundRect">
            <a:avLst>
              <a:gd name="adj" fmla="val 13333"/>
            </a:avLst>
          </a:prstGeom>
          <a:solidFill>
            <a:srgbClr val="D9EAE9"/>
          </a:solidFill>
          <a:ln w="12700">
            <a:solidFill>
              <a:srgbClr val="D9EAE9"/>
            </a:solidFill>
            <a:prstDash val="solid"/>
          </a:ln>
        </p:spPr>
      </p:sp>
      <p:sp>
        <p:nvSpPr>
          <p:cNvPr id="9" name="Text 7"/>
          <p:cNvSpPr/>
          <p:nvPr/>
        </p:nvSpPr>
        <p:spPr>
          <a:xfrm>
            <a:off x="7525512" y="1609344"/>
            <a:ext cx="1188720" cy="274320"/>
          </a:xfrm>
          <a:prstGeom prst="rect">
            <a:avLst/>
          </a:prstGeom>
          <a:noFill/>
          <a:ln/>
        </p:spPr>
        <p:txBody>
          <a:bodyPr wrap="square" lIns="0" tIns="0" rIns="0" bIns="0" rtlCol="0" anchor="ctr"/>
          <a:lstStyle/>
          <a:p>
            <a:pPr algn="ctr" indent="0" marL="0">
              <a:buNone/>
            </a:pPr>
            <a:r>
              <a:rPr lang="en-US" sz="850" b="1" spc="110" kern="0" dirty="0">
                <a:solidFill>
                  <a:srgbClr val="0E7C7B"/>
                </a:solidFill>
                <a:latin typeface="Calibri" pitchFamily="34" charset="0"/>
                <a:ea typeface="Calibri" pitchFamily="34" charset="-122"/>
                <a:cs typeface="Calibri" pitchFamily="34" charset="-120"/>
              </a:rPr>
              <a:t>TIER L3</a:t>
            </a:r>
            <a:endParaRPr lang="en-US" sz="850" dirty="0"/>
          </a:p>
        </p:txBody>
      </p:sp>
      <p:sp>
        <p:nvSpPr>
          <p:cNvPr id="10" name="Shape 8"/>
          <p:cNvSpPr/>
          <p:nvPr/>
        </p:nvSpPr>
        <p:spPr>
          <a:xfrm>
            <a:off x="530352" y="1993392"/>
            <a:ext cx="1188720" cy="566928"/>
          </a:xfrm>
          <a:prstGeom prst="roundRect">
            <a:avLst>
              <a:gd name="adj" fmla="val 8065"/>
            </a:avLst>
          </a:prstGeom>
          <a:solidFill>
            <a:srgbClr val="FFFFFF"/>
          </a:solidFill>
          <a:ln w="15875">
            <a:solidFill>
              <a:srgbClr val="152A4E"/>
            </a:solidFill>
            <a:prstDash val="solid"/>
          </a:ln>
        </p:spPr>
      </p:sp>
      <p:sp>
        <p:nvSpPr>
          <p:cNvPr id="11" name="Text 9"/>
          <p:cNvSpPr/>
          <p:nvPr/>
        </p:nvSpPr>
        <p:spPr>
          <a:xfrm>
            <a:off x="530352" y="1993392"/>
            <a:ext cx="1188720" cy="566928"/>
          </a:xfrm>
          <a:prstGeom prst="rect">
            <a:avLst/>
          </a:prstGeom>
          <a:noFill/>
          <a:ln/>
        </p:spPr>
        <p:txBody>
          <a:bodyPr wrap="square" lIns="0" tIns="0" rIns="0" bIns="0" rtlCol="0" anchor="ctr"/>
          <a:lstStyle/>
          <a:p>
            <a:pPr algn="ctr" indent="0" marL="0">
              <a:buNone/>
            </a:pPr>
            <a:r>
              <a:rPr lang="en-US" sz="950" b="1" dirty="0">
                <a:solidFill>
                  <a:srgbClr val="152A4E"/>
                </a:solidFill>
                <a:latin typeface="Calibri" pitchFamily="34" charset="0"/>
                <a:ea typeface="Calibri" pitchFamily="34" charset="-122"/>
                <a:cs typeface="Calibri" pitchFamily="34" charset="-120"/>
              </a:rPr>
              <a:t>New</a:t>
            </a:r>
            <a:endParaRPr lang="en-US" sz="950" dirty="0"/>
          </a:p>
        </p:txBody>
      </p:sp>
      <p:sp>
        <p:nvSpPr>
          <p:cNvPr id="12" name="Shape 10"/>
          <p:cNvSpPr/>
          <p:nvPr/>
        </p:nvSpPr>
        <p:spPr>
          <a:xfrm>
            <a:off x="1751076" y="2276856"/>
            <a:ext cx="146304" cy="0"/>
          </a:xfrm>
          <a:prstGeom prst="line">
            <a:avLst/>
          </a:prstGeom>
          <a:noFill/>
          <a:ln w="15875">
            <a:solidFill>
              <a:srgbClr val="152A4E"/>
            </a:solidFill>
            <a:prstDash val="solid"/>
            <a:tailEnd type="triangle"/>
          </a:ln>
        </p:spPr>
      </p:sp>
      <p:sp>
        <p:nvSpPr>
          <p:cNvPr id="13" name="Shape 11"/>
          <p:cNvSpPr/>
          <p:nvPr/>
        </p:nvSpPr>
        <p:spPr>
          <a:xfrm>
            <a:off x="1929384" y="1993392"/>
            <a:ext cx="1188720" cy="566928"/>
          </a:xfrm>
          <a:prstGeom prst="roundRect">
            <a:avLst>
              <a:gd name="adj" fmla="val 8065"/>
            </a:avLst>
          </a:prstGeom>
          <a:solidFill>
            <a:srgbClr val="FFFFFF"/>
          </a:solidFill>
          <a:ln w="15875">
            <a:solidFill>
              <a:srgbClr val="152A4E"/>
            </a:solidFill>
            <a:prstDash val="solid"/>
          </a:ln>
        </p:spPr>
      </p:sp>
      <p:sp>
        <p:nvSpPr>
          <p:cNvPr id="14" name="Text 12"/>
          <p:cNvSpPr/>
          <p:nvPr/>
        </p:nvSpPr>
        <p:spPr>
          <a:xfrm>
            <a:off x="1929384" y="1993392"/>
            <a:ext cx="1188720" cy="566928"/>
          </a:xfrm>
          <a:prstGeom prst="rect">
            <a:avLst/>
          </a:prstGeom>
          <a:noFill/>
          <a:ln/>
        </p:spPr>
        <p:txBody>
          <a:bodyPr wrap="square" lIns="0" tIns="0" rIns="0" bIns="0" rtlCol="0" anchor="ctr"/>
          <a:lstStyle/>
          <a:p>
            <a:pPr algn="ctr" indent="0" marL="0">
              <a:buNone/>
            </a:pPr>
            <a:r>
              <a:rPr lang="en-US" sz="950" b="1" dirty="0">
                <a:solidFill>
                  <a:srgbClr val="152A4E"/>
                </a:solidFill>
                <a:latin typeface="Calibri" pitchFamily="34" charset="0"/>
                <a:ea typeface="Calibri" pitchFamily="34" charset="-122"/>
                <a:cs typeface="Calibri" pitchFamily="34" charset="-120"/>
              </a:rPr>
              <a:t>Triage</a:t>
            </a:r>
            <a:endParaRPr lang="en-US" sz="950" dirty="0"/>
          </a:p>
        </p:txBody>
      </p:sp>
      <p:sp>
        <p:nvSpPr>
          <p:cNvPr id="15" name="Shape 13"/>
          <p:cNvSpPr/>
          <p:nvPr/>
        </p:nvSpPr>
        <p:spPr>
          <a:xfrm>
            <a:off x="3150108" y="2276856"/>
            <a:ext cx="146304" cy="0"/>
          </a:xfrm>
          <a:prstGeom prst="line">
            <a:avLst/>
          </a:prstGeom>
          <a:noFill/>
          <a:ln w="15875">
            <a:solidFill>
              <a:srgbClr val="152A4E"/>
            </a:solidFill>
            <a:prstDash val="solid"/>
            <a:tailEnd type="triangle"/>
          </a:ln>
        </p:spPr>
      </p:sp>
      <p:sp>
        <p:nvSpPr>
          <p:cNvPr id="16" name="Shape 14"/>
          <p:cNvSpPr/>
          <p:nvPr/>
        </p:nvSpPr>
        <p:spPr>
          <a:xfrm>
            <a:off x="3328416" y="1993392"/>
            <a:ext cx="1188720" cy="566928"/>
          </a:xfrm>
          <a:prstGeom prst="roundRect">
            <a:avLst>
              <a:gd name="adj" fmla="val 8065"/>
            </a:avLst>
          </a:prstGeom>
          <a:solidFill>
            <a:srgbClr val="FFFFFF"/>
          </a:solidFill>
          <a:ln w="15875">
            <a:solidFill>
              <a:srgbClr val="152A4E"/>
            </a:solidFill>
            <a:prstDash val="solid"/>
          </a:ln>
        </p:spPr>
      </p:sp>
      <p:sp>
        <p:nvSpPr>
          <p:cNvPr id="17" name="Text 15"/>
          <p:cNvSpPr/>
          <p:nvPr/>
        </p:nvSpPr>
        <p:spPr>
          <a:xfrm>
            <a:off x="3328416" y="1993392"/>
            <a:ext cx="1188720" cy="566928"/>
          </a:xfrm>
          <a:prstGeom prst="rect">
            <a:avLst/>
          </a:prstGeom>
          <a:noFill/>
          <a:ln/>
        </p:spPr>
        <p:txBody>
          <a:bodyPr wrap="square" lIns="0" tIns="0" rIns="0" bIns="0" rtlCol="0" anchor="ctr"/>
          <a:lstStyle/>
          <a:p>
            <a:pPr algn="ctr" indent="0" marL="0">
              <a:buNone/>
            </a:pPr>
            <a:r>
              <a:rPr lang="en-US" sz="950" b="1" dirty="0">
                <a:solidFill>
                  <a:srgbClr val="152A4E"/>
                </a:solidFill>
                <a:latin typeface="Calibri" pitchFamily="34" charset="0"/>
                <a:ea typeface="Calibri" pitchFamily="34" charset="-122"/>
                <a:cs typeface="Calibri" pitchFamily="34" charset="-120"/>
              </a:rPr>
              <a:t>In Progress L1</a:t>
            </a:r>
            <a:endParaRPr lang="en-US" sz="950" dirty="0"/>
          </a:p>
        </p:txBody>
      </p:sp>
      <p:sp>
        <p:nvSpPr>
          <p:cNvPr id="18" name="Shape 16"/>
          <p:cNvSpPr/>
          <p:nvPr/>
        </p:nvSpPr>
        <p:spPr>
          <a:xfrm>
            <a:off x="4549140" y="2276856"/>
            <a:ext cx="146304" cy="0"/>
          </a:xfrm>
          <a:prstGeom prst="line">
            <a:avLst/>
          </a:prstGeom>
          <a:noFill/>
          <a:ln w="15875">
            <a:solidFill>
              <a:srgbClr val="152A4E"/>
            </a:solidFill>
            <a:prstDash val="solid"/>
            <a:tailEnd type="triangle"/>
          </a:ln>
        </p:spPr>
      </p:sp>
      <p:sp>
        <p:nvSpPr>
          <p:cNvPr id="19" name="Shape 17"/>
          <p:cNvSpPr/>
          <p:nvPr/>
        </p:nvSpPr>
        <p:spPr>
          <a:xfrm>
            <a:off x="4727448" y="1993392"/>
            <a:ext cx="1188720" cy="566928"/>
          </a:xfrm>
          <a:prstGeom prst="roundRect">
            <a:avLst>
              <a:gd name="adj" fmla="val 8065"/>
            </a:avLst>
          </a:prstGeom>
          <a:solidFill>
            <a:srgbClr val="FFFFFF"/>
          </a:solidFill>
          <a:ln w="15875">
            <a:solidFill>
              <a:srgbClr val="152A4E"/>
            </a:solidFill>
            <a:prstDash val="solid"/>
          </a:ln>
        </p:spPr>
      </p:sp>
      <p:sp>
        <p:nvSpPr>
          <p:cNvPr id="20" name="Text 18"/>
          <p:cNvSpPr/>
          <p:nvPr/>
        </p:nvSpPr>
        <p:spPr>
          <a:xfrm>
            <a:off x="4727448" y="1993392"/>
            <a:ext cx="1188720" cy="566928"/>
          </a:xfrm>
          <a:prstGeom prst="rect">
            <a:avLst/>
          </a:prstGeom>
          <a:noFill/>
          <a:ln/>
        </p:spPr>
        <p:txBody>
          <a:bodyPr wrap="square" lIns="0" tIns="0" rIns="0" bIns="0" rtlCol="0" anchor="ctr"/>
          <a:lstStyle/>
          <a:p>
            <a:pPr algn="ctr" indent="0" marL="0">
              <a:buNone/>
            </a:pPr>
            <a:r>
              <a:rPr lang="en-US" sz="950" b="1" dirty="0">
                <a:solidFill>
                  <a:srgbClr val="152A4E"/>
                </a:solidFill>
                <a:latin typeface="Calibri" pitchFamily="34" charset="0"/>
                <a:ea typeface="Calibri" pitchFamily="34" charset="-122"/>
                <a:cs typeface="Calibri" pitchFamily="34" charset="-120"/>
              </a:rPr>
              <a:t>Escalated to L2</a:t>
            </a:r>
            <a:endParaRPr lang="en-US" sz="950" dirty="0"/>
          </a:p>
        </p:txBody>
      </p:sp>
      <p:sp>
        <p:nvSpPr>
          <p:cNvPr id="21" name="Shape 19"/>
          <p:cNvSpPr/>
          <p:nvPr/>
        </p:nvSpPr>
        <p:spPr>
          <a:xfrm>
            <a:off x="5948172" y="2276856"/>
            <a:ext cx="146304" cy="0"/>
          </a:xfrm>
          <a:prstGeom prst="line">
            <a:avLst/>
          </a:prstGeom>
          <a:noFill/>
          <a:ln w="15875">
            <a:solidFill>
              <a:srgbClr val="152A4E"/>
            </a:solidFill>
            <a:prstDash val="solid"/>
            <a:tailEnd type="triangle"/>
          </a:ln>
        </p:spPr>
      </p:sp>
      <p:sp>
        <p:nvSpPr>
          <p:cNvPr id="22" name="Shape 20"/>
          <p:cNvSpPr/>
          <p:nvPr/>
        </p:nvSpPr>
        <p:spPr>
          <a:xfrm>
            <a:off x="6126480" y="1993392"/>
            <a:ext cx="1188720" cy="566928"/>
          </a:xfrm>
          <a:prstGeom prst="roundRect">
            <a:avLst>
              <a:gd name="adj" fmla="val 8065"/>
            </a:avLst>
          </a:prstGeom>
          <a:solidFill>
            <a:srgbClr val="FFFFFF"/>
          </a:solidFill>
          <a:ln w="15875">
            <a:solidFill>
              <a:srgbClr val="152A4E"/>
            </a:solidFill>
            <a:prstDash val="solid"/>
          </a:ln>
        </p:spPr>
      </p:sp>
      <p:sp>
        <p:nvSpPr>
          <p:cNvPr id="23" name="Text 21"/>
          <p:cNvSpPr/>
          <p:nvPr/>
        </p:nvSpPr>
        <p:spPr>
          <a:xfrm>
            <a:off x="6126480" y="1993392"/>
            <a:ext cx="1188720" cy="566928"/>
          </a:xfrm>
          <a:prstGeom prst="rect">
            <a:avLst/>
          </a:prstGeom>
          <a:noFill/>
          <a:ln/>
        </p:spPr>
        <p:txBody>
          <a:bodyPr wrap="square" lIns="0" tIns="0" rIns="0" bIns="0" rtlCol="0" anchor="ctr"/>
          <a:lstStyle/>
          <a:p>
            <a:pPr algn="ctr" indent="0" marL="0">
              <a:buNone/>
            </a:pPr>
            <a:r>
              <a:rPr lang="en-US" sz="950" b="1" dirty="0">
                <a:solidFill>
                  <a:srgbClr val="152A4E"/>
                </a:solidFill>
                <a:latin typeface="Calibri" pitchFamily="34" charset="0"/>
                <a:ea typeface="Calibri" pitchFamily="34" charset="-122"/>
                <a:cs typeface="Calibri" pitchFamily="34" charset="-120"/>
              </a:rPr>
              <a:t>In Progress L2</a:t>
            </a:r>
            <a:endParaRPr lang="en-US" sz="950" dirty="0"/>
          </a:p>
        </p:txBody>
      </p:sp>
      <p:sp>
        <p:nvSpPr>
          <p:cNvPr id="24" name="Shape 22"/>
          <p:cNvSpPr/>
          <p:nvPr/>
        </p:nvSpPr>
        <p:spPr>
          <a:xfrm>
            <a:off x="7347204" y="2276856"/>
            <a:ext cx="146304" cy="0"/>
          </a:xfrm>
          <a:prstGeom prst="line">
            <a:avLst/>
          </a:prstGeom>
          <a:noFill/>
          <a:ln w="15875">
            <a:solidFill>
              <a:srgbClr val="152A4E"/>
            </a:solidFill>
            <a:prstDash val="solid"/>
            <a:tailEnd type="triangle"/>
          </a:ln>
        </p:spPr>
      </p:sp>
      <p:sp>
        <p:nvSpPr>
          <p:cNvPr id="25" name="Shape 23"/>
          <p:cNvSpPr/>
          <p:nvPr/>
        </p:nvSpPr>
        <p:spPr>
          <a:xfrm>
            <a:off x="7525512" y="1993392"/>
            <a:ext cx="1188720" cy="566928"/>
          </a:xfrm>
          <a:prstGeom prst="roundRect">
            <a:avLst>
              <a:gd name="adj" fmla="val 8065"/>
            </a:avLst>
          </a:prstGeom>
          <a:solidFill>
            <a:srgbClr val="FFFFFF"/>
          </a:solidFill>
          <a:ln w="15875">
            <a:solidFill>
              <a:srgbClr val="152A4E"/>
            </a:solidFill>
            <a:prstDash val="solid"/>
          </a:ln>
        </p:spPr>
      </p:sp>
      <p:sp>
        <p:nvSpPr>
          <p:cNvPr id="26" name="Text 24"/>
          <p:cNvSpPr/>
          <p:nvPr/>
        </p:nvSpPr>
        <p:spPr>
          <a:xfrm>
            <a:off x="7525512" y="1993392"/>
            <a:ext cx="1188720" cy="566928"/>
          </a:xfrm>
          <a:prstGeom prst="rect">
            <a:avLst/>
          </a:prstGeom>
          <a:noFill/>
          <a:ln/>
        </p:spPr>
        <p:txBody>
          <a:bodyPr wrap="square" lIns="0" tIns="0" rIns="0" bIns="0" rtlCol="0" anchor="ctr"/>
          <a:lstStyle/>
          <a:p>
            <a:pPr algn="ctr" indent="0" marL="0">
              <a:buNone/>
            </a:pPr>
            <a:r>
              <a:rPr lang="en-US" sz="950" b="1" dirty="0">
                <a:solidFill>
                  <a:srgbClr val="152A4E"/>
                </a:solidFill>
                <a:latin typeface="Calibri" pitchFamily="34" charset="0"/>
                <a:ea typeface="Calibri" pitchFamily="34" charset="-122"/>
                <a:cs typeface="Calibri" pitchFamily="34" charset="-120"/>
              </a:rPr>
              <a:t>L3 / Vendor</a:t>
            </a:r>
            <a:endParaRPr lang="en-US" sz="950" dirty="0"/>
          </a:p>
        </p:txBody>
      </p:sp>
      <p:sp>
        <p:nvSpPr>
          <p:cNvPr id="27" name="Shape 25"/>
          <p:cNvSpPr/>
          <p:nvPr/>
        </p:nvSpPr>
        <p:spPr>
          <a:xfrm>
            <a:off x="8746236" y="2276856"/>
            <a:ext cx="146304" cy="0"/>
          </a:xfrm>
          <a:prstGeom prst="line">
            <a:avLst/>
          </a:prstGeom>
          <a:noFill/>
          <a:ln w="15875">
            <a:solidFill>
              <a:srgbClr val="152A4E"/>
            </a:solidFill>
            <a:prstDash val="solid"/>
            <a:tailEnd type="triangle"/>
          </a:ln>
        </p:spPr>
      </p:sp>
      <p:sp>
        <p:nvSpPr>
          <p:cNvPr id="28" name="Shape 26"/>
          <p:cNvSpPr/>
          <p:nvPr/>
        </p:nvSpPr>
        <p:spPr>
          <a:xfrm>
            <a:off x="8924544" y="1993392"/>
            <a:ext cx="1188720" cy="566928"/>
          </a:xfrm>
          <a:prstGeom prst="roundRect">
            <a:avLst>
              <a:gd name="adj" fmla="val 8065"/>
            </a:avLst>
          </a:prstGeom>
          <a:solidFill>
            <a:srgbClr val="FFFFFF"/>
          </a:solidFill>
          <a:ln w="15875">
            <a:solidFill>
              <a:srgbClr val="152A4E"/>
            </a:solidFill>
            <a:prstDash val="solid"/>
          </a:ln>
        </p:spPr>
      </p:sp>
      <p:sp>
        <p:nvSpPr>
          <p:cNvPr id="29" name="Text 27"/>
          <p:cNvSpPr/>
          <p:nvPr/>
        </p:nvSpPr>
        <p:spPr>
          <a:xfrm>
            <a:off x="8924544" y="1993392"/>
            <a:ext cx="1188720" cy="566928"/>
          </a:xfrm>
          <a:prstGeom prst="rect">
            <a:avLst/>
          </a:prstGeom>
          <a:noFill/>
          <a:ln/>
        </p:spPr>
        <p:txBody>
          <a:bodyPr wrap="square" lIns="0" tIns="0" rIns="0" bIns="0" rtlCol="0" anchor="ctr"/>
          <a:lstStyle/>
          <a:p>
            <a:pPr algn="ctr" indent="0" marL="0">
              <a:buNone/>
            </a:pPr>
            <a:r>
              <a:rPr lang="en-US" sz="950" b="1" dirty="0">
                <a:solidFill>
                  <a:srgbClr val="152A4E"/>
                </a:solidFill>
                <a:latin typeface="Calibri" pitchFamily="34" charset="0"/>
                <a:ea typeface="Calibri" pitchFamily="34" charset="-122"/>
                <a:cs typeface="Calibri" pitchFamily="34" charset="-120"/>
              </a:rPr>
              <a:t>Resolved</a:t>
            </a:r>
            <a:endParaRPr lang="en-US" sz="950" dirty="0"/>
          </a:p>
        </p:txBody>
      </p:sp>
      <p:sp>
        <p:nvSpPr>
          <p:cNvPr id="30" name="Shape 28"/>
          <p:cNvSpPr/>
          <p:nvPr/>
        </p:nvSpPr>
        <p:spPr>
          <a:xfrm>
            <a:off x="10145268" y="2276856"/>
            <a:ext cx="146304" cy="0"/>
          </a:xfrm>
          <a:prstGeom prst="line">
            <a:avLst/>
          </a:prstGeom>
          <a:noFill/>
          <a:ln w="15875">
            <a:solidFill>
              <a:srgbClr val="152A4E"/>
            </a:solidFill>
            <a:prstDash val="solid"/>
            <a:tailEnd type="triangle"/>
          </a:ln>
        </p:spPr>
      </p:sp>
      <p:sp>
        <p:nvSpPr>
          <p:cNvPr id="31" name="Shape 29"/>
          <p:cNvSpPr/>
          <p:nvPr/>
        </p:nvSpPr>
        <p:spPr>
          <a:xfrm>
            <a:off x="10323576" y="1993392"/>
            <a:ext cx="1188720" cy="566928"/>
          </a:xfrm>
          <a:prstGeom prst="roundRect">
            <a:avLst>
              <a:gd name="adj" fmla="val 8065"/>
            </a:avLst>
          </a:prstGeom>
          <a:solidFill>
            <a:srgbClr val="F2F5F9"/>
          </a:solidFill>
          <a:ln w="15875">
            <a:solidFill>
              <a:srgbClr val="D3DBE6"/>
            </a:solidFill>
            <a:prstDash val="solid"/>
          </a:ln>
        </p:spPr>
      </p:sp>
      <p:sp>
        <p:nvSpPr>
          <p:cNvPr id="32" name="Text 30"/>
          <p:cNvSpPr/>
          <p:nvPr/>
        </p:nvSpPr>
        <p:spPr>
          <a:xfrm>
            <a:off x="10323576" y="1993392"/>
            <a:ext cx="1188720" cy="566928"/>
          </a:xfrm>
          <a:prstGeom prst="rect">
            <a:avLst/>
          </a:prstGeom>
          <a:noFill/>
          <a:ln/>
        </p:spPr>
        <p:txBody>
          <a:bodyPr wrap="square" lIns="0" tIns="0" rIns="0" bIns="0" rtlCol="0" anchor="ctr"/>
          <a:lstStyle/>
          <a:p>
            <a:pPr algn="ctr" indent="0" marL="0">
              <a:buNone/>
            </a:pPr>
            <a:r>
              <a:rPr lang="en-US" sz="950" b="1" dirty="0">
                <a:solidFill>
                  <a:srgbClr val="152A4E"/>
                </a:solidFill>
                <a:latin typeface="Calibri" pitchFamily="34" charset="0"/>
                <a:ea typeface="Calibri" pitchFamily="34" charset="-122"/>
                <a:cs typeface="Calibri" pitchFamily="34" charset="-120"/>
              </a:rPr>
              <a:t>Closed</a:t>
            </a:r>
            <a:endParaRPr lang="en-US" sz="950" dirty="0"/>
          </a:p>
        </p:txBody>
      </p:sp>
      <p:sp>
        <p:nvSpPr>
          <p:cNvPr id="33" name="Shape 31"/>
          <p:cNvSpPr/>
          <p:nvPr/>
        </p:nvSpPr>
        <p:spPr>
          <a:xfrm>
            <a:off x="530352" y="3054096"/>
            <a:ext cx="1188720" cy="566928"/>
          </a:xfrm>
          <a:prstGeom prst="roundRect">
            <a:avLst>
              <a:gd name="adj" fmla="val 8065"/>
            </a:avLst>
          </a:prstGeom>
          <a:solidFill>
            <a:srgbClr val="F2F5F9"/>
          </a:solidFill>
          <a:ln w="15875">
            <a:solidFill>
              <a:srgbClr val="D3DBE6"/>
            </a:solidFill>
            <a:prstDash val="solid"/>
          </a:ln>
        </p:spPr>
      </p:sp>
      <p:sp>
        <p:nvSpPr>
          <p:cNvPr id="34" name="Text 32"/>
          <p:cNvSpPr/>
          <p:nvPr/>
        </p:nvSpPr>
        <p:spPr>
          <a:xfrm>
            <a:off x="530352" y="3054096"/>
            <a:ext cx="1188720" cy="566928"/>
          </a:xfrm>
          <a:prstGeom prst="rect">
            <a:avLst/>
          </a:prstGeom>
          <a:noFill/>
          <a:ln/>
        </p:spPr>
        <p:txBody>
          <a:bodyPr wrap="square" lIns="0" tIns="0" rIns="0" bIns="0" rtlCol="0" anchor="ctr"/>
          <a:lstStyle/>
          <a:p>
            <a:pPr algn="ctr" indent="0" marL="0">
              <a:buNone/>
            </a:pPr>
            <a:r>
              <a:rPr lang="en-US" sz="950" b="1" dirty="0">
                <a:solidFill>
                  <a:srgbClr val="6B7280"/>
                </a:solidFill>
                <a:latin typeface="Calibri" pitchFamily="34" charset="0"/>
                <a:ea typeface="Calibri" pitchFamily="34" charset="-122"/>
                <a:cs typeface="Calibri" pitchFamily="34" charset="-120"/>
              </a:rPr>
              <a:t>Cancelled</a:t>
            </a:r>
            <a:endParaRPr lang="en-US" sz="950" dirty="0"/>
          </a:p>
        </p:txBody>
      </p:sp>
      <p:sp>
        <p:nvSpPr>
          <p:cNvPr id="35" name="Shape 33"/>
          <p:cNvSpPr/>
          <p:nvPr/>
        </p:nvSpPr>
        <p:spPr>
          <a:xfrm>
            <a:off x="1124712" y="2560320"/>
            <a:ext cx="0" cy="493776"/>
          </a:xfrm>
          <a:prstGeom prst="line">
            <a:avLst/>
          </a:prstGeom>
          <a:noFill/>
          <a:ln w="13970">
            <a:solidFill>
              <a:srgbClr val="6B7280"/>
            </a:solidFill>
            <a:prstDash val="solid"/>
            <a:tailEnd type="triangle"/>
          </a:ln>
        </p:spPr>
      </p:sp>
      <p:sp>
        <p:nvSpPr>
          <p:cNvPr id="36" name="Shape 34"/>
          <p:cNvSpPr/>
          <p:nvPr/>
        </p:nvSpPr>
        <p:spPr>
          <a:xfrm>
            <a:off x="3328416" y="3054096"/>
            <a:ext cx="1572768" cy="566928"/>
          </a:xfrm>
          <a:prstGeom prst="roundRect">
            <a:avLst>
              <a:gd name="adj" fmla="val 8065"/>
            </a:avLst>
          </a:prstGeom>
          <a:solidFill>
            <a:srgbClr val="FBEEDA"/>
          </a:solidFill>
          <a:ln w="17780">
            <a:solidFill>
              <a:srgbClr val="A86A11"/>
            </a:solidFill>
            <a:prstDash val="solid"/>
          </a:ln>
        </p:spPr>
      </p:sp>
      <p:sp>
        <p:nvSpPr>
          <p:cNvPr id="37" name="Text 35"/>
          <p:cNvSpPr/>
          <p:nvPr/>
        </p:nvSpPr>
        <p:spPr>
          <a:xfrm>
            <a:off x="3328416" y="3054096"/>
            <a:ext cx="1572768" cy="566928"/>
          </a:xfrm>
          <a:prstGeom prst="rect">
            <a:avLst/>
          </a:prstGeom>
          <a:noFill/>
          <a:ln/>
        </p:spPr>
        <p:txBody>
          <a:bodyPr wrap="square" lIns="0" tIns="0" rIns="0" bIns="0" rtlCol="0" anchor="ctr"/>
          <a:lstStyle/>
          <a:p>
            <a:pPr algn="ctr" indent="0" marL="0">
              <a:buNone/>
            </a:pPr>
            <a:r>
              <a:rPr lang="en-US" sz="950" b="1" dirty="0">
                <a:solidFill>
                  <a:srgbClr val="A86A11"/>
                </a:solidFill>
                <a:latin typeface="Calibri" pitchFamily="34" charset="0"/>
                <a:ea typeface="Calibri" pitchFamily="34" charset="-122"/>
                <a:cs typeface="Calibri" pitchFamily="34" charset="-120"/>
              </a:rPr>
              <a:t>Pending Customer</a:t>
            </a:r>
            <a:endParaRPr lang="en-US" sz="950" dirty="0"/>
          </a:p>
        </p:txBody>
      </p:sp>
      <p:sp>
        <p:nvSpPr>
          <p:cNvPr id="38" name="Shape 36"/>
          <p:cNvSpPr/>
          <p:nvPr/>
        </p:nvSpPr>
        <p:spPr>
          <a:xfrm>
            <a:off x="4114800" y="2560320"/>
            <a:ext cx="0" cy="493776"/>
          </a:xfrm>
          <a:prstGeom prst="line">
            <a:avLst/>
          </a:prstGeom>
          <a:noFill/>
          <a:ln w="13970">
            <a:solidFill>
              <a:srgbClr val="A86A11"/>
            </a:solidFill>
            <a:prstDash val="dash"/>
            <a:headEnd type="triangle"/>
            <a:tailEnd type="triangle"/>
          </a:ln>
        </p:spPr>
      </p:sp>
      <p:sp>
        <p:nvSpPr>
          <p:cNvPr id="39" name="Shape 37"/>
          <p:cNvSpPr/>
          <p:nvPr/>
        </p:nvSpPr>
        <p:spPr>
          <a:xfrm>
            <a:off x="5120640" y="3054096"/>
            <a:ext cx="1572768" cy="566928"/>
          </a:xfrm>
          <a:prstGeom prst="roundRect">
            <a:avLst>
              <a:gd name="adj" fmla="val 8065"/>
            </a:avLst>
          </a:prstGeom>
          <a:solidFill>
            <a:srgbClr val="FBEEDA"/>
          </a:solidFill>
          <a:ln w="17780">
            <a:solidFill>
              <a:srgbClr val="A86A11"/>
            </a:solidFill>
            <a:prstDash val="solid"/>
          </a:ln>
        </p:spPr>
      </p:sp>
      <p:sp>
        <p:nvSpPr>
          <p:cNvPr id="40" name="Text 38"/>
          <p:cNvSpPr/>
          <p:nvPr/>
        </p:nvSpPr>
        <p:spPr>
          <a:xfrm>
            <a:off x="5120640" y="3054096"/>
            <a:ext cx="1572768" cy="566928"/>
          </a:xfrm>
          <a:prstGeom prst="rect">
            <a:avLst/>
          </a:prstGeom>
          <a:noFill/>
          <a:ln/>
        </p:spPr>
        <p:txBody>
          <a:bodyPr wrap="square" lIns="0" tIns="0" rIns="0" bIns="0" rtlCol="0" anchor="ctr"/>
          <a:lstStyle/>
          <a:p>
            <a:pPr algn="ctr" indent="0" marL="0">
              <a:buNone/>
            </a:pPr>
            <a:r>
              <a:rPr lang="en-US" sz="950" b="1" dirty="0">
                <a:solidFill>
                  <a:srgbClr val="A86A11"/>
                </a:solidFill>
                <a:latin typeface="Calibri" pitchFamily="34" charset="0"/>
                <a:ea typeface="Calibri" pitchFamily="34" charset="-122"/>
                <a:cs typeface="Calibri" pitchFamily="34" charset="-120"/>
              </a:rPr>
              <a:t>Pending Vendor</a:t>
            </a:r>
            <a:endParaRPr lang="en-US" sz="950" dirty="0"/>
          </a:p>
        </p:txBody>
      </p:sp>
      <p:sp>
        <p:nvSpPr>
          <p:cNvPr id="41" name="Shape 39"/>
          <p:cNvSpPr/>
          <p:nvPr/>
        </p:nvSpPr>
        <p:spPr>
          <a:xfrm>
            <a:off x="5907024" y="2560320"/>
            <a:ext cx="0" cy="493776"/>
          </a:xfrm>
          <a:prstGeom prst="line">
            <a:avLst/>
          </a:prstGeom>
          <a:noFill/>
          <a:ln w="13970">
            <a:solidFill>
              <a:srgbClr val="A86A11"/>
            </a:solidFill>
            <a:prstDash val="dash"/>
            <a:headEnd type="triangle"/>
            <a:tailEnd type="triangle"/>
          </a:ln>
        </p:spPr>
      </p:sp>
      <p:sp>
        <p:nvSpPr>
          <p:cNvPr id="42" name="Shape 40"/>
          <p:cNvSpPr/>
          <p:nvPr/>
        </p:nvSpPr>
        <p:spPr>
          <a:xfrm>
            <a:off x="6903720" y="3054096"/>
            <a:ext cx="1920240" cy="566928"/>
          </a:xfrm>
          <a:prstGeom prst="roundRect">
            <a:avLst>
              <a:gd name="adj" fmla="val 8065"/>
            </a:avLst>
          </a:prstGeom>
          <a:solidFill>
            <a:srgbClr val="A86A11"/>
          </a:solidFill>
          <a:ln w="12700">
            <a:solidFill>
              <a:srgbClr val="A86A11"/>
            </a:solidFill>
            <a:prstDash val="solid"/>
          </a:ln>
        </p:spPr>
      </p:sp>
      <p:sp>
        <p:nvSpPr>
          <p:cNvPr id="43" name="Text 41"/>
          <p:cNvSpPr/>
          <p:nvPr/>
        </p:nvSpPr>
        <p:spPr>
          <a:xfrm>
            <a:off x="6903720" y="3054096"/>
            <a:ext cx="1920240"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SLA CLOCK PAUSED</a:t>
            </a:r>
            <a:endParaRPr lang="en-US" sz="950" dirty="0"/>
          </a:p>
        </p:txBody>
      </p:sp>
      <p:sp>
        <p:nvSpPr>
          <p:cNvPr id="44" name="Shape 42"/>
          <p:cNvSpPr/>
          <p:nvPr/>
        </p:nvSpPr>
        <p:spPr>
          <a:xfrm>
            <a:off x="2523744" y="3968496"/>
            <a:ext cx="8394192" cy="0"/>
          </a:xfrm>
          <a:prstGeom prst="line">
            <a:avLst/>
          </a:prstGeom>
          <a:noFill/>
          <a:ln w="15240">
            <a:solidFill>
              <a:srgbClr val="27436F"/>
            </a:solidFill>
            <a:prstDash val="dash"/>
            <a:headEnd type="triangle"/>
          </a:ln>
        </p:spPr>
      </p:sp>
      <p:sp>
        <p:nvSpPr>
          <p:cNvPr id="45" name="Shape 43"/>
          <p:cNvSpPr/>
          <p:nvPr/>
        </p:nvSpPr>
        <p:spPr>
          <a:xfrm>
            <a:off x="10917936" y="2560320"/>
            <a:ext cx="0" cy="1408176"/>
          </a:xfrm>
          <a:prstGeom prst="line">
            <a:avLst/>
          </a:prstGeom>
          <a:noFill/>
          <a:ln w="15240">
            <a:solidFill>
              <a:srgbClr val="27436F"/>
            </a:solidFill>
            <a:prstDash val="dash"/>
          </a:ln>
        </p:spPr>
      </p:sp>
      <p:sp>
        <p:nvSpPr>
          <p:cNvPr id="46" name="Shape 44"/>
          <p:cNvSpPr/>
          <p:nvPr/>
        </p:nvSpPr>
        <p:spPr>
          <a:xfrm>
            <a:off x="2523744" y="3968496"/>
            <a:ext cx="0" cy="-1408176"/>
          </a:xfrm>
          <a:prstGeom prst="line">
            <a:avLst/>
          </a:prstGeom>
          <a:noFill/>
          <a:ln w="15240">
            <a:solidFill>
              <a:srgbClr val="27436F"/>
            </a:solidFill>
            <a:prstDash val="solid"/>
          </a:ln>
        </p:spPr>
      </p:sp>
      <p:sp>
        <p:nvSpPr>
          <p:cNvPr id="47" name="Text 45"/>
          <p:cNvSpPr/>
          <p:nvPr/>
        </p:nvSpPr>
        <p:spPr>
          <a:xfrm>
            <a:off x="3657600" y="4005072"/>
            <a:ext cx="4937760" cy="237744"/>
          </a:xfrm>
          <a:prstGeom prst="rect">
            <a:avLst/>
          </a:prstGeom>
          <a:noFill/>
          <a:ln/>
        </p:spPr>
        <p:txBody>
          <a:bodyPr wrap="square" lIns="0" tIns="0" rIns="0" bIns="0" rtlCol="0" anchor="ctr"/>
          <a:lstStyle/>
          <a:p>
            <a:pPr algn="ctr" indent="0" marL="0">
              <a:buNone/>
            </a:pPr>
            <a:r>
              <a:rPr lang="en-US" sz="900" i="1" dirty="0">
                <a:solidFill>
                  <a:srgbClr val="27436F"/>
                </a:solidFill>
                <a:latin typeface="Calibri" pitchFamily="34" charset="0"/>
                <a:ea typeface="Calibri" pitchFamily="34" charset="-122"/>
                <a:cs typeface="Calibri" pitchFamily="34" charset="-120"/>
              </a:rPr>
              <a:t>reopen within 7 days → back to Triage, Reopened = true</a:t>
            </a:r>
            <a:endParaRPr lang="en-US" sz="900" dirty="0"/>
          </a:p>
        </p:txBody>
      </p:sp>
      <p:sp>
        <p:nvSpPr>
          <p:cNvPr id="48" name="Shape 46"/>
          <p:cNvSpPr/>
          <p:nvPr/>
        </p:nvSpPr>
        <p:spPr>
          <a:xfrm>
            <a:off x="530352" y="4453128"/>
            <a:ext cx="219456" cy="182880"/>
          </a:xfrm>
          <a:prstGeom prst="roundRect">
            <a:avLst>
              <a:gd name="adj" fmla="val 15000"/>
            </a:avLst>
          </a:prstGeom>
          <a:solidFill>
            <a:srgbClr val="FFFFFF"/>
          </a:solidFill>
          <a:ln w="13970">
            <a:solidFill>
              <a:srgbClr val="152A4E"/>
            </a:solidFill>
            <a:prstDash val="solid"/>
          </a:ln>
        </p:spPr>
      </p:sp>
      <p:sp>
        <p:nvSpPr>
          <p:cNvPr id="49" name="Text 47"/>
          <p:cNvSpPr/>
          <p:nvPr/>
        </p:nvSpPr>
        <p:spPr>
          <a:xfrm>
            <a:off x="841248" y="4407408"/>
            <a:ext cx="2651760" cy="27432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SLA clock running</a:t>
            </a:r>
            <a:endParaRPr lang="en-US" sz="950" dirty="0"/>
          </a:p>
        </p:txBody>
      </p:sp>
      <p:sp>
        <p:nvSpPr>
          <p:cNvPr id="50" name="Shape 48"/>
          <p:cNvSpPr/>
          <p:nvPr/>
        </p:nvSpPr>
        <p:spPr>
          <a:xfrm>
            <a:off x="3730752" y="4453128"/>
            <a:ext cx="219456" cy="182880"/>
          </a:xfrm>
          <a:prstGeom prst="roundRect">
            <a:avLst>
              <a:gd name="adj" fmla="val 15000"/>
            </a:avLst>
          </a:prstGeom>
          <a:solidFill>
            <a:srgbClr val="FBEEDA"/>
          </a:solidFill>
          <a:ln w="13970">
            <a:solidFill>
              <a:srgbClr val="A86A11"/>
            </a:solidFill>
            <a:prstDash val="solid"/>
          </a:ln>
        </p:spPr>
      </p:sp>
      <p:sp>
        <p:nvSpPr>
          <p:cNvPr id="51" name="Text 49"/>
          <p:cNvSpPr/>
          <p:nvPr/>
        </p:nvSpPr>
        <p:spPr>
          <a:xfrm>
            <a:off x="4041648" y="4407408"/>
            <a:ext cx="2651760" cy="27432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SLA clock paused</a:t>
            </a:r>
            <a:endParaRPr lang="en-US" sz="950" dirty="0"/>
          </a:p>
        </p:txBody>
      </p:sp>
      <p:sp>
        <p:nvSpPr>
          <p:cNvPr id="52" name="Shape 50"/>
          <p:cNvSpPr/>
          <p:nvPr/>
        </p:nvSpPr>
        <p:spPr>
          <a:xfrm>
            <a:off x="6931152" y="4453128"/>
            <a:ext cx="219456" cy="182880"/>
          </a:xfrm>
          <a:prstGeom prst="roundRect">
            <a:avLst>
              <a:gd name="adj" fmla="val 15000"/>
            </a:avLst>
          </a:prstGeom>
          <a:solidFill>
            <a:srgbClr val="F2F5F9"/>
          </a:solidFill>
          <a:ln w="13970">
            <a:solidFill>
              <a:srgbClr val="D3DBE6"/>
            </a:solidFill>
            <a:prstDash val="solid"/>
          </a:ln>
        </p:spPr>
      </p:sp>
      <p:sp>
        <p:nvSpPr>
          <p:cNvPr id="53" name="Text 51"/>
          <p:cNvSpPr/>
          <p:nvPr/>
        </p:nvSpPr>
        <p:spPr>
          <a:xfrm>
            <a:off x="7242048" y="4407408"/>
            <a:ext cx="2651760" cy="27432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Terminal / cancelled</a:t>
            </a:r>
            <a:endParaRPr lang="en-US" sz="950" dirty="0"/>
          </a:p>
        </p:txBody>
      </p:sp>
      <p:sp>
        <p:nvSpPr>
          <p:cNvPr id="54" name="Shape 52"/>
          <p:cNvSpPr/>
          <p:nvPr/>
        </p:nvSpPr>
        <p:spPr>
          <a:xfrm>
            <a:off x="502920" y="4828032"/>
            <a:ext cx="11183112" cy="1225296"/>
          </a:xfrm>
          <a:prstGeom prst="roundRect">
            <a:avLst>
              <a:gd name="adj" fmla="val 4478"/>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55" name="Text 53"/>
          <p:cNvSpPr/>
          <p:nvPr/>
        </p:nvSpPr>
        <p:spPr>
          <a:xfrm>
            <a:off x="758952" y="4937760"/>
            <a:ext cx="10698480" cy="274320"/>
          </a:xfrm>
          <a:prstGeom prst="rect">
            <a:avLst/>
          </a:prstGeom>
          <a:noFill/>
          <a:ln/>
        </p:spPr>
        <p:txBody>
          <a:bodyPr wrap="square" lIns="0" tIns="0" rIns="0" bIns="0" rtlCol="0" anchor="ctr"/>
          <a:lstStyle/>
          <a:p>
            <a:pPr indent="0" marL="0">
              <a:buNone/>
            </a:pPr>
            <a:r>
              <a:rPr lang="en-US" sz="1200" b="1" dirty="0">
                <a:solidFill>
                  <a:srgbClr val="152A4E"/>
                </a:solidFill>
                <a:latin typeface="Calibri" pitchFamily="34" charset="0"/>
                <a:ea typeface="Calibri" pitchFamily="34" charset="-122"/>
                <a:cs typeface="Calibri" pitchFamily="34" charset="-120"/>
              </a:rPr>
              <a:t>Escalation is a transition inside this one workflow, not a handoff out of it</a:t>
            </a:r>
            <a:endParaRPr lang="en-US" sz="1200" dirty="0"/>
          </a:p>
        </p:txBody>
      </p:sp>
      <p:sp>
        <p:nvSpPr>
          <p:cNvPr id="56" name="Text 54"/>
          <p:cNvSpPr/>
          <p:nvPr/>
        </p:nvSpPr>
        <p:spPr>
          <a:xfrm>
            <a:off x="758952" y="5248656"/>
            <a:ext cx="5212080" cy="731520"/>
          </a:xfrm>
          <a:prstGeom prst="rect">
            <a:avLst/>
          </a:prstGeom>
          <a:noFill/>
          <a:ln/>
        </p:spPr>
        <p:txBody>
          <a:bodyPr wrap="square" lIns="0" tIns="0" rIns="0" bIns="0" rtlCol="0" anchor="t"/>
          <a:lstStyle/>
          <a:p>
            <a:pPr marL="342900" indent="-342900">
              <a:lnSpc>
                <a:spcPts val="1400"/>
              </a:lnSpc>
              <a:spcAft>
                <a:spcPts val="200"/>
              </a:spcAft>
              <a:buSzPct val="100000"/>
              <a:buChar char="▪"/>
            </a:pPr>
            <a:r>
              <a:rPr lang="en-US" sz="1050" dirty="0">
                <a:solidFill>
                  <a:srgbClr val="1A1A1A"/>
                </a:solidFill>
                <a:latin typeface="Calibri" pitchFamily="34" charset="0"/>
                <a:ea typeface="Calibri" pitchFamily="34" charset="-122"/>
                <a:cs typeface="Calibri" pitchFamily="34" charset="-120"/>
              </a:rPr>
              <a:t>Pause conditions: status in (Pending Customer, Pending Vendor) — without them, every ticket blocked on a user reads as an SLA failure</a:t>
            </a:r>
            <a:endParaRPr lang="en-US" sz="1050" dirty="0"/>
          </a:p>
        </p:txBody>
      </p:sp>
      <p:sp>
        <p:nvSpPr>
          <p:cNvPr id="57" name="Text 55"/>
          <p:cNvSpPr/>
          <p:nvPr/>
        </p:nvSpPr>
        <p:spPr>
          <a:xfrm>
            <a:off x="6035040" y="5248656"/>
            <a:ext cx="5486400" cy="731520"/>
          </a:xfrm>
          <a:prstGeom prst="rect">
            <a:avLst/>
          </a:prstGeom>
          <a:noFill/>
          <a:ln/>
        </p:spPr>
        <p:txBody>
          <a:bodyPr wrap="square" lIns="0" tIns="0" rIns="0" bIns="0" rtlCol="0" anchor="t"/>
          <a:lstStyle/>
          <a:p>
            <a:pPr marL="342900" indent="-342900">
              <a:lnSpc>
                <a:spcPts val="1400"/>
              </a:lnSpc>
              <a:spcAft>
                <a:spcPts val="200"/>
              </a:spcAft>
              <a:buSzPct val="100000"/>
              <a:buChar char="▪"/>
            </a:pPr>
            <a:r>
              <a:rPr lang="en-US" sz="1050" dirty="0">
                <a:solidFill>
                  <a:srgbClr val="1A1A1A"/>
                </a:solidFill>
                <a:latin typeface="Calibri" pitchFamily="34" charset="0"/>
                <a:ea typeface="Calibri" pitchFamily="34" charset="-122"/>
                <a:cs typeface="Calibri" pitchFamily="34" charset="-120"/>
              </a:rPr>
              <a:t>Four issue types share this workflow — Incident, Service Request, Change, Problem — so screen and report maintenance stays bounded (Appendix A-5)</a:t>
            </a:r>
            <a:endParaRPr lang="en-US" sz="1050" dirty="0"/>
          </a:p>
        </p:txBody>
      </p:sp>
      <p:sp>
        <p:nvSpPr>
          <p:cNvPr id="58" name="Text 56"/>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§7 workflow; §9 SLA pause conditions; §10 automation rule 5 (reopen handling)</a:t>
            </a:r>
            <a:endParaRPr lang="en-US" sz="850" dirty="0"/>
          </a:p>
        </p:txBody>
      </p:sp>
      <p:sp>
        <p:nvSpPr>
          <p:cNvPr id="59" name="Text 57"/>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THE SCOREBOARD</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Six metrics and only six, chosen so that gaming any one of them shows up immediately in another</a:t>
            </a:r>
            <a:endParaRPr lang="en-US" sz="1850" dirty="0"/>
          </a:p>
        </p:txBody>
      </p:sp>
      <p:sp>
        <p:nvSpPr>
          <p:cNvPr id="4" name="Shape 2"/>
          <p:cNvSpPr/>
          <p:nvPr/>
        </p:nvSpPr>
        <p:spPr>
          <a:xfrm>
            <a:off x="502920" y="1463040"/>
            <a:ext cx="3529584" cy="1371600"/>
          </a:xfrm>
          <a:prstGeom prst="roundRect">
            <a:avLst>
              <a:gd name="adj" fmla="val 4000"/>
            </a:avLst>
          </a:prstGeom>
          <a:solidFill>
            <a:srgbClr val="D9EAE9"/>
          </a:solidFill>
          <a:ln w="12700">
            <a:solidFill>
              <a:srgbClr val="A9CFCD"/>
            </a:solidFill>
            <a:prstDash val="solid"/>
          </a:ln>
          <a:effectLst>
            <a:outerShdw sx="100000" sy="100000" kx="0" ky="0" algn="bl" rotWithShape="0" blurRad="76200" dist="12700" dir="5400000">
              <a:srgbClr val="9AA7BA">
                <a:alpha val="22000"/>
              </a:srgbClr>
            </a:outerShdw>
          </a:effectLst>
        </p:spPr>
      </p:sp>
      <p:sp>
        <p:nvSpPr>
          <p:cNvPr id="5" name="Text 3"/>
          <p:cNvSpPr/>
          <p:nvPr/>
        </p:nvSpPr>
        <p:spPr>
          <a:xfrm>
            <a:off x="704088" y="1609344"/>
            <a:ext cx="2295144" cy="457200"/>
          </a:xfrm>
          <a:prstGeom prst="rect">
            <a:avLst/>
          </a:prstGeom>
          <a:noFill/>
          <a:ln/>
        </p:spPr>
        <p:txBody>
          <a:bodyPr wrap="square" lIns="0" tIns="0" rIns="0" bIns="0" rtlCol="0" anchor="t"/>
          <a:lstStyle/>
          <a:p>
            <a:pPr indent="0" marL="0">
              <a:lnSpc>
                <a:spcPts val="1400"/>
              </a:lnSpc>
              <a:buNone/>
            </a:pPr>
            <a:r>
              <a:rPr lang="en-US" sz="1150" b="1" dirty="0">
                <a:solidFill>
                  <a:srgbClr val="152A4E"/>
                </a:solidFill>
                <a:latin typeface="Calibri" pitchFamily="34" charset="0"/>
                <a:ea typeface="Calibri" pitchFamily="34" charset="-122"/>
                <a:cs typeface="Calibri" pitchFamily="34" charset="-120"/>
              </a:rPr>
              <a:t>First-time resolution at L1</a:t>
            </a:r>
            <a:endParaRPr lang="en-US" sz="1150" dirty="0"/>
          </a:p>
        </p:txBody>
      </p:sp>
      <p:sp>
        <p:nvSpPr>
          <p:cNvPr id="6" name="Text 4"/>
          <p:cNvSpPr/>
          <p:nvPr/>
        </p:nvSpPr>
        <p:spPr>
          <a:xfrm>
            <a:off x="2825496" y="1591056"/>
            <a:ext cx="1024128" cy="365760"/>
          </a:xfrm>
          <a:prstGeom prst="rect">
            <a:avLst/>
          </a:prstGeom>
          <a:noFill/>
          <a:ln/>
        </p:spPr>
        <p:txBody>
          <a:bodyPr wrap="square" lIns="0" tIns="0" rIns="0" bIns="0" rtlCol="0" anchor="t"/>
          <a:lstStyle/>
          <a:p>
            <a:pPr algn="r" indent="0" marL="0">
              <a:buNone/>
            </a:pPr>
            <a:r>
              <a:rPr lang="en-US" sz="1900" b="1" dirty="0">
                <a:solidFill>
                  <a:srgbClr val="0E7C7B"/>
                </a:solidFill>
                <a:latin typeface="Cambria" pitchFamily="34" charset="0"/>
                <a:ea typeface="Cambria" pitchFamily="34" charset="-122"/>
                <a:cs typeface="Cambria" pitchFamily="34" charset="-120"/>
              </a:rPr>
              <a:t>≥ 65%</a:t>
            </a:r>
            <a:endParaRPr lang="en-US" sz="1900" dirty="0"/>
          </a:p>
        </p:txBody>
      </p:sp>
      <p:sp>
        <p:nvSpPr>
          <p:cNvPr id="7" name="Text 5"/>
          <p:cNvSpPr/>
          <p:nvPr/>
        </p:nvSpPr>
        <p:spPr>
          <a:xfrm>
            <a:off x="704088" y="2121408"/>
            <a:ext cx="3127248"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Is L1 actually resolving, or just routing?</a:t>
            </a:r>
            <a:endParaRPr lang="en-US" sz="1000" dirty="0"/>
          </a:p>
        </p:txBody>
      </p:sp>
      <p:sp>
        <p:nvSpPr>
          <p:cNvPr id="8" name="Shape 6"/>
          <p:cNvSpPr/>
          <p:nvPr/>
        </p:nvSpPr>
        <p:spPr>
          <a:xfrm>
            <a:off x="704088" y="2505456"/>
            <a:ext cx="777240" cy="219456"/>
          </a:xfrm>
          <a:prstGeom prst="roundRect">
            <a:avLst>
              <a:gd name="adj" fmla="val 20833"/>
            </a:avLst>
          </a:prstGeom>
          <a:solidFill>
            <a:srgbClr val="0E7C7B"/>
          </a:solidFill>
          <a:ln w="12700">
            <a:solidFill>
              <a:srgbClr val="0E7C7B"/>
            </a:solidFill>
            <a:prstDash val="solid"/>
          </a:ln>
        </p:spPr>
      </p:sp>
      <p:sp>
        <p:nvSpPr>
          <p:cNvPr id="9" name="Text 7"/>
          <p:cNvSpPr/>
          <p:nvPr/>
        </p:nvSpPr>
        <p:spPr>
          <a:xfrm>
            <a:off x="704088" y="2505456"/>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PAIRED</a:t>
            </a:r>
            <a:endParaRPr lang="en-US" sz="750" dirty="0"/>
          </a:p>
        </p:txBody>
      </p:sp>
      <p:sp>
        <p:nvSpPr>
          <p:cNvPr id="10" name="Shape 8"/>
          <p:cNvSpPr/>
          <p:nvPr/>
        </p:nvSpPr>
        <p:spPr>
          <a:xfrm>
            <a:off x="4306824" y="1463040"/>
            <a:ext cx="3529584" cy="1371600"/>
          </a:xfrm>
          <a:prstGeom prst="roundRect">
            <a:avLst>
              <a:gd name="adj" fmla="val 4000"/>
            </a:avLst>
          </a:prstGeom>
          <a:solidFill>
            <a:srgbClr val="D9EAE9"/>
          </a:solidFill>
          <a:ln w="12700">
            <a:solidFill>
              <a:srgbClr val="A9CFCD"/>
            </a:solidFill>
            <a:prstDash val="solid"/>
          </a:ln>
          <a:effectLst>
            <a:outerShdw sx="100000" sy="100000" kx="0" ky="0" algn="bl" rotWithShape="0" blurRad="76200" dist="12700" dir="5400000">
              <a:srgbClr val="9AA7BA">
                <a:alpha val="22000"/>
              </a:srgbClr>
            </a:outerShdw>
          </a:effectLst>
        </p:spPr>
      </p:sp>
      <p:sp>
        <p:nvSpPr>
          <p:cNvPr id="11" name="Text 9"/>
          <p:cNvSpPr/>
          <p:nvPr/>
        </p:nvSpPr>
        <p:spPr>
          <a:xfrm>
            <a:off x="4507992" y="1609344"/>
            <a:ext cx="2295144" cy="457200"/>
          </a:xfrm>
          <a:prstGeom prst="rect">
            <a:avLst/>
          </a:prstGeom>
          <a:noFill/>
          <a:ln/>
        </p:spPr>
        <p:txBody>
          <a:bodyPr wrap="square" lIns="0" tIns="0" rIns="0" bIns="0" rtlCol="0" anchor="t"/>
          <a:lstStyle/>
          <a:p>
            <a:pPr indent="0" marL="0">
              <a:lnSpc>
                <a:spcPts val="1400"/>
              </a:lnSpc>
              <a:buNone/>
            </a:pPr>
            <a:r>
              <a:rPr lang="en-US" sz="1150" b="1" dirty="0">
                <a:solidFill>
                  <a:srgbClr val="152A4E"/>
                </a:solidFill>
                <a:latin typeface="Calibri" pitchFamily="34" charset="0"/>
                <a:ea typeface="Calibri" pitchFamily="34" charset="-122"/>
                <a:cs typeface="Calibri" pitchFamily="34" charset="-120"/>
              </a:rPr>
              <a:t>Reopen rate</a:t>
            </a:r>
            <a:endParaRPr lang="en-US" sz="1150" dirty="0"/>
          </a:p>
        </p:txBody>
      </p:sp>
      <p:sp>
        <p:nvSpPr>
          <p:cNvPr id="12" name="Text 10"/>
          <p:cNvSpPr/>
          <p:nvPr/>
        </p:nvSpPr>
        <p:spPr>
          <a:xfrm>
            <a:off x="6629400" y="1591056"/>
            <a:ext cx="1024128" cy="365760"/>
          </a:xfrm>
          <a:prstGeom prst="rect">
            <a:avLst/>
          </a:prstGeom>
          <a:noFill/>
          <a:ln/>
        </p:spPr>
        <p:txBody>
          <a:bodyPr wrap="square" lIns="0" tIns="0" rIns="0" bIns="0" rtlCol="0" anchor="t"/>
          <a:lstStyle/>
          <a:p>
            <a:pPr algn="r" indent="0" marL="0">
              <a:buNone/>
            </a:pPr>
            <a:r>
              <a:rPr lang="en-US" sz="1900" b="1" dirty="0">
                <a:solidFill>
                  <a:srgbClr val="0E7C7B"/>
                </a:solidFill>
                <a:latin typeface="Cambria" pitchFamily="34" charset="0"/>
                <a:ea typeface="Cambria" pitchFamily="34" charset="-122"/>
                <a:cs typeface="Cambria" pitchFamily="34" charset="-120"/>
              </a:rPr>
              <a:t>&lt; 5%</a:t>
            </a:r>
            <a:endParaRPr lang="en-US" sz="1900" dirty="0"/>
          </a:p>
        </p:txBody>
      </p:sp>
      <p:sp>
        <p:nvSpPr>
          <p:cNvPr id="13" name="Text 11"/>
          <p:cNvSpPr/>
          <p:nvPr/>
        </p:nvSpPr>
        <p:spPr>
          <a:xfrm>
            <a:off x="4507992" y="2121408"/>
            <a:ext cx="3127248"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Whether L1 is closing prematurely to game FTR</a:t>
            </a:r>
            <a:endParaRPr lang="en-US" sz="1000" dirty="0"/>
          </a:p>
        </p:txBody>
      </p:sp>
      <p:sp>
        <p:nvSpPr>
          <p:cNvPr id="14" name="Shape 12"/>
          <p:cNvSpPr/>
          <p:nvPr/>
        </p:nvSpPr>
        <p:spPr>
          <a:xfrm>
            <a:off x="4507992" y="2505456"/>
            <a:ext cx="777240" cy="219456"/>
          </a:xfrm>
          <a:prstGeom prst="roundRect">
            <a:avLst>
              <a:gd name="adj" fmla="val 20833"/>
            </a:avLst>
          </a:prstGeom>
          <a:solidFill>
            <a:srgbClr val="0E7C7B"/>
          </a:solidFill>
          <a:ln w="12700">
            <a:solidFill>
              <a:srgbClr val="0E7C7B"/>
            </a:solidFill>
            <a:prstDash val="solid"/>
          </a:ln>
        </p:spPr>
      </p:sp>
      <p:sp>
        <p:nvSpPr>
          <p:cNvPr id="15" name="Text 13"/>
          <p:cNvSpPr/>
          <p:nvPr/>
        </p:nvSpPr>
        <p:spPr>
          <a:xfrm>
            <a:off x="4507992" y="2505456"/>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PAIRED</a:t>
            </a:r>
            <a:endParaRPr lang="en-US" sz="750" dirty="0"/>
          </a:p>
        </p:txBody>
      </p:sp>
      <p:sp>
        <p:nvSpPr>
          <p:cNvPr id="16" name="Shape 14"/>
          <p:cNvSpPr/>
          <p:nvPr/>
        </p:nvSpPr>
        <p:spPr>
          <a:xfrm>
            <a:off x="8110728" y="1463040"/>
            <a:ext cx="3529584" cy="1371600"/>
          </a:xfrm>
          <a:prstGeom prst="roundRect">
            <a:avLst>
              <a:gd name="adj" fmla="val 400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17" name="Text 15"/>
          <p:cNvSpPr/>
          <p:nvPr/>
        </p:nvSpPr>
        <p:spPr>
          <a:xfrm>
            <a:off x="8311896" y="1609344"/>
            <a:ext cx="2295144" cy="457200"/>
          </a:xfrm>
          <a:prstGeom prst="rect">
            <a:avLst/>
          </a:prstGeom>
          <a:noFill/>
          <a:ln/>
        </p:spPr>
        <p:txBody>
          <a:bodyPr wrap="square" lIns="0" tIns="0" rIns="0" bIns="0" rtlCol="0" anchor="t"/>
          <a:lstStyle/>
          <a:p>
            <a:pPr indent="0" marL="0">
              <a:lnSpc>
                <a:spcPts val="1400"/>
              </a:lnSpc>
              <a:buNone/>
            </a:pPr>
            <a:r>
              <a:rPr lang="en-US" sz="1150" b="1" dirty="0">
                <a:solidFill>
                  <a:srgbClr val="152A4E"/>
                </a:solidFill>
                <a:latin typeface="Calibri" pitchFamily="34" charset="0"/>
                <a:ea typeface="Calibri" pitchFamily="34" charset="-122"/>
                <a:cs typeface="Calibri" pitchFamily="34" charset="-120"/>
              </a:rPr>
              <a:t>Escalation rate per analyst</a:t>
            </a:r>
            <a:endParaRPr lang="en-US" sz="1150" dirty="0"/>
          </a:p>
        </p:txBody>
      </p:sp>
      <p:sp>
        <p:nvSpPr>
          <p:cNvPr id="18" name="Text 16"/>
          <p:cNvSpPr/>
          <p:nvPr/>
        </p:nvSpPr>
        <p:spPr>
          <a:xfrm>
            <a:off x="10433304" y="1591056"/>
            <a:ext cx="1024128" cy="365760"/>
          </a:xfrm>
          <a:prstGeom prst="rect">
            <a:avLst/>
          </a:prstGeom>
          <a:noFill/>
          <a:ln/>
        </p:spPr>
        <p:txBody>
          <a:bodyPr wrap="square" lIns="0" tIns="0" rIns="0" bIns="0" rtlCol="0" anchor="t"/>
          <a:lstStyle/>
          <a:p>
            <a:pPr algn="r" indent="0" marL="0">
              <a:buNone/>
            </a:pPr>
            <a:r>
              <a:rPr lang="en-US" sz="1900" b="1" dirty="0">
                <a:solidFill>
                  <a:srgbClr val="152A4E"/>
                </a:solidFill>
                <a:latin typeface="Cambria" pitchFamily="34" charset="0"/>
                <a:ea typeface="Cambria" pitchFamily="34" charset="-122"/>
                <a:cs typeface="Cambria" pitchFamily="34" charset="-120"/>
              </a:rPr>
              <a:t>Trend</a:t>
            </a:r>
            <a:endParaRPr lang="en-US" sz="1900" dirty="0"/>
          </a:p>
        </p:txBody>
      </p:sp>
      <p:sp>
        <p:nvSpPr>
          <p:cNvPr id="19" name="Text 17"/>
          <p:cNvSpPr/>
          <p:nvPr/>
        </p:nvSpPr>
        <p:spPr>
          <a:xfrm>
            <a:off x="8311896" y="2121408"/>
            <a:ext cx="3127248"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Who needs coaching; where the KB has gaps</a:t>
            </a:r>
            <a:endParaRPr lang="en-US" sz="1000" dirty="0"/>
          </a:p>
        </p:txBody>
      </p:sp>
      <p:sp>
        <p:nvSpPr>
          <p:cNvPr id="20" name="Shape 18"/>
          <p:cNvSpPr/>
          <p:nvPr/>
        </p:nvSpPr>
        <p:spPr>
          <a:xfrm>
            <a:off x="502920" y="3035808"/>
            <a:ext cx="3529584" cy="1371600"/>
          </a:xfrm>
          <a:prstGeom prst="roundRect">
            <a:avLst>
              <a:gd name="adj" fmla="val 400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1" name="Text 19"/>
          <p:cNvSpPr/>
          <p:nvPr/>
        </p:nvSpPr>
        <p:spPr>
          <a:xfrm>
            <a:off x="704088" y="3182112"/>
            <a:ext cx="2295144" cy="457200"/>
          </a:xfrm>
          <a:prstGeom prst="rect">
            <a:avLst/>
          </a:prstGeom>
          <a:noFill/>
          <a:ln/>
        </p:spPr>
        <p:txBody>
          <a:bodyPr wrap="square" lIns="0" tIns="0" rIns="0" bIns="0" rtlCol="0" anchor="t"/>
          <a:lstStyle/>
          <a:p>
            <a:pPr indent="0" marL="0">
              <a:lnSpc>
                <a:spcPts val="1400"/>
              </a:lnSpc>
              <a:buNone/>
            </a:pPr>
            <a:r>
              <a:rPr lang="en-US" sz="1150" b="1" dirty="0">
                <a:solidFill>
                  <a:srgbClr val="152A4E"/>
                </a:solidFill>
                <a:latin typeface="Calibri" pitchFamily="34" charset="0"/>
                <a:ea typeface="Calibri" pitchFamily="34" charset="-122"/>
                <a:cs typeface="Calibri" pitchFamily="34" charset="-120"/>
              </a:rPr>
              <a:t>SLA attainment by priority</a:t>
            </a:r>
            <a:endParaRPr lang="en-US" sz="1150" dirty="0"/>
          </a:p>
        </p:txBody>
      </p:sp>
      <p:sp>
        <p:nvSpPr>
          <p:cNvPr id="22" name="Text 20"/>
          <p:cNvSpPr/>
          <p:nvPr/>
        </p:nvSpPr>
        <p:spPr>
          <a:xfrm>
            <a:off x="2825496" y="3163824"/>
            <a:ext cx="1024128" cy="365760"/>
          </a:xfrm>
          <a:prstGeom prst="rect">
            <a:avLst/>
          </a:prstGeom>
          <a:noFill/>
          <a:ln/>
        </p:spPr>
        <p:txBody>
          <a:bodyPr wrap="square" lIns="0" tIns="0" rIns="0" bIns="0" rtlCol="0" anchor="t"/>
          <a:lstStyle/>
          <a:p>
            <a:pPr algn="r" indent="0" marL="0">
              <a:buNone/>
            </a:pPr>
            <a:r>
              <a:rPr lang="en-US" sz="1900" b="1" dirty="0">
                <a:solidFill>
                  <a:srgbClr val="152A4E"/>
                </a:solidFill>
                <a:latin typeface="Cambria" pitchFamily="34" charset="0"/>
                <a:ea typeface="Cambria" pitchFamily="34" charset="-122"/>
                <a:cs typeface="Cambria" pitchFamily="34" charset="-120"/>
              </a:rPr>
              <a:t>≥ 95%</a:t>
            </a:r>
            <a:endParaRPr lang="en-US" sz="1900" dirty="0"/>
          </a:p>
        </p:txBody>
      </p:sp>
      <p:sp>
        <p:nvSpPr>
          <p:cNvPr id="23" name="Text 21"/>
          <p:cNvSpPr/>
          <p:nvPr/>
        </p:nvSpPr>
        <p:spPr>
          <a:xfrm>
            <a:off x="704088" y="3694176"/>
            <a:ext cx="3127248"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Contractual health</a:t>
            </a:r>
            <a:endParaRPr lang="en-US" sz="1000" dirty="0"/>
          </a:p>
        </p:txBody>
      </p:sp>
      <p:sp>
        <p:nvSpPr>
          <p:cNvPr id="24" name="Shape 22"/>
          <p:cNvSpPr/>
          <p:nvPr/>
        </p:nvSpPr>
        <p:spPr>
          <a:xfrm>
            <a:off x="4306824" y="3035808"/>
            <a:ext cx="3529584" cy="1371600"/>
          </a:xfrm>
          <a:prstGeom prst="roundRect">
            <a:avLst>
              <a:gd name="adj" fmla="val 400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5" name="Text 23"/>
          <p:cNvSpPr/>
          <p:nvPr/>
        </p:nvSpPr>
        <p:spPr>
          <a:xfrm>
            <a:off x="4507992" y="3182112"/>
            <a:ext cx="2295144" cy="457200"/>
          </a:xfrm>
          <a:prstGeom prst="rect">
            <a:avLst/>
          </a:prstGeom>
          <a:noFill/>
          <a:ln/>
        </p:spPr>
        <p:txBody>
          <a:bodyPr wrap="square" lIns="0" tIns="0" rIns="0" bIns="0" rtlCol="0" anchor="t"/>
          <a:lstStyle/>
          <a:p>
            <a:pPr indent="0" marL="0">
              <a:lnSpc>
                <a:spcPts val="1400"/>
              </a:lnSpc>
              <a:buNone/>
            </a:pPr>
            <a:r>
              <a:rPr lang="en-US" sz="1150" b="1" dirty="0">
                <a:solidFill>
                  <a:srgbClr val="152A4E"/>
                </a:solidFill>
                <a:latin typeface="Calibri" pitchFamily="34" charset="0"/>
                <a:ea typeface="Calibri" pitchFamily="34" charset="-122"/>
                <a:cs typeface="Calibri" pitchFamily="34" charset="-120"/>
              </a:rPr>
              <a:t>MTTR, split L1 vs L2</a:t>
            </a:r>
            <a:endParaRPr lang="en-US" sz="1150" dirty="0"/>
          </a:p>
        </p:txBody>
      </p:sp>
      <p:sp>
        <p:nvSpPr>
          <p:cNvPr id="26" name="Text 24"/>
          <p:cNvSpPr/>
          <p:nvPr/>
        </p:nvSpPr>
        <p:spPr>
          <a:xfrm>
            <a:off x="6629400" y="3163824"/>
            <a:ext cx="1024128" cy="365760"/>
          </a:xfrm>
          <a:prstGeom prst="rect">
            <a:avLst/>
          </a:prstGeom>
          <a:noFill/>
          <a:ln/>
        </p:spPr>
        <p:txBody>
          <a:bodyPr wrap="square" lIns="0" tIns="0" rIns="0" bIns="0" rtlCol="0" anchor="t"/>
          <a:lstStyle/>
          <a:p>
            <a:pPr algn="r" indent="0" marL="0">
              <a:buNone/>
            </a:pPr>
            <a:r>
              <a:rPr lang="en-US" sz="1900" b="1" dirty="0">
                <a:solidFill>
                  <a:srgbClr val="152A4E"/>
                </a:solidFill>
                <a:latin typeface="Cambria" pitchFamily="34" charset="0"/>
                <a:ea typeface="Cambria" pitchFamily="34" charset="-122"/>
                <a:cs typeface="Cambria" pitchFamily="34" charset="-120"/>
              </a:rPr>
              <a:t>Trend</a:t>
            </a:r>
            <a:endParaRPr lang="en-US" sz="1900" dirty="0"/>
          </a:p>
        </p:txBody>
      </p:sp>
      <p:sp>
        <p:nvSpPr>
          <p:cNvPr id="27" name="Text 25"/>
          <p:cNvSpPr/>
          <p:nvPr/>
        </p:nvSpPr>
        <p:spPr>
          <a:xfrm>
            <a:off x="4507992" y="3694176"/>
            <a:ext cx="3127248"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Where the time actually goes</a:t>
            </a:r>
            <a:endParaRPr lang="en-US" sz="1000" dirty="0"/>
          </a:p>
        </p:txBody>
      </p:sp>
      <p:sp>
        <p:nvSpPr>
          <p:cNvPr id="28" name="Shape 26"/>
          <p:cNvSpPr/>
          <p:nvPr/>
        </p:nvSpPr>
        <p:spPr>
          <a:xfrm>
            <a:off x="8110728" y="3035808"/>
            <a:ext cx="3529584" cy="1371600"/>
          </a:xfrm>
          <a:prstGeom prst="roundRect">
            <a:avLst>
              <a:gd name="adj" fmla="val 400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9" name="Text 27"/>
          <p:cNvSpPr/>
          <p:nvPr/>
        </p:nvSpPr>
        <p:spPr>
          <a:xfrm>
            <a:off x="8311896" y="3182112"/>
            <a:ext cx="2295144" cy="457200"/>
          </a:xfrm>
          <a:prstGeom prst="rect">
            <a:avLst/>
          </a:prstGeom>
          <a:noFill/>
          <a:ln/>
        </p:spPr>
        <p:txBody>
          <a:bodyPr wrap="square" lIns="0" tIns="0" rIns="0" bIns="0" rtlCol="0" anchor="t"/>
          <a:lstStyle/>
          <a:p>
            <a:pPr indent="0" marL="0">
              <a:lnSpc>
                <a:spcPts val="1400"/>
              </a:lnSpc>
              <a:buNone/>
            </a:pPr>
            <a:r>
              <a:rPr lang="en-US" sz="1150" b="1" dirty="0">
                <a:solidFill>
                  <a:srgbClr val="152A4E"/>
                </a:solidFill>
                <a:latin typeface="Calibri" pitchFamily="34" charset="0"/>
                <a:ea typeface="Calibri" pitchFamily="34" charset="-122"/>
                <a:cs typeface="Calibri" pitchFamily="34" charset="-120"/>
              </a:rPr>
              <a:t>Backlog aging &gt; 14 days</a:t>
            </a:r>
            <a:endParaRPr lang="en-US" sz="1150" dirty="0"/>
          </a:p>
        </p:txBody>
      </p:sp>
      <p:sp>
        <p:nvSpPr>
          <p:cNvPr id="30" name="Text 28"/>
          <p:cNvSpPr/>
          <p:nvPr/>
        </p:nvSpPr>
        <p:spPr>
          <a:xfrm>
            <a:off x="10433304" y="3163824"/>
            <a:ext cx="1024128" cy="365760"/>
          </a:xfrm>
          <a:prstGeom prst="rect">
            <a:avLst/>
          </a:prstGeom>
          <a:noFill/>
          <a:ln/>
        </p:spPr>
        <p:txBody>
          <a:bodyPr wrap="square" lIns="0" tIns="0" rIns="0" bIns="0" rtlCol="0" anchor="t"/>
          <a:lstStyle/>
          <a:p>
            <a:pPr algn="r" indent="0" marL="0">
              <a:buNone/>
            </a:pPr>
            <a:r>
              <a:rPr lang="en-US" sz="1900" b="1" dirty="0">
                <a:solidFill>
                  <a:srgbClr val="152A4E"/>
                </a:solidFill>
                <a:latin typeface="Cambria" pitchFamily="34" charset="0"/>
                <a:ea typeface="Cambria" pitchFamily="34" charset="-122"/>
                <a:cs typeface="Cambria" pitchFamily="34" charset="-120"/>
              </a:rPr>
              <a:t>→ 0</a:t>
            </a:r>
            <a:endParaRPr lang="en-US" sz="1900" dirty="0"/>
          </a:p>
        </p:txBody>
      </p:sp>
      <p:sp>
        <p:nvSpPr>
          <p:cNvPr id="31" name="Text 29"/>
          <p:cNvSpPr/>
          <p:nvPr/>
        </p:nvSpPr>
        <p:spPr>
          <a:xfrm>
            <a:off x="8311896" y="3694176"/>
            <a:ext cx="3127248"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What is quietly rotting</a:t>
            </a:r>
            <a:endParaRPr lang="en-US" sz="1000" dirty="0"/>
          </a:p>
        </p:txBody>
      </p:sp>
      <p:sp>
        <p:nvSpPr>
          <p:cNvPr id="32" name="Shape 30"/>
          <p:cNvSpPr/>
          <p:nvPr/>
        </p:nvSpPr>
        <p:spPr>
          <a:xfrm>
            <a:off x="4032504" y="2148840"/>
            <a:ext cx="274320" cy="0"/>
          </a:xfrm>
          <a:prstGeom prst="line">
            <a:avLst/>
          </a:prstGeom>
          <a:noFill/>
          <a:ln w="25400">
            <a:solidFill>
              <a:srgbClr val="0E7C7B"/>
            </a:solidFill>
            <a:prstDash val="solid"/>
            <a:headEnd type="triangle"/>
            <a:tailEnd type="triangle"/>
          </a:ln>
        </p:spPr>
      </p:sp>
      <p:sp>
        <p:nvSpPr>
          <p:cNvPr id="33" name="Shape 31"/>
          <p:cNvSpPr/>
          <p:nvPr/>
        </p:nvSpPr>
        <p:spPr>
          <a:xfrm>
            <a:off x="502920" y="4645152"/>
            <a:ext cx="11183112" cy="932688"/>
          </a:xfrm>
          <a:prstGeom prst="roundRect">
            <a:avLst>
              <a:gd name="adj" fmla="val 5882"/>
            </a:avLst>
          </a:prstGeom>
          <a:solidFill>
            <a:srgbClr val="152A4E"/>
          </a:solidFill>
          <a:ln w="12700">
            <a:solidFill>
              <a:srgbClr val="152A4E"/>
            </a:solidFill>
            <a:prstDash val="solid"/>
          </a:ln>
          <a:effectLst>
            <a:outerShdw sx="100000" sy="100000" kx="0" ky="0" algn="bl" rotWithShape="0" blurRad="76200" dist="12700" dir="5400000">
              <a:srgbClr val="9AA7BA">
                <a:alpha val="22000"/>
              </a:srgbClr>
            </a:outerShdw>
          </a:effectLst>
        </p:spPr>
      </p:sp>
      <p:sp>
        <p:nvSpPr>
          <p:cNvPr id="34" name="Text 32"/>
          <p:cNvSpPr/>
          <p:nvPr/>
        </p:nvSpPr>
        <p:spPr>
          <a:xfrm>
            <a:off x="777240" y="4645152"/>
            <a:ext cx="10607040" cy="932688"/>
          </a:xfrm>
          <a:prstGeom prst="rect">
            <a:avLst/>
          </a:prstGeom>
          <a:noFill/>
          <a:ln/>
        </p:spPr>
        <p:txBody>
          <a:bodyPr wrap="square" lIns="0" tIns="0" rIns="0" bIns="0" rtlCol="0" anchor="ctr"/>
          <a:lstStyle/>
          <a:p>
            <a:pPr indent="0" marL="0">
              <a:lnSpc>
                <a:spcPts val="1700"/>
              </a:lnSpc>
              <a:buNone/>
            </a:pPr>
            <a:r>
              <a:rPr lang="en-US" sz="1200" b="1" dirty="0">
                <a:solidFill>
                  <a:srgbClr val="FFFFFF"/>
                </a:solidFill>
                <a:latin typeface="Calibri" pitchFamily="34" charset="0"/>
                <a:ea typeface="Calibri" pitchFamily="34" charset="-122"/>
                <a:cs typeface="Calibri" pitchFamily="34" charset="-120"/>
              </a:rPr>
              <a:t>FTR and reopen rate are deliberately paired: you cannot inflate one without the other exposing you. Close tickets early to lift first-time resolution and the reopen rate climbs within the week.</a:t>
            </a:r>
            <a:endParaRPr lang="en-US" sz="1200" dirty="0"/>
          </a:p>
        </p:txBody>
      </p:sp>
      <p:sp>
        <p:nvSpPr>
          <p:cNvPr id="35" name="Text 33"/>
          <p:cNvSpPr/>
          <p:nvPr/>
        </p:nvSpPr>
        <p:spPr>
          <a:xfrm>
            <a:off x="502920" y="5669280"/>
            <a:ext cx="11183112" cy="502920"/>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Escalation rate per analyst is generated by the escalation gate itself (slide 5) — the control and the measurement come from the same workflow object. Reporting views are listed in Appendix A-7.</a:t>
            </a:r>
            <a:endParaRPr lang="en-US" sz="1050" dirty="0"/>
          </a:p>
        </p:txBody>
      </p:sp>
      <p:sp>
        <p:nvSpPr>
          <p:cNvPr id="36" name="Text 34"/>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BRIEF.md 'The scoreboard'; PLAN.md §10 reporting. Targets are design targets, to be tuned in the pilot</a:t>
            </a:r>
            <a:endParaRPr lang="en-US" sz="850" dirty="0"/>
          </a:p>
        </p:txBody>
      </p:sp>
      <p:sp>
        <p:nvSpPr>
          <p:cNvPr id="37" name="Text 35"/>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LICENSING FINDING</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The instance is licensed for Jira Software only and JSM is not provisioned — so the SLA engine, queues, portal and approvals do not exist today</a:t>
            </a:r>
            <a:endParaRPr lang="en-US" sz="1850" dirty="0"/>
          </a:p>
        </p:txBody>
      </p:sp>
      <p:sp>
        <p:nvSpPr>
          <p:cNvPr id="4" name="Text 2"/>
          <p:cNvSpPr/>
          <p:nvPr/>
        </p:nvSpPr>
        <p:spPr>
          <a:xfrm>
            <a:off x="502920" y="1371600"/>
            <a:ext cx="11183112" cy="256032"/>
          </a:xfrm>
          <a:prstGeom prst="rect">
            <a:avLst/>
          </a:prstGeom>
          <a:noFill/>
          <a:ln/>
        </p:spPr>
        <p:txBody>
          <a:bodyPr wrap="square" lIns="0" tIns="0" rIns="0" bIns="0" rtlCol="0" anchor="ctr"/>
          <a:lstStyle/>
          <a:p>
            <a:pPr indent="0" marL="0">
              <a:buNone/>
            </a:pPr>
            <a:r>
              <a:rPr lang="en-US" sz="1100" i="1" dirty="0">
                <a:solidFill>
                  <a:srgbClr val="1A1A1A"/>
                </a:solidFill>
                <a:latin typeface="Calibri" pitchFamily="34" charset="0"/>
                <a:ea typeface="Calibri" pitchFamily="34" charset="-122"/>
                <a:cs typeface="Calibri" pitchFamily="34" charset="-120"/>
              </a:rPr>
              <a:t>Surveyed live on 20 July 2026: licensed products return jira-software only; every /rest/servicedeskapi/* call returns 403.</a:t>
            </a:r>
            <a:endParaRPr lang="en-US" sz="1100" dirty="0"/>
          </a:p>
        </p:txBody>
      </p:sp>
      <p:sp>
        <p:nvSpPr>
          <p:cNvPr id="5" name="Shape 3"/>
          <p:cNvSpPr/>
          <p:nvPr/>
        </p:nvSpPr>
        <p:spPr>
          <a:xfrm>
            <a:off x="502920" y="1719072"/>
            <a:ext cx="11183112" cy="384048"/>
          </a:xfrm>
          <a:prstGeom prst="rect">
            <a:avLst/>
          </a:prstGeom>
          <a:solidFill>
            <a:srgbClr val="152A4E"/>
          </a:solidFill>
          <a:ln w="12700">
            <a:solidFill>
              <a:srgbClr val="152A4E"/>
            </a:solidFill>
            <a:prstDash val="solid"/>
          </a:ln>
        </p:spPr>
        <p:txBody>
          <a:bodyPr/>
          <a:p/>
        </p:txBody>
      </p:sp>
      <p:sp>
        <p:nvSpPr>
          <p:cNvPr id="6" name="Text 4"/>
          <p:cNvSpPr/>
          <p:nvPr/>
        </p:nvSpPr>
        <p:spPr>
          <a:xfrm>
            <a:off x="685800" y="1719072"/>
            <a:ext cx="5394960"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Capability needed by an L1/L2 tower</a:t>
            </a:r>
            <a:endParaRPr lang="en-US" sz="1000" dirty="0"/>
          </a:p>
        </p:txBody>
      </p:sp>
      <p:sp>
        <p:nvSpPr>
          <p:cNvPr id="7" name="Text 5"/>
          <p:cNvSpPr/>
          <p:nvPr/>
        </p:nvSpPr>
        <p:spPr>
          <a:xfrm>
            <a:off x="6126480" y="1719072"/>
            <a:ext cx="20574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Jira Service Management</a:t>
            </a:r>
            <a:endParaRPr lang="en-US" sz="1000" dirty="0"/>
          </a:p>
        </p:txBody>
      </p:sp>
      <p:sp>
        <p:nvSpPr>
          <p:cNvPr id="8" name="Text 6"/>
          <p:cNvSpPr/>
          <p:nvPr/>
        </p:nvSpPr>
        <p:spPr>
          <a:xfrm>
            <a:off x="8412480" y="1719072"/>
            <a:ext cx="3154680" cy="384048"/>
          </a:xfrm>
          <a:prstGeom prst="rect">
            <a:avLst/>
          </a:prstGeom>
          <a:noFill/>
          <a:ln/>
        </p:spPr>
        <p:txBody>
          <a:bodyPr wrap="square" lIns="0" tIns="0" rIns="0" bIns="0" rtlCol="0" anchor="ctr"/>
          <a:lstStyle/>
          <a:p>
            <a:pPr indent="0" marL="0">
              <a:lnSpc>
                <a:spcPts val="1250"/>
              </a:lnSpc>
              <a:buNone/>
            </a:pPr>
            <a:r>
              <a:rPr lang="en-US" sz="1000" b="1" dirty="0">
                <a:solidFill>
                  <a:srgbClr val="FFFFFF"/>
                </a:solidFill>
                <a:latin typeface="Calibri" pitchFamily="34" charset="0"/>
                <a:ea typeface="Calibri" pitchFamily="34" charset="-122"/>
                <a:cs typeface="Calibri" pitchFamily="34" charset="-120"/>
              </a:rPr>
              <a:t>Jira Software (licensed today)</a:t>
            </a:r>
            <a:endParaRPr lang="en-US" sz="1000" dirty="0"/>
          </a:p>
        </p:txBody>
      </p:sp>
      <p:sp>
        <p:nvSpPr>
          <p:cNvPr id="9" name="Shape 7"/>
          <p:cNvSpPr/>
          <p:nvPr/>
        </p:nvSpPr>
        <p:spPr>
          <a:xfrm>
            <a:off x="502920" y="2103120"/>
            <a:ext cx="11183112" cy="566928"/>
          </a:xfrm>
          <a:prstGeom prst="rect">
            <a:avLst/>
          </a:prstGeom>
          <a:solidFill>
            <a:srgbClr val="FFFFFF"/>
          </a:solidFill>
          <a:ln w="9525">
            <a:solidFill>
              <a:srgbClr val="D3DBE6"/>
            </a:solidFill>
            <a:prstDash val="solid"/>
          </a:ln>
        </p:spPr>
        <p:txBody>
          <a:bodyPr/>
          <a:p/>
        </p:txBody>
      </p:sp>
      <p:sp>
        <p:nvSpPr>
          <p:cNvPr id="10" name="Shape 8"/>
          <p:cNvSpPr/>
          <p:nvPr/>
        </p:nvSpPr>
        <p:spPr>
          <a:xfrm>
            <a:off x="8275320" y="2103120"/>
            <a:ext cx="3410712" cy="566928"/>
          </a:xfrm>
          <a:prstGeom prst="rect">
            <a:avLst/>
          </a:prstGeom>
          <a:solidFill>
            <a:srgbClr val="F7E5E3"/>
          </a:solidFill>
          <a:ln w="9525">
            <a:solidFill>
              <a:srgbClr val="D3DBE6"/>
            </a:solidFill>
            <a:prstDash val="solid"/>
          </a:ln>
        </p:spPr>
        <p:txBody>
          <a:bodyPr/>
          <a:p/>
        </p:txBody>
      </p:sp>
      <p:sp>
        <p:nvSpPr>
          <p:cNvPr id="11" name="Text 9"/>
          <p:cNvSpPr/>
          <p:nvPr/>
        </p:nvSpPr>
        <p:spPr>
          <a:xfrm>
            <a:off x="685800" y="2103120"/>
            <a:ext cx="5394960" cy="566928"/>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SLA engine — targets, pause conditions, breach clocks</a:t>
            </a:r>
            <a:endParaRPr lang="en-US" sz="1100" dirty="0"/>
          </a:p>
        </p:txBody>
      </p:sp>
      <p:sp>
        <p:nvSpPr>
          <p:cNvPr id="12" name="Text 10"/>
          <p:cNvSpPr/>
          <p:nvPr/>
        </p:nvSpPr>
        <p:spPr>
          <a:xfrm>
            <a:off x="6126480" y="2103120"/>
            <a:ext cx="2057400" cy="566928"/>
          </a:xfrm>
          <a:prstGeom prst="rect">
            <a:avLst/>
          </a:prstGeom>
          <a:noFill/>
          <a:ln/>
        </p:spPr>
        <p:txBody>
          <a:bodyPr wrap="square" lIns="0" tIns="0" rIns="0" bIns="0" rtlCol="0" anchor="ctr"/>
          <a:lstStyle/>
          <a:p>
            <a:pPr algn="ctr" indent="0" marL="0">
              <a:buNone/>
            </a:pPr>
            <a:r>
              <a:rPr lang="en-US" sz="1100" b="1" dirty="0">
                <a:solidFill>
                  <a:srgbClr val="2E6B4A"/>
                </a:solidFill>
                <a:latin typeface="Calibri" pitchFamily="34" charset="0"/>
                <a:ea typeface="Calibri" pitchFamily="34" charset="-122"/>
                <a:cs typeface="Calibri" pitchFamily="34" charset="-120"/>
              </a:rPr>
              <a:t>Native</a:t>
            </a:r>
            <a:endParaRPr lang="en-US" sz="1100" dirty="0"/>
          </a:p>
        </p:txBody>
      </p:sp>
      <p:sp>
        <p:nvSpPr>
          <p:cNvPr id="13" name="Text 11"/>
          <p:cNvSpPr/>
          <p:nvPr/>
        </p:nvSpPr>
        <p:spPr>
          <a:xfrm>
            <a:off x="8412480" y="2103120"/>
            <a:ext cx="3154680" cy="566928"/>
          </a:xfrm>
          <a:prstGeom prst="rect">
            <a:avLst/>
          </a:prstGeom>
          <a:noFill/>
          <a:ln/>
        </p:spPr>
        <p:txBody>
          <a:bodyPr wrap="square" lIns="0" tIns="0" rIns="0" bIns="0" rtlCol="0" anchor="ctr"/>
          <a:lstStyle/>
          <a:p>
            <a:pPr indent="0" marL="0">
              <a:lnSpc>
                <a:spcPts val="1250"/>
              </a:lnSpc>
              <a:buNone/>
            </a:pPr>
            <a:r>
              <a:rPr lang="en-US" sz="1000" dirty="0">
                <a:solidFill>
                  <a:srgbClr val="9E2B25"/>
                </a:solidFill>
                <a:latin typeface="Calibri" pitchFamily="34" charset="0"/>
                <a:ea typeface="Calibri" pitchFamily="34" charset="-122"/>
                <a:cs typeface="Calibri" pitchFamily="34" charset="-120"/>
              </a:rPr>
              <a:t>Absent — must be faked with automation rules and date fields</a:t>
            </a:r>
            <a:endParaRPr lang="en-US" sz="1000" dirty="0"/>
          </a:p>
        </p:txBody>
      </p:sp>
      <p:sp>
        <p:nvSpPr>
          <p:cNvPr id="14" name="Shape 12"/>
          <p:cNvSpPr/>
          <p:nvPr/>
        </p:nvSpPr>
        <p:spPr>
          <a:xfrm>
            <a:off x="502920" y="2670048"/>
            <a:ext cx="11183112" cy="566928"/>
          </a:xfrm>
          <a:prstGeom prst="rect">
            <a:avLst/>
          </a:prstGeom>
          <a:solidFill>
            <a:srgbClr val="F2F5F9"/>
          </a:solidFill>
          <a:ln w="9525">
            <a:solidFill>
              <a:srgbClr val="D3DBE6"/>
            </a:solidFill>
            <a:prstDash val="solid"/>
          </a:ln>
        </p:spPr>
        <p:txBody>
          <a:bodyPr/>
          <a:p/>
        </p:txBody>
      </p:sp>
      <p:sp>
        <p:nvSpPr>
          <p:cNvPr id="15" name="Shape 13"/>
          <p:cNvSpPr/>
          <p:nvPr/>
        </p:nvSpPr>
        <p:spPr>
          <a:xfrm>
            <a:off x="8275320" y="2670048"/>
            <a:ext cx="3410712" cy="566928"/>
          </a:xfrm>
          <a:prstGeom prst="rect">
            <a:avLst/>
          </a:prstGeom>
          <a:solidFill>
            <a:srgbClr val="F6E9E7"/>
          </a:solidFill>
          <a:ln w="9525">
            <a:solidFill>
              <a:srgbClr val="D3DBE6"/>
            </a:solidFill>
            <a:prstDash val="solid"/>
          </a:ln>
        </p:spPr>
        <p:txBody>
          <a:bodyPr/>
          <a:p/>
        </p:txBody>
      </p:sp>
      <p:sp>
        <p:nvSpPr>
          <p:cNvPr id="16" name="Text 14"/>
          <p:cNvSpPr/>
          <p:nvPr/>
        </p:nvSpPr>
        <p:spPr>
          <a:xfrm>
            <a:off x="685800" y="2670048"/>
            <a:ext cx="5394960" cy="566928"/>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Agent queues — shared, filter-driven work lists</a:t>
            </a:r>
            <a:endParaRPr lang="en-US" sz="1100" dirty="0"/>
          </a:p>
        </p:txBody>
      </p:sp>
      <p:sp>
        <p:nvSpPr>
          <p:cNvPr id="17" name="Text 15"/>
          <p:cNvSpPr/>
          <p:nvPr/>
        </p:nvSpPr>
        <p:spPr>
          <a:xfrm>
            <a:off x="6126480" y="2670048"/>
            <a:ext cx="2057400" cy="566928"/>
          </a:xfrm>
          <a:prstGeom prst="rect">
            <a:avLst/>
          </a:prstGeom>
          <a:noFill/>
          <a:ln/>
        </p:spPr>
        <p:txBody>
          <a:bodyPr wrap="square" lIns="0" tIns="0" rIns="0" bIns="0" rtlCol="0" anchor="ctr"/>
          <a:lstStyle/>
          <a:p>
            <a:pPr algn="ctr" indent="0" marL="0">
              <a:buNone/>
            </a:pPr>
            <a:r>
              <a:rPr lang="en-US" sz="1100" b="1" dirty="0">
                <a:solidFill>
                  <a:srgbClr val="2E6B4A"/>
                </a:solidFill>
                <a:latin typeface="Calibri" pitchFamily="34" charset="0"/>
                <a:ea typeface="Calibri" pitchFamily="34" charset="-122"/>
                <a:cs typeface="Calibri" pitchFamily="34" charset="-120"/>
              </a:rPr>
              <a:t>Native</a:t>
            </a:r>
            <a:endParaRPr lang="en-US" sz="1100" dirty="0"/>
          </a:p>
        </p:txBody>
      </p:sp>
      <p:sp>
        <p:nvSpPr>
          <p:cNvPr id="18" name="Text 16"/>
          <p:cNvSpPr/>
          <p:nvPr/>
        </p:nvSpPr>
        <p:spPr>
          <a:xfrm>
            <a:off x="8412480" y="2670048"/>
            <a:ext cx="3154680" cy="566928"/>
          </a:xfrm>
          <a:prstGeom prst="rect">
            <a:avLst/>
          </a:prstGeom>
          <a:noFill/>
          <a:ln/>
        </p:spPr>
        <p:txBody>
          <a:bodyPr wrap="square" lIns="0" tIns="0" rIns="0" bIns="0" rtlCol="0" anchor="ctr"/>
          <a:lstStyle/>
          <a:p>
            <a:pPr indent="0" marL="0">
              <a:lnSpc>
                <a:spcPts val="1250"/>
              </a:lnSpc>
              <a:buNone/>
            </a:pPr>
            <a:r>
              <a:rPr lang="en-US" sz="1000" dirty="0">
                <a:solidFill>
                  <a:srgbClr val="9E2B25"/>
                </a:solidFill>
                <a:latin typeface="Calibri" pitchFamily="34" charset="0"/>
                <a:ea typeface="Calibri" pitchFamily="34" charset="-122"/>
                <a:cs typeface="Calibri" pitchFamily="34" charset="-120"/>
              </a:rPr>
              <a:t>Absent — approximated with boards and filters</a:t>
            </a:r>
            <a:endParaRPr lang="en-US" sz="1000" dirty="0"/>
          </a:p>
        </p:txBody>
      </p:sp>
      <p:sp>
        <p:nvSpPr>
          <p:cNvPr id="19" name="Shape 17"/>
          <p:cNvSpPr/>
          <p:nvPr/>
        </p:nvSpPr>
        <p:spPr>
          <a:xfrm>
            <a:off x="502920" y="3236976"/>
            <a:ext cx="11183112" cy="566928"/>
          </a:xfrm>
          <a:prstGeom prst="rect">
            <a:avLst/>
          </a:prstGeom>
          <a:solidFill>
            <a:srgbClr val="FFFFFF"/>
          </a:solidFill>
          <a:ln w="9525">
            <a:solidFill>
              <a:srgbClr val="D3DBE6"/>
            </a:solidFill>
            <a:prstDash val="solid"/>
          </a:ln>
        </p:spPr>
        <p:txBody>
          <a:bodyPr/>
          <a:p/>
        </p:txBody>
      </p:sp>
      <p:sp>
        <p:nvSpPr>
          <p:cNvPr id="20" name="Shape 18"/>
          <p:cNvSpPr/>
          <p:nvPr/>
        </p:nvSpPr>
        <p:spPr>
          <a:xfrm>
            <a:off x="8275320" y="3236976"/>
            <a:ext cx="3410712" cy="566928"/>
          </a:xfrm>
          <a:prstGeom prst="rect">
            <a:avLst/>
          </a:prstGeom>
          <a:solidFill>
            <a:srgbClr val="F7E5E3"/>
          </a:solidFill>
          <a:ln w="9525">
            <a:solidFill>
              <a:srgbClr val="D3DBE6"/>
            </a:solidFill>
            <a:prstDash val="solid"/>
          </a:ln>
        </p:spPr>
        <p:txBody>
          <a:bodyPr/>
          <a:p/>
        </p:txBody>
      </p:sp>
      <p:sp>
        <p:nvSpPr>
          <p:cNvPr id="21" name="Text 19"/>
          <p:cNvSpPr/>
          <p:nvPr/>
        </p:nvSpPr>
        <p:spPr>
          <a:xfrm>
            <a:off x="685800" y="3236976"/>
            <a:ext cx="5394960" cy="566928"/>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Customer portal and email intake → ticket</a:t>
            </a:r>
            <a:endParaRPr lang="en-US" sz="1100" dirty="0"/>
          </a:p>
        </p:txBody>
      </p:sp>
      <p:sp>
        <p:nvSpPr>
          <p:cNvPr id="22" name="Text 20"/>
          <p:cNvSpPr/>
          <p:nvPr/>
        </p:nvSpPr>
        <p:spPr>
          <a:xfrm>
            <a:off x="6126480" y="3236976"/>
            <a:ext cx="2057400" cy="566928"/>
          </a:xfrm>
          <a:prstGeom prst="rect">
            <a:avLst/>
          </a:prstGeom>
          <a:noFill/>
          <a:ln/>
        </p:spPr>
        <p:txBody>
          <a:bodyPr wrap="square" lIns="0" tIns="0" rIns="0" bIns="0" rtlCol="0" anchor="ctr"/>
          <a:lstStyle/>
          <a:p>
            <a:pPr algn="ctr" indent="0" marL="0">
              <a:buNone/>
            </a:pPr>
            <a:r>
              <a:rPr lang="en-US" sz="1100" b="1" dirty="0">
                <a:solidFill>
                  <a:srgbClr val="2E6B4A"/>
                </a:solidFill>
                <a:latin typeface="Calibri" pitchFamily="34" charset="0"/>
                <a:ea typeface="Calibri" pitchFamily="34" charset="-122"/>
                <a:cs typeface="Calibri" pitchFamily="34" charset="-120"/>
              </a:rPr>
              <a:t>Native</a:t>
            </a:r>
            <a:endParaRPr lang="en-US" sz="1100" dirty="0"/>
          </a:p>
        </p:txBody>
      </p:sp>
      <p:sp>
        <p:nvSpPr>
          <p:cNvPr id="23" name="Text 21"/>
          <p:cNvSpPr/>
          <p:nvPr/>
        </p:nvSpPr>
        <p:spPr>
          <a:xfrm>
            <a:off x="8412480" y="3236976"/>
            <a:ext cx="3154680" cy="566928"/>
          </a:xfrm>
          <a:prstGeom prst="rect">
            <a:avLst/>
          </a:prstGeom>
          <a:noFill/>
          <a:ln/>
        </p:spPr>
        <p:txBody>
          <a:bodyPr wrap="square" lIns="0" tIns="0" rIns="0" bIns="0" rtlCol="0" anchor="ctr"/>
          <a:lstStyle/>
          <a:p>
            <a:pPr indent="0" marL="0">
              <a:lnSpc>
                <a:spcPts val="1250"/>
              </a:lnSpc>
              <a:buNone/>
            </a:pPr>
            <a:r>
              <a:rPr lang="en-US" sz="1000" dirty="0">
                <a:solidFill>
                  <a:srgbClr val="9E2B25"/>
                </a:solidFill>
                <a:latin typeface="Calibri" pitchFamily="34" charset="0"/>
                <a:ea typeface="Calibri" pitchFamily="34" charset="-122"/>
                <a:cs typeface="Calibri" pitchFamily="34" charset="-120"/>
              </a:rPr>
              <a:t>Absent — no portal; email intake is limited</a:t>
            </a:r>
            <a:endParaRPr lang="en-US" sz="1000" dirty="0"/>
          </a:p>
        </p:txBody>
      </p:sp>
      <p:sp>
        <p:nvSpPr>
          <p:cNvPr id="24" name="Shape 22"/>
          <p:cNvSpPr/>
          <p:nvPr/>
        </p:nvSpPr>
        <p:spPr>
          <a:xfrm>
            <a:off x="502920" y="3803904"/>
            <a:ext cx="11183112" cy="566928"/>
          </a:xfrm>
          <a:prstGeom prst="rect">
            <a:avLst/>
          </a:prstGeom>
          <a:solidFill>
            <a:srgbClr val="F2F5F9"/>
          </a:solidFill>
          <a:ln w="9525">
            <a:solidFill>
              <a:srgbClr val="D3DBE6"/>
            </a:solidFill>
            <a:prstDash val="solid"/>
          </a:ln>
        </p:spPr>
        <p:txBody>
          <a:bodyPr/>
          <a:p/>
        </p:txBody>
      </p:sp>
      <p:sp>
        <p:nvSpPr>
          <p:cNvPr id="25" name="Shape 23"/>
          <p:cNvSpPr/>
          <p:nvPr/>
        </p:nvSpPr>
        <p:spPr>
          <a:xfrm>
            <a:off x="8275320" y="3803904"/>
            <a:ext cx="3410712" cy="566928"/>
          </a:xfrm>
          <a:prstGeom prst="rect">
            <a:avLst/>
          </a:prstGeom>
          <a:solidFill>
            <a:srgbClr val="F6E9E7"/>
          </a:solidFill>
          <a:ln w="9525">
            <a:solidFill>
              <a:srgbClr val="D3DBE6"/>
            </a:solidFill>
            <a:prstDash val="solid"/>
          </a:ln>
        </p:spPr>
        <p:txBody>
          <a:bodyPr/>
          <a:p/>
        </p:txBody>
      </p:sp>
      <p:sp>
        <p:nvSpPr>
          <p:cNvPr id="26" name="Text 24"/>
          <p:cNvSpPr/>
          <p:nvPr/>
        </p:nvSpPr>
        <p:spPr>
          <a:xfrm>
            <a:off x="685800" y="3803904"/>
            <a:ext cx="5394960" cy="566928"/>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Approvals for access and change requests</a:t>
            </a:r>
            <a:endParaRPr lang="en-US" sz="1100" dirty="0"/>
          </a:p>
        </p:txBody>
      </p:sp>
      <p:sp>
        <p:nvSpPr>
          <p:cNvPr id="27" name="Text 25"/>
          <p:cNvSpPr/>
          <p:nvPr/>
        </p:nvSpPr>
        <p:spPr>
          <a:xfrm>
            <a:off x="6126480" y="3803904"/>
            <a:ext cx="2057400" cy="566928"/>
          </a:xfrm>
          <a:prstGeom prst="rect">
            <a:avLst/>
          </a:prstGeom>
          <a:noFill/>
          <a:ln/>
        </p:spPr>
        <p:txBody>
          <a:bodyPr wrap="square" lIns="0" tIns="0" rIns="0" bIns="0" rtlCol="0" anchor="ctr"/>
          <a:lstStyle/>
          <a:p>
            <a:pPr algn="ctr" indent="0" marL="0">
              <a:buNone/>
            </a:pPr>
            <a:r>
              <a:rPr lang="en-US" sz="1100" b="1" dirty="0">
                <a:solidFill>
                  <a:srgbClr val="2E6B4A"/>
                </a:solidFill>
                <a:latin typeface="Calibri" pitchFamily="34" charset="0"/>
                <a:ea typeface="Calibri" pitchFamily="34" charset="-122"/>
                <a:cs typeface="Calibri" pitchFamily="34" charset="-120"/>
              </a:rPr>
              <a:t>Native</a:t>
            </a:r>
            <a:endParaRPr lang="en-US" sz="1100" dirty="0"/>
          </a:p>
        </p:txBody>
      </p:sp>
      <p:sp>
        <p:nvSpPr>
          <p:cNvPr id="28" name="Text 26"/>
          <p:cNvSpPr/>
          <p:nvPr/>
        </p:nvSpPr>
        <p:spPr>
          <a:xfrm>
            <a:off x="8412480" y="3803904"/>
            <a:ext cx="3154680" cy="566928"/>
          </a:xfrm>
          <a:prstGeom prst="rect">
            <a:avLst/>
          </a:prstGeom>
          <a:noFill/>
          <a:ln/>
        </p:spPr>
        <p:txBody>
          <a:bodyPr wrap="square" lIns="0" tIns="0" rIns="0" bIns="0" rtlCol="0" anchor="ctr"/>
          <a:lstStyle/>
          <a:p>
            <a:pPr indent="0" marL="0">
              <a:lnSpc>
                <a:spcPts val="1250"/>
              </a:lnSpc>
              <a:buNone/>
            </a:pPr>
            <a:r>
              <a:rPr lang="en-US" sz="1000" dirty="0">
                <a:solidFill>
                  <a:srgbClr val="9E2B25"/>
                </a:solidFill>
                <a:latin typeface="Calibri" pitchFamily="34" charset="0"/>
                <a:ea typeface="Calibri" pitchFamily="34" charset="-122"/>
                <a:cs typeface="Calibri" pitchFamily="34" charset="-120"/>
              </a:rPr>
              <a:t>Absent — workflow hack</a:t>
            </a:r>
            <a:endParaRPr lang="en-US" sz="1000" dirty="0"/>
          </a:p>
        </p:txBody>
      </p:sp>
      <p:sp>
        <p:nvSpPr>
          <p:cNvPr id="29" name="Shape 27"/>
          <p:cNvSpPr/>
          <p:nvPr/>
        </p:nvSpPr>
        <p:spPr>
          <a:xfrm>
            <a:off x="502920" y="4370832"/>
            <a:ext cx="11183112" cy="566928"/>
          </a:xfrm>
          <a:prstGeom prst="rect">
            <a:avLst/>
          </a:prstGeom>
          <a:solidFill>
            <a:srgbClr val="FFFFFF"/>
          </a:solidFill>
          <a:ln w="9525">
            <a:solidFill>
              <a:srgbClr val="D3DBE6"/>
            </a:solidFill>
            <a:prstDash val="solid"/>
          </a:ln>
        </p:spPr>
        <p:txBody>
          <a:bodyPr/>
          <a:p/>
        </p:txBody>
      </p:sp>
      <p:sp>
        <p:nvSpPr>
          <p:cNvPr id="30" name="Shape 28"/>
          <p:cNvSpPr/>
          <p:nvPr/>
        </p:nvSpPr>
        <p:spPr>
          <a:xfrm>
            <a:off x="8275320" y="4370832"/>
            <a:ext cx="3410712" cy="566928"/>
          </a:xfrm>
          <a:prstGeom prst="rect">
            <a:avLst/>
          </a:prstGeom>
          <a:solidFill>
            <a:srgbClr val="F7E5E3"/>
          </a:solidFill>
          <a:ln w="9525">
            <a:solidFill>
              <a:srgbClr val="D3DBE6"/>
            </a:solidFill>
            <a:prstDash val="solid"/>
          </a:ln>
        </p:spPr>
        <p:txBody>
          <a:bodyPr/>
          <a:p/>
        </p:txBody>
      </p:sp>
      <p:sp>
        <p:nvSpPr>
          <p:cNvPr id="31" name="Text 29"/>
          <p:cNvSpPr/>
          <p:nvPr/>
        </p:nvSpPr>
        <p:spPr>
          <a:xfrm>
            <a:off x="685800" y="4370832"/>
            <a:ext cx="5394960" cy="566928"/>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Request types — portal-facing forms</a:t>
            </a:r>
            <a:endParaRPr lang="en-US" sz="1100" dirty="0"/>
          </a:p>
        </p:txBody>
      </p:sp>
      <p:sp>
        <p:nvSpPr>
          <p:cNvPr id="32" name="Text 30"/>
          <p:cNvSpPr/>
          <p:nvPr/>
        </p:nvSpPr>
        <p:spPr>
          <a:xfrm>
            <a:off x="6126480" y="4370832"/>
            <a:ext cx="2057400" cy="566928"/>
          </a:xfrm>
          <a:prstGeom prst="rect">
            <a:avLst/>
          </a:prstGeom>
          <a:noFill/>
          <a:ln/>
        </p:spPr>
        <p:txBody>
          <a:bodyPr wrap="square" lIns="0" tIns="0" rIns="0" bIns="0" rtlCol="0" anchor="ctr"/>
          <a:lstStyle/>
          <a:p>
            <a:pPr algn="ctr" indent="0" marL="0">
              <a:buNone/>
            </a:pPr>
            <a:r>
              <a:rPr lang="en-US" sz="1100" b="1" dirty="0">
                <a:solidFill>
                  <a:srgbClr val="2E6B4A"/>
                </a:solidFill>
                <a:latin typeface="Calibri" pitchFamily="34" charset="0"/>
                <a:ea typeface="Calibri" pitchFamily="34" charset="-122"/>
                <a:cs typeface="Calibri" pitchFamily="34" charset="-120"/>
              </a:rPr>
              <a:t>Native</a:t>
            </a:r>
            <a:endParaRPr lang="en-US" sz="1100" dirty="0"/>
          </a:p>
        </p:txBody>
      </p:sp>
      <p:sp>
        <p:nvSpPr>
          <p:cNvPr id="33" name="Text 31"/>
          <p:cNvSpPr/>
          <p:nvPr/>
        </p:nvSpPr>
        <p:spPr>
          <a:xfrm>
            <a:off x="8412480" y="4370832"/>
            <a:ext cx="3154680" cy="566928"/>
          </a:xfrm>
          <a:prstGeom prst="rect">
            <a:avLst/>
          </a:prstGeom>
          <a:noFill/>
          <a:ln/>
        </p:spPr>
        <p:txBody>
          <a:bodyPr wrap="square" lIns="0" tIns="0" rIns="0" bIns="0" rtlCol="0" anchor="ctr"/>
          <a:lstStyle/>
          <a:p>
            <a:pPr indent="0" marL="0">
              <a:lnSpc>
                <a:spcPts val="1250"/>
              </a:lnSpc>
              <a:buNone/>
            </a:pPr>
            <a:r>
              <a:rPr lang="en-US" sz="1000" dirty="0">
                <a:solidFill>
                  <a:srgbClr val="9E2B25"/>
                </a:solidFill>
                <a:latin typeface="Calibri" pitchFamily="34" charset="0"/>
                <a:ea typeface="Calibri" pitchFamily="34" charset="-122"/>
                <a:cs typeface="Calibri" pitchFamily="34" charset="-120"/>
              </a:rPr>
              <a:t>Absent — issue types only</a:t>
            </a:r>
            <a:endParaRPr lang="en-US" sz="1000" dirty="0"/>
          </a:p>
        </p:txBody>
      </p:sp>
      <p:sp>
        <p:nvSpPr>
          <p:cNvPr id="34" name="Shape 32"/>
          <p:cNvSpPr/>
          <p:nvPr/>
        </p:nvSpPr>
        <p:spPr>
          <a:xfrm>
            <a:off x="502920" y="5029200"/>
            <a:ext cx="11183112" cy="1042416"/>
          </a:xfrm>
          <a:prstGeom prst="roundRect">
            <a:avLst>
              <a:gd name="adj" fmla="val 5263"/>
            </a:avLst>
          </a:prstGeom>
          <a:solidFill>
            <a:srgbClr val="D9EAE9"/>
          </a:solidFill>
          <a:ln w="12700">
            <a:solidFill>
              <a:srgbClr val="A9CFCD"/>
            </a:solidFill>
            <a:prstDash val="solid"/>
          </a:ln>
          <a:effectLst>
            <a:outerShdw sx="100000" sy="100000" kx="0" ky="0" algn="bl" rotWithShape="0" blurRad="76200" dist="12700" dir="5400000">
              <a:srgbClr val="9AA7BA">
                <a:alpha val="22000"/>
              </a:srgbClr>
            </a:outerShdw>
          </a:effectLst>
        </p:spPr>
        <p:txBody>
          <a:bodyPr/>
          <a:p/>
        </p:txBody>
      </p:sp>
      <p:sp>
        <p:nvSpPr>
          <p:cNvPr id="35" name="Text 33"/>
          <p:cNvSpPr/>
          <p:nvPr/>
        </p:nvSpPr>
        <p:spPr>
          <a:xfrm>
            <a:off x="758952" y="5120640"/>
            <a:ext cx="10698480" cy="274320"/>
          </a:xfrm>
          <a:prstGeom prst="rect">
            <a:avLst/>
          </a:prstGeom>
          <a:noFill/>
          <a:ln/>
        </p:spPr>
        <p:txBody>
          <a:bodyPr wrap="square" lIns="0" tIns="0" rIns="0" bIns="0" rtlCol="0" anchor="ctr"/>
          <a:lstStyle/>
          <a:p>
            <a:pPr indent="0" marL="0">
              <a:buNone/>
            </a:pPr>
            <a:r>
              <a:rPr lang="en-US" sz="1250" b="1" dirty="0">
                <a:solidFill>
                  <a:srgbClr val="152A4E"/>
                </a:solidFill>
                <a:latin typeface="Calibri" pitchFamily="34" charset="0"/>
                <a:ea typeface="Calibri" pitchFamily="34" charset="-122"/>
                <a:cs typeface="Calibri" pitchFamily="34" charset="-120"/>
              </a:rPr>
              <a:t>Recommendation: provision JSM — the free tier covers 3 agents and includes the full SLA engine</a:t>
            </a:r>
            <a:endParaRPr lang="en-US" sz="1250" dirty="0"/>
          </a:p>
        </p:txBody>
      </p:sp>
      <p:sp>
        <p:nvSpPr>
          <p:cNvPr id="36" name="Text 34"/>
          <p:cNvSpPr/>
          <p:nvPr/>
        </p:nvSpPr>
        <p:spPr>
          <a:xfrm>
            <a:off x="758952" y="5413248"/>
            <a:ext cx="10698480" cy="566928"/>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That is enough to build and prove the entire design before anyone signs a purchase order. If it must stay on Jira Software, the design still holds — but the SLA clock becomes hand-rolled automation, which is the most brittle possible foundation and the first thing a sceptical audience will poke at.</a:t>
            </a:r>
            <a:endParaRPr lang="en-US" sz="1050" dirty="0"/>
          </a:p>
        </p:txBody>
      </p:sp>
      <p:sp>
        <p:nvSpPr>
          <p:cNvPr id="37" name="Text 35"/>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live survey of the Jira Cloud instance, 20 July 2026 (PLAN.md §1–§2)</a:t>
            </a:r>
            <a:endParaRPr lang="en-US" sz="850" dirty="0"/>
          </a:p>
        </p:txBody>
      </p:sp>
      <p:sp>
        <p:nvSpPr>
          <p:cNvPr id="38" name="Text 36"/>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DELIVERY PLAN</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Eight phases reach full rollout in about eight weeks, with the two-week single-tower pilot as the point where SLA targets and the escalation gate get tuned</a:t>
            </a:r>
            <a:endParaRPr lang="en-US" sz="1850" dirty="0"/>
          </a:p>
        </p:txBody>
      </p:sp>
      <p:sp>
        <p:nvSpPr>
          <p:cNvPr id="4" name="Shape 2"/>
          <p:cNvSpPr/>
          <p:nvPr/>
        </p:nvSpPr>
        <p:spPr>
          <a:xfrm>
            <a:off x="4572000" y="1426464"/>
            <a:ext cx="889254" cy="274320"/>
          </a:xfrm>
          <a:prstGeom prst="rect">
            <a:avLst/>
          </a:prstGeom>
          <a:solidFill>
            <a:srgbClr val="F2F5F9"/>
          </a:solidFill>
          <a:ln w="9525">
            <a:solidFill>
              <a:srgbClr val="D3DBE6"/>
            </a:solidFill>
            <a:prstDash val="solid"/>
          </a:ln>
        </p:spPr>
        <p:txBody>
          <a:bodyPr/>
          <a:p/>
        </p:txBody>
      </p:sp>
      <p:sp>
        <p:nvSpPr>
          <p:cNvPr id="5" name="Text 3"/>
          <p:cNvSpPr/>
          <p:nvPr/>
        </p:nvSpPr>
        <p:spPr>
          <a:xfrm>
            <a:off x="4572000" y="1426464"/>
            <a:ext cx="889254" cy="274320"/>
          </a:xfrm>
          <a:prstGeom prst="rect">
            <a:avLst/>
          </a:prstGeom>
          <a:noFill/>
          <a:ln/>
        </p:spPr>
        <p:txBody>
          <a:bodyPr wrap="square" lIns="0" tIns="0" rIns="0" bIns="0" rtlCol="0" anchor="ctr"/>
          <a:lstStyle/>
          <a:p>
            <a:pPr algn="ctr" indent="0" marL="0">
              <a:buNone/>
            </a:pPr>
            <a:r>
              <a:rPr lang="en-US" sz="900" b="1" dirty="0">
                <a:solidFill>
                  <a:srgbClr val="6B7280"/>
                </a:solidFill>
                <a:latin typeface="Calibri" pitchFamily="34" charset="0"/>
                <a:ea typeface="Calibri" pitchFamily="34" charset="-122"/>
                <a:cs typeface="Calibri" pitchFamily="34" charset="-120"/>
              </a:rPr>
              <a:t>W1</a:t>
            </a:r>
            <a:endParaRPr lang="en-US" sz="900" dirty="0"/>
          </a:p>
        </p:txBody>
      </p:sp>
      <p:sp>
        <p:nvSpPr>
          <p:cNvPr id="6" name="Shape 4"/>
          <p:cNvSpPr/>
          <p:nvPr/>
        </p:nvSpPr>
        <p:spPr>
          <a:xfrm>
            <a:off x="5461254" y="1426464"/>
            <a:ext cx="889254" cy="274320"/>
          </a:xfrm>
          <a:prstGeom prst="rect">
            <a:avLst/>
          </a:prstGeom>
          <a:solidFill>
            <a:srgbClr val="F2F5F9"/>
          </a:solidFill>
          <a:ln w="9525">
            <a:solidFill>
              <a:srgbClr val="D3DBE6"/>
            </a:solidFill>
            <a:prstDash val="solid"/>
          </a:ln>
        </p:spPr>
        <p:txBody>
          <a:bodyPr/>
          <a:p/>
        </p:txBody>
      </p:sp>
      <p:sp>
        <p:nvSpPr>
          <p:cNvPr id="7" name="Text 5"/>
          <p:cNvSpPr/>
          <p:nvPr/>
        </p:nvSpPr>
        <p:spPr>
          <a:xfrm>
            <a:off x="5461254" y="1426464"/>
            <a:ext cx="889254" cy="274320"/>
          </a:xfrm>
          <a:prstGeom prst="rect">
            <a:avLst/>
          </a:prstGeom>
          <a:noFill/>
          <a:ln/>
        </p:spPr>
        <p:txBody>
          <a:bodyPr wrap="square" lIns="0" tIns="0" rIns="0" bIns="0" rtlCol="0" anchor="ctr"/>
          <a:lstStyle/>
          <a:p>
            <a:pPr algn="ctr" indent="0" marL="0">
              <a:buNone/>
            </a:pPr>
            <a:r>
              <a:rPr lang="en-US" sz="900" b="1" dirty="0">
                <a:solidFill>
                  <a:srgbClr val="6B7280"/>
                </a:solidFill>
                <a:latin typeface="Calibri" pitchFamily="34" charset="0"/>
                <a:ea typeface="Calibri" pitchFamily="34" charset="-122"/>
                <a:cs typeface="Calibri" pitchFamily="34" charset="-120"/>
              </a:rPr>
              <a:t>W2</a:t>
            </a:r>
            <a:endParaRPr lang="en-US" sz="900" dirty="0"/>
          </a:p>
        </p:txBody>
      </p:sp>
      <p:sp>
        <p:nvSpPr>
          <p:cNvPr id="8" name="Shape 6"/>
          <p:cNvSpPr/>
          <p:nvPr/>
        </p:nvSpPr>
        <p:spPr>
          <a:xfrm>
            <a:off x="6350508" y="1426464"/>
            <a:ext cx="889254" cy="274320"/>
          </a:xfrm>
          <a:prstGeom prst="rect">
            <a:avLst/>
          </a:prstGeom>
          <a:solidFill>
            <a:srgbClr val="F2F5F9"/>
          </a:solidFill>
          <a:ln w="9525">
            <a:solidFill>
              <a:srgbClr val="D3DBE6"/>
            </a:solidFill>
            <a:prstDash val="solid"/>
          </a:ln>
        </p:spPr>
        <p:txBody>
          <a:bodyPr/>
          <a:p/>
        </p:txBody>
      </p:sp>
      <p:sp>
        <p:nvSpPr>
          <p:cNvPr id="9" name="Text 7"/>
          <p:cNvSpPr/>
          <p:nvPr/>
        </p:nvSpPr>
        <p:spPr>
          <a:xfrm>
            <a:off x="6350508" y="1426464"/>
            <a:ext cx="889254" cy="274320"/>
          </a:xfrm>
          <a:prstGeom prst="rect">
            <a:avLst/>
          </a:prstGeom>
          <a:noFill/>
          <a:ln/>
        </p:spPr>
        <p:txBody>
          <a:bodyPr wrap="square" lIns="0" tIns="0" rIns="0" bIns="0" rtlCol="0" anchor="ctr"/>
          <a:lstStyle/>
          <a:p>
            <a:pPr algn="ctr" indent="0" marL="0">
              <a:buNone/>
            </a:pPr>
            <a:r>
              <a:rPr lang="en-US" sz="900" b="1" dirty="0">
                <a:solidFill>
                  <a:srgbClr val="6B7280"/>
                </a:solidFill>
                <a:latin typeface="Calibri" pitchFamily="34" charset="0"/>
                <a:ea typeface="Calibri" pitchFamily="34" charset="-122"/>
                <a:cs typeface="Calibri" pitchFamily="34" charset="-120"/>
              </a:rPr>
              <a:t>W3</a:t>
            </a:r>
            <a:endParaRPr lang="en-US" sz="900" dirty="0"/>
          </a:p>
        </p:txBody>
      </p:sp>
      <p:sp>
        <p:nvSpPr>
          <p:cNvPr id="10" name="Shape 8"/>
          <p:cNvSpPr/>
          <p:nvPr/>
        </p:nvSpPr>
        <p:spPr>
          <a:xfrm>
            <a:off x="7239762" y="1426464"/>
            <a:ext cx="889254" cy="274320"/>
          </a:xfrm>
          <a:prstGeom prst="rect">
            <a:avLst/>
          </a:prstGeom>
          <a:solidFill>
            <a:srgbClr val="F2F5F9"/>
          </a:solidFill>
          <a:ln w="9525">
            <a:solidFill>
              <a:srgbClr val="D3DBE6"/>
            </a:solidFill>
            <a:prstDash val="solid"/>
          </a:ln>
        </p:spPr>
        <p:txBody>
          <a:bodyPr/>
          <a:p/>
        </p:txBody>
      </p:sp>
      <p:sp>
        <p:nvSpPr>
          <p:cNvPr id="11" name="Text 9"/>
          <p:cNvSpPr/>
          <p:nvPr/>
        </p:nvSpPr>
        <p:spPr>
          <a:xfrm>
            <a:off x="7239762" y="1426464"/>
            <a:ext cx="889254" cy="274320"/>
          </a:xfrm>
          <a:prstGeom prst="rect">
            <a:avLst/>
          </a:prstGeom>
          <a:noFill/>
          <a:ln/>
        </p:spPr>
        <p:txBody>
          <a:bodyPr wrap="square" lIns="0" tIns="0" rIns="0" bIns="0" rtlCol="0" anchor="ctr"/>
          <a:lstStyle/>
          <a:p>
            <a:pPr algn="ctr" indent="0" marL="0">
              <a:buNone/>
            </a:pPr>
            <a:r>
              <a:rPr lang="en-US" sz="900" b="1" dirty="0">
                <a:solidFill>
                  <a:srgbClr val="6B7280"/>
                </a:solidFill>
                <a:latin typeface="Calibri" pitchFamily="34" charset="0"/>
                <a:ea typeface="Calibri" pitchFamily="34" charset="-122"/>
                <a:cs typeface="Calibri" pitchFamily="34" charset="-120"/>
              </a:rPr>
              <a:t>W4</a:t>
            </a:r>
            <a:endParaRPr lang="en-US" sz="900" dirty="0"/>
          </a:p>
        </p:txBody>
      </p:sp>
      <p:sp>
        <p:nvSpPr>
          <p:cNvPr id="12" name="Shape 10"/>
          <p:cNvSpPr/>
          <p:nvPr/>
        </p:nvSpPr>
        <p:spPr>
          <a:xfrm>
            <a:off x="8129016" y="1426464"/>
            <a:ext cx="889254" cy="274320"/>
          </a:xfrm>
          <a:prstGeom prst="rect">
            <a:avLst/>
          </a:prstGeom>
          <a:solidFill>
            <a:srgbClr val="F2F5F9"/>
          </a:solidFill>
          <a:ln w="9525">
            <a:solidFill>
              <a:srgbClr val="D3DBE6"/>
            </a:solidFill>
            <a:prstDash val="solid"/>
          </a:ln>
        </p:spPr>
        <p:txBody>
          <a:bodyPr/>
          <a:p/>
        </p:txBody>
      </p:sp>
      <p:sp>
        <p:nvSpPr>
          <p:cNvPr id="13" name="Text 11"/>
          <p:cNvSpPr/>
          <p:nvPr/>
        </p:nvSpPr>
        <p:spPr>
          <a:xfrm>
            <a:off x="8129016" y="1426464"/>
            <a:ext cx="889254" cy="274320"/>
          </a:xfrm>
          <a:prstGeom prst="rect">
            <a:avLst/>
          </a:prstGeom>
          <a:noFill/>
          <a:ln/>
        </p:spPr>
        <p:txBody>
          <a:bodyPr wrap="square" lIns="0" tIns="0" rIns="0" bIns="0" rtlCol="0" anchor="ctr"/>
          <a:lstStyle/>
          <a:p>
            <a:pPr algn="ctr" indent="0" marL="0">
              <a:buNone/>
            </a:pPr>
            <a:r>
              <a:rPr lang="en-US" sz="900" b="1" dirty="0">
                <a:solidFill>
                  <a:srgbClr val="6B7280"/>
                </a:solidFill>
                <a:latin typeface="Calibri" pitchFamily="34" charset="0"/>
                <a:ea typeface="Calibri" pitchFamily="34" charset="-122"/>
                <a:cs typeface="Calibri" pitchFamily="34" charset="-120"/>
              </a:rPr>
              <a:t>W5</a:t>
            </a:r>
            <a:endParaRPr lang="en-US" sz="900" dirty="0"/>
          </a:p>
        </p:txBody>
      </p:sp>
      <p:sp>
        <p:nvSpPr>
          <p:cNvPr id="14" name="Shape 12"/>
          <p:cNvSpPr/>
          <p:nvPr/>
        </p:nvSpPr>
        <p:spPr>
          <a:xfrm>
            <a:off x="9018270" y="1426464"/>
            <a:ext cx="889254" cy="274320"/>
          </a:xfrm>
          <a:prstGeom prst="rect">
            <a:avLst/>
          </a:prstGeom>
          <a:solidFill>
            <a:srgbClr val="F2F5F9"/>
          </a:solidFill>
          <a:ln w="9525">
            <a:solidFill>
              <a:srgbClr val="D3DBE6"/>
            </a:solidFill>
            <a:prstDash val="solid"/>
          </a:ln>
        </p:spPr>
        <p:txBody>
          <a:bodyPr/>
          <a:p/>
        </p:txBody>
      </p:sp>
      <p:sp>
        <p:nvSpPr>
          <p:cNvPr id="15" name="Text 13"/>
          <p:cNvSpPr/>
          <p:nvPr/>
        </p:nvSpPr>
        <p:spPr>
          <a:xfrm>
            <a:off x="9018270" y="1426464"/>
            <a:ext cx="889254" cy="274320"/>
          </a:xfrm>
          <a:prstGeom prst="rect">
            <a:avLst/>
          </a:prstGeom>
          <a:noFill/>
          <a:ln/>
        </p:spPr>
        <p:txBody>
          <a:bodyPr wrap="square" lIns="0" tIns="0" rIns="0" bIns="0" rtlCol="0" anchor="ctr"/>
          <a:lstStyle/>
          <a:p>
            <a:pPr algn="ctr" indent="0" marL="0">
              <a:buNone/>
            </a:pPr>
            <a:r>
              <a:rPr lang="en-US" sz="900" b="1" dirty="0">
                <a:solidFill>
                  <a:srgbClr val="6B7280"/>
                </a:solidFill>
                <a:latin typeface="Calibri" pitchFamily="34" charset="0"/>
                <a:ea typeface="Calibri" pitchFamily="34" charset="-122"/>
                <a:cs typeface="Calibri" pitchFamily="34" charset="-120"/>
              </a:rPr>
              <a:t>W6</a:t>
            </a:r>
            <a:endParaRPr lang="en-US" sz="900" dirty="0"/>
          </a:p>
        </p:txBody>
      </p:sp>
      <p:sp>
        <p:nvSpPr>
          <p:cNvPr id="16" name="Shape 14"/>
          <p:cNvSpPr/>
          <p:nvPr/>
        </p:nvSpPr>
        <p:spPr>
          <a:xfrm>
            <a:off x="9907524" y="1426464"/>
            <a:ext cx="889254" cy="274320"/>
          </a:xfrm>
          <a:prstGeom prst="rect">
            <a:avLst/>
          </a:prstGeom>
          <a:solidFill>
            <a:srgbClr val="F2F5F9"/>
          </a:solidFill>
          <a:ln w="9525">
            <a:solidFill>
              <a:srgbClr val="D3DBE6"/>
            </a:solidFill>
            <a:prstDash val="solid"/>
          </a:ln>
        </p:spPr>
        <p:txBody>
          <a:bodyPr/>
          <a:p/>
        </p:txBody>
      </p:sp>
      <p:sp>
        <p:nvSpPr>
          <p:cNvPr id="17" name="Text 15"/>
          <p:cNvSpPr/>
          <p:nvPr/>
        </p:nvSpPr>
        <p:spPr>
          <a:xfrm>
            <a:off x="9907524" y="1426464"/>
            <a:ext cx="889254" cy="274320"/>
          </a:xfrm>
          <a:prstGeom prst="rect">
            <a:avLst/>
          </a:prstGeom>
          <a:noFill/>
          <a:ln/>
        </p:spPr>
        <p:txBody>
          <a:bodyPr wrap="square" lIns="0" tIns="0" rIns="0" bIns="0" rtlCol="0" anchor="ctr"/>
          <a:lstStyle/>
          <a:p>
            <a:pPr algn="ctr" indent="0" marL="0">
              <a:buNone/>
            </a:pPr>
            <a:r>
              <a:rPr lang="en-US" sz="900" b="1" dirty="0">
                <a:solidFill>
                  <a:srgbClr val="6B7280"/>
                </a:solidFill>
                <a:latin typeface="Calibri" pitchFamily="34" charset="0"/>
                <a:ea typeface="Calibri" pitchFamily="34" charset="-122"/>
                <a:cs typeface="Calibri" pitchFamily="34" charset="-120"/>
              </a:rPr>
              <a:t>W7</a:t>
            </a:r>
            <a:endParaRPr lang="en-US" sz="900" dirty="0"/>
          </a:p>
        </p:txBody>
      </p:sp>
      <p:sp>
        <p:nvSpPr>
          <p:cNvPr id="18" name="Shape 16"/>
          <p:cNvSpPr/>
          <p:nvPr/>
        </p:nvSpPr>
        <p:spPr>
          <a:xfrm>
            <a:off x="10796778" y="1426464"/>
            <a:ext cx="889254" cy="274320"/>
          </a:xfrm>
          <a:prstGeom prst="rect">
            <a:avLst/>
          </a:prstGeom>
          <a:solidFill>
            <a:srgbClr val="F2F5F9"/>
          </a:solidFill>
          <a:ln w="9525">
            <a:solidFill>
              <a:srgbClr val="D3DBE6"/>
            </a:solidFill>
            <a:prstDash val="solid"/>
          </a:ln>
        </p:spPr>
        <p:txBody>
          <a:bodyPr/>
          <a:p/>
        </p:txBody>
      </p:sp>
      <p:sp>
        <p:nvSpPr>
          <p:cNvPr id="19" name="Text 17"/>
          <p:cNvSpPr/>
          <p:nvPr/>
        </p:nvSpPr>
        <p:spPr>
          <a:xfrm>
            <a:off x="10796778" y="1426464"/>
            <a:ext cx="889254" cy="274320"/>
          </a:xfrm>
          <a:prstGeom prst="rect">
            <a:avLst/>
          </a:prstGeom>
          <a:noFill/>
          <a:ln/>
        </p:spPr>
        <p:txBody>
          <a:bodyPr wrap="square" lIns="0" tIns="0" rIns="0" bIns="0" rtlCol="0" anchor="ctr"/>
          <a:lstStyle/>
          <a:p>
            <a:pPr algn="ctr" indent="0" marL="0">
              <a:buNone/>
            </a:pPr>
            <a:r>
              <a:rPr lang="en-US" sz="900" b="1" dirty="0">
                <a:solidFill>
                  <a:srgbClr val="6B7280"/>
                </a:solidFill>
                <a:latin typeface="Calibri" pitchFamily="34" charset="0"/>
                <a:ea typeface="Calibri" pitchFamily="34" charset="-122"/>
                <a:cs typeface="Calibri" pitchFamily="34" charset="-120"/>
              </a:rPr>
              <a:t>W8</a:t>
            </a:r>
            <a:endParaRPr lang="en-US" sz="900" dirty="0"/>
          </a:p>
        </p:txBody>
      </p:sp>
      <p:sp>
        <p:nvSpPr>
          <p:cNvPr id="20" name="Shape 18"/>
          <p:cNvSpPr/>
          <p:nvPr/>
        </p:nvSpPr>
        <p:spPr>
          <a:xfrm>
            <a:off x="502920" y="1737360"/>
            <a:ext cx="237744" cy="256032"/>
          </a:xfrm>
          <a:prstGeom prst="roundRect">
            <a:avLst>
              <a:gd name="adj" fmla="val 19231"/>
            </a:avLst>
          </a:prstGeom>
          <a:solidFill>
            <a:srgbClr val="27436F"/>
          </a:solidFill>
          <a:ln w="12700">
            <a:solidFill>
              <a:srgbClr val="27436F"/>
            </a:solidFill>
            <a:prstDash val="solid"/>
          </a:ln>
        </p:spPr>
        <p:txBody>
          <a:bodyPr/>
          <a:p/>
        </p:txBody>
      </p:sp>
      <p:sp>
        <p:nvSpPr>
          <p:cNvPr id="21" name="Text 19"/>
          <p:cNvSpPr/>
          <p:nvPr/>
        </p:nvSpPr>
        <p:spPr>
          <a:xfrm>
            <a:off x="502920" y="1737360"/>
            <a:ext cx="23774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a:t>
            </a:r>
            <a:endParaRPr lang="en-US" sz="950" dirty="0"/>
          </a:p>
        </p:txBody>
      </p:sp>
      <p:sp>
        <p:nvSpPr>
          <p:cNvPr id="22" name="Text 20"/>
          <p:cNvSpPr/>
          <p:nvPr/>
        </p:nvSpPr>
        <p:spPr>
          <a:xfrm>
            <a:off x="795528" y="1737360"/>
            <a:ext cx="1325880" cy="256032"/>
          </a:xfrm>
          <a:prstGeom prst="rect">
            <a:avLst/>
          </a:prstGeom>
          <a:noFill/>
          <a:ln/>
        </p:spPr>
        <p:txBody>
          <a:bodyPr wrap="square" lIns="0" tIns="0" rIns="0" bIns="0" rtlCol="0" anchor="ctr"/>
          <a:lstStyle/>
          <a:p>
            <a:pPr indent="0" marL="0">
              <a:buNone/>
            </a:pPr>
            <a:r>
              <a:rPr lang="en-US" sz="950" b="1" dirty="0">
                <a:solidFill>
                  <a:srgbClr val="152A4E"/>
                </a:solidFill>
                <a:latin typeface="Calibri" pitchFamily="34" charset="0"/>
                <a:ea typeface="Calibri" pitchFamily="34" charset="-122"/>
                <a:cs typeface="Calibri" pitchFamily="34" charset="-120"/>
              </a:rPr>
              <a:t>Decide</a:t>
            </a:r>
            <a:endParaRPr lang="en-US" sz="950" dirty="0"/>
          </a:p>
        </p:txBody>
      </p:sp>
      <p:sp>
        <p:nvSpPr>
          <p:cNvPr id="23" name="Text 21"/>
          <p:cNvSpPr/>
          <p:nvPr/>
        </p:nvSpPr>
        <p:spPr>
          <a:xfrm>
            <a:off x="2176272" y="1737360"/>
            <a:ext cx="2286000" cy="256032"/>
          </a:xfrm>
          <a:prstGeom prst="rect">
            <a:avLst/>
          </a:prstGeom>
          <a:noFill/>
          <a:ln/>
        </p:spPr>
        <p:txBody>
          <a:bodyPr wrap="square" lIns="0" tIns="0" rIns="0" bIns="0" rtlCol="0" anchor="ctr"/>
          <a:lstStyle/>
          <a:p>
            <a:pPr indent="0" marL="0">
              <a:lnSpc>
                <a:spcPts val="900"/>
              </a:lnSpc>
              <a:buNone/>
            </a:pPr>
            <a:r>
              <a:rPr lang="en-US" sz="750" dirty="0">
                <a:solidFill>
                  <a:srgbClr val="6B7280"/>
                </a:solidFill>
                <a:latin typeface="Calibri" pitchFamily="34" charset="0"/>
                <a:ea typeface="Calibri" pitchFamily="34" charset="-122"/>
                <a:cs typeface="Calibri" pitchFamily="34" charset="-120"/>
              </a:rPr>
              <a:t>Licensing, tower list, one project vs many</a:t>
            </a:r>
            <a:endParaRPr lang="en-US" sz="750" dirty="0"/>
          </a:p>
        </p:txBody>
      </p:sp>
      <p:sp>
        <p:nvSpPr>
          <p:cNvPr id="24" name="Shape 22"/>
          <p:cNvSpPr/>
          <p:nvPr/>
        </p:nvSpPr>
        <p:spPr>
          <a:xfrm>
            <a:off x="4572000" y="1737360"/>
            <a:ext cx="889254" cy="256032"/>
          </a:xfrm>
          <a:prstGeom prst="rect">
            <a:avLst/>
          </a:prstGeom>
          <a:solidFill>
            <a:srgbClr val="FFFFFF"/>
          </a:solidFill>
          <a:ln w="9525">
            <a:solidFill>
              <a:srgbClr val="EDF1F6"/>
            </a:solidFill>
            <a:prstDash val="solid"/>
          </a:ln>
        </p:spPr>
        <p:txBody>
          <a:bodyPr/>
          <a:p/>
        </p:txBody>
      </p:sp>
      <p:sp>
        <p:nvSpPr>
          <p:cNvPr id="25" name="Shape 23"/>
          <p:cNvSpPr/>
          <p:nvPr/>
        </p:nvSpPr>
        <p:spPr>
          <a:xfrm>
            <a:off x="5461254" y="1737360"/>
            <a:ext cx="889254" cy="256032"/>
          </a:xfrm>
          <a:prstGeom prst="rect">
            <a:avLst/>
          </a:prstGeom>
          <a:solidFill>
            <a:srgbClr val="FFFFFF"/>
          </a:solidFill>
          <a:ln w="9525">
            <a:solidFill>
              <a:srgbClr val="EDF1F6"/>
            </a:solidFill>
            <a:prstDash val="solid"/>
          </a:ln>
        </p:spPr>
        <p:txBody>
          <a:bodyPr/>
          <a:p/>
        </p:txBody>
      </p:sp>
      <p:sp>
        <p:nvSpPr>
          <p:cNvPr id="26" name="Shape 24"/>
          <p:cNvSpPr/>
          <p:nvPr/>
        </p:nvSpPr>
        <p:spPr>
          <a:xfrm>
            <a:off x="6350508" y="1737360"/>
            <a:ext cx="889254" cy="256032"/>
          </a:xfrm>
          <a:prstGeom prst="rect">
            <a:avLst/>
          </a:prstGeom>
          <a:solidFill>
            <a:srgbClr val="FFFFFF"/>
          </a:solidFill>
          <a:ln w="9525">
            <a:solidFill>
              <a:srgbClr val="EDF1F6"/>
            </a:solidFill>
            <a:prstDash val="solid"/>
          </a:ln>
        </p:spPr>
        <p:txBody>
          <a:bodyPr/>
          <a:p/>
        </p:txBody>
      </p:sp>
      <p:sp>
        <p:nvSpPr>
          <p:cNvPr id="27" name="Shape 25"/>
          <p:cNvSpPr/>
          <p:nvPr/>
        </p:nvSpPr>
        <p:spPr>
          <a:xfrm>
            <a:off x="7239762" y="1737360"/>
            <a:ext cx="889254" cy="256032"/>
          </a:xfrm>
          <a:prstGeom prst="rect">
            <a:avLst/>
          </a:prstGeom>
          <a:solidFill>
            <a:srgbClr val="FFFFFF"/>
          </a:solidFill>
          <a:ln w="9525">
            <a:solidFill>
              <a:srgbClr val="EDF1F6"/>
            </a:solidFill>
            <a:prstDash val="solid"/>
          </a:ln>
        </p:spPr>
        <p:txBody>
          <a:bodyPr/>
          <a:p/>
        </p:txBody>
      </p:sp>
      <p:sp>
        <p:nvSpPr>
          <p:cNvPr id="28" name="Shape 26"/>
          <p:cNvSpPr/>
          <p:nvPr/>
        </p:nvSpPr>
        <p:spPr>
          <a:xfrm>
            <a:off x="8129016" y="1737360"/>
            <a:ext cx="889254" cy="256032"/>
          </a:xfrm>
          <a:prstGeom prst="rect">
            <a:avLst/>
          </a:prstGeom>
          <a:solidFill>
            <a:srgbClr val="FFFFFF"/>
          </a:solidFill>
          <a:ln w="9525">
            <a:solidFill>
              <a:srgbClr val="EDF1F6"/>
            </a:solidFill>
            <a:prstDash val="solid"/>
          </a:ln>
        </p:spPr>
        <p:txBody>
          <a:bodyPr/>
          <a:p/>
        </p:txBody>
      </p:sp>
      <p:sp>
        <p:nvSpPr>
          <p:cNvPr id="29" name="Shape 27"/>
          <p:cNvSpPr/>
          <p:nvPr/>
        </p:nvSpPr>
        <p:spPr>
          <a:xfrm>
            <a:off x="9018270" y="1737360"/>
            <a:ext cx="889254" cy="256032"/>
          </a:xfrm>
          <a:prstGeom prst="rect">
            <a:avLst/>
          </a:prstGeom>
          <a:solidFill>
            <a:srgbClr val="FFFFFF"/>
          </a:solidFill>
          <a:ln w="9525">
            <a:solidFill>
              <a:srgbClr val="EDF1F6"/>
            </a:solidFill>
            <a:prstDash val="solid"/>
          </a:ln>
        </p:spPr>
        <p:txBody>
          <a:bodyPr/>
          <a:p/>
        </p:txBody>
      </p:sp>
      <p:sp>
        <p:nvSpPr>
          <p:cNvPr id="30" name="Shape 28"/>
          <p:cNvSpPr/>
          <p:nvPr/>
        </p:nvSpPr>
        <p:spPr>
          <a:xfrm>
            <a:off x="9907524" y="1737360"/>
            <a:ext cx="889254" cy="256032"/>
          </a:xfrm>
          <a:prstGeom prst="rect">
            <a:avLst/>
          </a:prstGeom>
          <a:solidFill>
            <a:srgbClr val="FFFFFF"/>
          </a:solidFill>
          <a:ln w="9525">
            <a:solidFill>
              <a:srgbClr val="EDF1F6"/>
            </a:solidFill>
            <a:prstDash val="solid"/>
          </a:ln>
        </p:spPr>
        <p:txBody>
          <a:bodyPr/>
          <a:p/>
        </p:txBody>
      </p:sp>
      <p:sp>
        <p:nvSpPr>
          <p:cNvPr id="31" name="Shape 29"/>
          <p:cNvSpPr/>
          <p:nvPr/>
        </p:nvSpPr>
        <p:spPr>
          <a:xfrm>
            <a:off x="10796778" y="1737360"/>
            <a:ext cx="889254" cy="256032"/>
          </a:xfrm>
          <a:prstGeom prst="rect">
            <a:avLst/>
          </a:prstGeom>
          <a:solidFill>
            <a:srgbClr val="FFFFFF"/>
          </a:solidFill>
          <a:ln w="9525">
            <a:solidFill>
              <a:srgbClr val="EDF1F6"/>
            </a:solidFill>
            <a:prstDash val="solid"/>
          </a:ln>
        </p:spPr>
        <p:txBody>
          <a:bodyPr/>
          <a:p/>
        </p:txBody>
      </p:sp>
      <p:sp>
        <p:nvSpPr>
          <p:cNvPr id="32" name="Shape 30"/>
          <p:cNvSpPr/>
          <p:nvPr/>
        </p:nvSpPr>
        <p:spPr>
          <a:xfrm>
            <a:off x="4599432" y="1773936"/>
            <a:ext cx="834390" cy="182880"/>
          </a:xfrm>
          <a:prstGeom prst="roundRect">
            <a:avLst>
              <a:gd name="adj" fmla="val 20000"/>
            </a:avLst>
          </a:prstGeom>
          <a:solidFill>
            <a:srgbClr val="27436F"/>
          </a:solidFill>
          <a:ln w="12700">
            <a:solidFill>
              <a:srgbClr val="27436F"/>
            </a:solidFill>
            <a:prstDash val="solid"/>
          </a:ln>
        </p:spPr>
        <p:txBody>
          <a:bodyPr/>
          <a:p/>
        </p:txBody>
      </p:sp>
      <p:sp>
        <p:nvSpPr>
          <p:cNvPr id="33" name="Shape 31"/>
          <p:cNvSpPr/>
          <p:nvPr/>
        </p:nvSpPr>
        <p:spPr>
          <a:xfrm>
            <a:off x="502920" y="2048256"/>
            <a:ext cx="237744" cy="256032"/>
          </a:xfrm>
          <a:prstGeom prst="roundRect">
            <a:avLst>
              <a:gd name="adj" fmla="val 19231"/>
            </a:avLst>
          </a:prstGeom>
          <a:solidFill>
            <a:srgbClr val="27436F"/>
          </a:solidFill>
          <a:ln w="12700">
            <a:solidFill>
              <a:srgbClr val="27436F"/>
            </a:solidFill>
            <a:prstDash val="solid"/>
          </a:ln>
        </p:spPr>
        <p:txBody>
          <a:bodyPr/>
          <a:p/>
        </p:txBody>
      </p:sp>
      <p:sp>
        <p:nvSpPr>
          <p:cNvPr id="34" name="Text 32"/>
          <p:cNvSpPr/>
          <p:nvPr/>
        </p:nvSpPr>
        <p:spPr>
          <a:xfrm>
            <a:off x="502920" y="2048256"/>
            <a:ext cx="23774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35" name="Text 33"/>
          <p:cNvSpPr/>
          <p:nvPr/>
        </p:nvSpPr>
        <p:spPr>
          <a:xfrm>
            <a:off x="795528" y="2048256"/>
            <a:ext cx="1325880" cy="256032"/>
          </a:xfrm>
          <a:prstGeom prst="rect">
            <a:avLst/>
          </a:prstGeom>
          <a:noFill/>
          <a:ln/>
        </p:spPr>
        <p:txBody>
          <a:bodyPr wrap="square" lIns="0" tIns="0" rIns="0" bIns="0" rtlCol="0" anchor="ctr"/>
          <a:lstStyle/>
          <a:p>
            <a:pPr indent="0" marL="0">
              <a:buNone/>
            </a:pPr>
            <a:r>
              <a:rPr lang="en-US" sz="950" b="1" dirty="0">
                <a:solidFill>
                  <a:srgbClr val="152A4E"/>
                </a:solidFill>
                <a:latin typeface="Calibri" pitchFamily="34" charset="0"/>
                <a:ea typeface="Calibri" pitchFamily="34" charset="-122"/>
                <a:cs typeface="Calibri" pitchFamily="34" charset="-120"/>
              </a:rPr>
              <a:t>Foundation</a:t>
            </a:r>
            <a:endParaRPr lang="en-US" sz="950" dirty="0"/>
          </a:p>
        </p:txBody>
      </p:sp>
      <p:sp>
        <p:nvSpPr>
          <p:cNvPr id="36" name="Text 34"/>
          <p:cNvSpPr/>
          <p:nvPr/>
        </p:nvSpPr>
        <p:spPr>
          <a:xfrm>
            <a:off x="2176272" y="2048256"/>
            <a:ext cx="2286000" cy="256032"/>
          </a:xfrm>
          <a:prstGeom prst="rect">
            <a:avLst/>
          </a:prstGeom>
          <a:noFill/>
          <a:ln/>
        </p:spPr>
        <p:txBody>
          <a:bodyPr wrap="square" lIns="0" tIns="0" rIns="0" bIns="0" rtlCol="0" anchor="ctr"/>
          <a:lstStyle/>
          <a:p>
            <a:pPr indent="0" marL="0">
              <a:lnSpc>
                <a:spcPts val="900"/>
              </a:lnSpc>
              <a:buNone/>
            </a:pPr>
            <a:r>
              <a:rPr lang="en-US" sz="750" dirty="0">
                <a:solidFill>
                  <a:srgbClr val="6B7280"/>
                </a:solidFill>
                <a:latin typeface="Calibri" pitchFamily="34" charset="0"/>
                <a:ea typeface="Calibri" pitchFamily="34" charset="-122"/>
                <a:cs typeface="Calibri" pitchFamily="34" charset="-120"/>
              </a:rPr>
              <a:t>Provision JSM; company-managed OPS project; groups and roles</a:t>
            </a:r>
            <a:endParaRPr lang="en-US" sz="750" dirty="0"/>
          </a:p>
        </p:txBody>
      </p:sp>
      <p:sp>
        <p:nvSpPr>
          <p:cNvPr id="37" name="Shape 35"/>
          <p:cNvSpPr/>
          <p:nvPr/>
        </p:nvSpPr>
        <p:spPr>
          <a:xfrm>
            <a:off x="4572000" y="2048256"/>
            <a:ext cx="889254" cy="256032"/>
          </a:xfrm>
          <a:prstGeom prst="rect">
            <a:avLst/>
          </a:prstGeom>
          <a:solidFill>
            <a:srgbClr val="FFFFFF"/>
          </a:solidFill>
          <a:ln w="9525">
            <a:solidFill>
              <a:srgbClr val="EDF1F6"/>
            </a:solidFill>
            <a:prstDash val="solid"/>
          </a:ln>
        </p:spPr>
        <p:txBody>
          <a:bodyPr/>
          <a:p/>
        </p:txBody>
      </p:sp>
      <p:sp>
        <p:nvSpPr>
          <p:cNvPr id="38" name="Shape 36"/>
          <p:cNvSpPr/>
          <p:nvPr/>
        </p:nvSpPr>
        <p:spPr>
          <a:xfrm>
            <a:off x="5461254" y="2048256"/>
            <a:ext cx="889254" cy="256032"/>
          </a:xfrm>
          <a:prstGeom prst="rect">
            <a:avLst/>
          </a:prstGeom>
          <a:solidFill>
            <a:srgbClr val="FFFFFF"/>
          </a:solidFill>
          <a:ln w="9525">
            <a:solidFill>
              <a:srgbClr val="EDF1F6"/>
            </a:solidFill>
            <a:prstDash val="solid"/>
          </a:ln>
        </p:spPr>
        <p:txBody>
          <a:bodyPr/>
          <a:p/>
        </p:txBody>
      </p:sp>
      <p:sp>
        <p:nvSpPr>
          <p:cNvPr id="39" name="Shape 37"/>
          <p:cNvSpPr/>
          <p:nvPr/>
        </p:nvSpPr>
        <p:spPr>
          <a:xfrm>
            <a:off x="6350508" y="2048256"/>
            <a:ext cx="889254" cy="256032"/>
          </a:xfrm>
          <a:prstGeom prst="rect">
            <a:avLst/>
          </a:prstGeom>
          <a:solidFill>
            <a:srgbClr val="FFFFFF"/>
          </a:solidFill>
          <a:ln w="9525">
            <a:solidFill>
              <a:srgbClr val="EDF1F6"/>
            </a:solidFill>
            <a:prstDash val="solid"/>
          </a:ln>
        </p:spPr>
        <p:txBody>
          <a:bodyPr/>
          <a:p/>
        </p:txBody>
      </p:sp>
      <p:sp>
        <p:nvSpPr>
          <p:cNvPr id="40" name="Shape 38"/>
          <p:cNvSpPr/>
          <p:nvPr/>
        </p:nvSpPr>
        <p:spPr>
          <a:xfrm>
            <a:off x="7239762" y="2048256"/>
            <a:ext cx="889254" cy="256032"/>
          </a:xfrm>
          <a:prstGeom prst="rect">
            <a:avLst/>
          </a:prstGeom>
          <a:solidFill>
            <a:srgbClr val="FFFFFF"/>
          </a:solidFill>
          <a:ln w="9525">
            <a:solidFill>
              <a:srgbClr val="EDF1F6"/>
            </a:solidFill>
            <a:prstDash val="solid"/>
          </a:ln>
        </p:spPr>
        <p:txBody>
          <a:bodyPr/>
          <a:p/>
        </p:txBody>
      </p:sp>
      <p:sp>
        <p:nvSpPr>
          <p:cNvPr id="41" name="Shape 39"/>
          <p:cNvSpPr/>
          <p:nvPr/>
        </p:nvSpPr>
        <p:spPr>
          <a:xfrm>
            <a:off x="8129016" y="2048256"/>
            <a:ext cx="889254" cy="256032"/>
          </a:xfrm>
          <a:prstGeom prst="rect">
            <a:avLst/>
          </a:prstGeom>
          <a:solidFill>
            <a:srgbClr val="FFFFFF"/>
          </a:solidFill>
          <a:ln w="9525">
            <a:solidFill>
              <a:srgbClr val="EDF1F6"/>
            </a:solidFill>
            <a:prstDash val="solid"/>
          </a:ln>
        </p:spPr>
        <p:txBody>
          <a:bodyPr/>
          <a:p/>
        </p:txBody>
      </p:sp>
      <p:sp>
        <p:nvSpPr>
          <p:cNvPr id="42" name="Shape 40"/>
          <p:cNvSpPr/>
          <p:nvPr/>
        </p:nvSpPr>
        <p:spPr>
          <a:xfrm>
            <a:off x="9018270" y="2048256"/>
            <a:ext cx="889254" cy="256032"/>
          </a:xfrm>
          <a:prstGeom prst="rect">
            <a:avLst/>
          </a:prstGeom>
          <a:solidFill>
            <a:srgbClr val="FFFFFF"/>
          </a:solidFill>
          <a:ln w="9525">
            <a:solidFill>
              <a:srgbClr val="EDF1F6"/>
            </a:solidFill>
            <a:prstDash val="solid"/>
          </a:ln>
        </p:spPr>
        <p:txBody>
          <a:bodyPr/>
          <a:p/>
        </p:txBody>
      </p:sp>
      <p:sp>
        <p:nvSpPr>
          <p:cNvPr id="43" name="Shape 41"/>
          <p:cNvSpPr/>
          <p:nvPr/>
        </p:nvSpPr>
        <p:spPr>
          <a:xfrm>
            <a:off x="9907524" y="2048256"/>
            <a:ext cx="889254" cy="256032"/>
          </a:xfrm>
          <a:prstGeom prst="rect">
            <a:avLst/>
          </a:prstGeom>
          <a:solidFill>
            <a:srgbClr val="FFFFFF"/>
          </a:solidFill>
          <a:ln w="9525">
            <a:solidFill>
              <a:srgbClr val="EDF1F6"/>
            </a:solidFill>
            <a:prstDash val="solid"/>
          </a:ln>
        </p:spPr>
        <p:txBody>
          <a:bodyPr/>
          <a:p/>
        </p:txBody>
      </p:sp>
      <p:sp>
        <p:nvSpPr>
          <p:cNvPr id="44" name="Shape 42"/>
          <p:cNvSpPr/>
          <p:nvPr/>
        </p:nvSpPr>
        <p:spPr>
          <a:xfrm>
            <a:off x="10796778" y="2048256"/>
            <a:ext cx="889254" cy="256032"/>
          </a:xfrm>
          <a:prstGeom prst="rect">
            <a:avLst/>
          </a:prstGeom>
          <a:solidFill>
            <a:srgbClr val="FFFFFF"/>
          </a:solidFill>
          <a:ln w="9525">
            <a:solidFill>
              <a:srgbClr val="EDF1F6"/>
            </a:solidFill>
            <a:prstDash val="solid"/>
          </a:ln>
        </p:spPr>
        <p:txBody>
          <a:bodyPr/>
          <a:p/>
        </p:txBody>
      </p:sp>
      <p:sp>
        <p:nvSpPr>
          <p:cNvPr id="45" name="Shape 43"/>
          <p:cNvSpPr/>
          <p:nvPr/>
        </p:nvSpPr>
        <p:spPr>
          <a:xfrm>
            <a:off x="4599432" y="2084832"/>
            <a:ext cx="1723644" cy="182880"/>
          </a:xfrm>
          <a:prstGeom prst="roundRect">
            <a:avLst>
              <a:gd name="adj" fmla="val 20000"/>
            </a:avLst>
          </a:prstGeom>
          <a:solidFill>
            <a:srgbClr val="27436F"/>
          </a:solidFill>
          <a:ln w="12700">
            <a:solidFill>
              <a:srgbClr val="27436F"/>
            </a:solidFill>
            <a:prstDash val="solid"/>
          </a:ln>
        </p:spPr>
        <p:txBody>
          <a:bodyPr/>
          <a:p/>
        </p:txBody>
      </p:sp>
      <p:sp>
        <p:nvSpPr>
          <p:cNvPr id="46" name="Shape 44"/>
          <p:cNvSpPr/>
          <p:nvPr/>
        </p:nvSpPr>
        <p:spPr>
          <a:xfrm>
            <a:off x="502920" y="2359152"/>
            <a:ext cx="237744" cy="256032"/>
          </a:xfrm>
          <a:prstGeom prst="roundRect">
            <a:avLst>
              <a:gd name="adj" fmla="val 19231"/>
            </a:avLst>
          </a:prstGeom>
          <a:solidFill>
            <a:srgbClr val="0E7C7B"/>
          </a:solidFill>
          <a:ln w="12700">
            <a:solidFill>
              <a:srgbClr val="0E7C7B"/>
            </a:solidFill>
            <a:prstDash val="solid"/>
          </a:ln>
        </p:spPr>
        <p:txBody>
          <a:bodyPr/>
          <a:p/>
        </p:txBody>
      </p:sp>
      <p:sp>
        <p:nvSpPr>
          <p:cNvPr id="47" name="Text 45"/>
          <p:cNvSpPr/>
          <p:nvPr/>
        </p:nvSpPr>
        <p:spPr>
          <a:xfrm>
            <a:off x="502920" y="2359152"/>
            <a:ext cx="23774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48" name="Text 46"/>
          <p:cNvSpPr/>
          <p:nvPr/>
        </p:nvSpPr>
        <p:spPr>
          <a:xfrm>
            <a:off x="795528" y="2359152"/>
            <a:ext cx="1325880" cy="256032"/>
          </a:xfrm>
          <a:prstGeom prst="rect">
            <a:avLst/>
          </a:prstGeom>
          <a:noFill/>
          <a:ln/>
        </p:spPr>
        <p:txBody>
          <a:bodyPr wrap="square" lIns="0" tIns="0" rIns="0" bIns="0" rtlCol="0" anchor="ctr"/>
          <a:lstStyle/>
          <a:p>
            <a:pPr indent="0" marL="0">
              <a:buNone/>
            </a:pPr>
            <a:r>
              <a:rPr lang="en-US" sz="950" b="1" dirty="0">
                <a:solidFill>
                  <a:srgbClr val="152A4E"/>
                </a:solidFill>
                <a:latin typeface="Calibri" pitchFamily="34" charset="0"/>
                <a:ea typeface="Calibri" pitchFamily="34" charset="-122"/>
                <a:cs typeface="Calibri" pitchFamily="34" charset="-120"/>
              </a:rPr>
              <a:t>Schema</a:t>
            </a:r>
            <a:endParaRPr lang="en-US" sz="950" dirty="0"/>
          </a:p>
        </p:txBody>
      </p:sp>
      <p:sp>
        <p:nvSpPr>
          <p:cNvPr id="49" name="Text 47"/>
          <p:cNvSpPr/>
          <p:nvPr/>
        </p:nvSpPr>
        <p:spPr>
          <a:xfrm>
            <a:off x="2176272" y="2359152"/>
            <a:ext cx="2286000" cy="256032"/>
          </a:xfrm>
          <a:prstGeom prst="rect">
            <a:avLst/>
          </a:prstGeom>
          <a:noFill/>
          <a:ln/>
        </p:spPr>
        <p:txBody>
          <a:bodyPr wrap="square" lIns="0" tIns="0" rIns="0" bIns="0" rtlCol="0" anchor="ctr"/>
          <a:lstStyle/>
          <a:p>
            <a:pPr indent="0" marL="0">
              <a:lnSpc>
                <a:spcPts val="900"/>
              </a:lnSpc>
              <a:buNone/>
            </a:pPr>
            <a:r>
              <a:rPr lang="en-US" sz="750" dirty="0">
                <a:solidFill>
                  <a:srgbClr val="6B7280"/>
                </a:solidFill>
                <a:latin typeface="Calibri" pitchFamily="34" charset="0"/>
                <a:ea typeface="Calibri" pitchFamily="34" charset="-122"/>
                <a:cs typeface="Calibri" pitchFamily="34" charset="-120"/>
              </a:rPr>
              <a:t>Custom fields, issue types, screens, field configs</a:t>
            </a:r>
            <a:endParaRPr lang="en-US" sz="750" dirty="0"/>
          </a:p>
        </p:txBody>
      </p:sp>
      <p:sp>
        <p:nvSpPr>
          <p:cNvPr id="50" name="Shape 48"/>
          <p:cNvSpPr/>
          <p:nvPr/>
        </p:nvSpPr>
        <p:spPr>
          <a:xfrm>
            <a:off x="4572000" y="2359152"/>
            <a:ext cx="889254" cy="256032"/>
          </a:xfrm>
          <a:prstGeom prst="rect">
            <a:avLst/>
          </a:prstGeom>
          <a:solidFill>
            <a:srgbClr val="FFFFFF"/>
          </a:solidFill>
          <a:ln w="9525">
            <a:solidFill>
              <a:srgbClr val="EDF1F6"/>
            </a:solidFill>
            <a:prstDash val="solid"/>
          </a:ln>
        </p:spPr>
        <p:txBody>
          <a:bodyPr/>
          <a:p/>
        </p:txBody>
      </p:sp>
      <p:sp>
        <p:nvSpPr>
          <p:cNvPr id="51" name="Shape 49"/>
          <p:cNvSpPr/>
          <p:nvPr/>
        </p:nvSpPr>
        <p:spPr>
          <a:xfrm>
            <a:off x="5461254" y="2359152"/>
            <a:ext cx="889254" cy="256032"/>
          </a:xfrm>
          <a:prstGeom prst="rect">
            <a:avLst/>
          </a:prstGeom>
          <a:solidFill>
            <a:srgbClr val="FFFFFF"/>
          </a:solidFill>
          <a:ln w="9525">
            <a:solidFill>
              <a:srgbClr val="EDF1F6"/>
            </a:solidFill>
            <a:prstDash val="solid"/>
          </a:ln>
        </p:spPr>
        <p:txBody>
          <a:bodyPr/>
          <a:p/>
        </p:txBody>
      </p:sp>
      <p:sp>
        <p:nvSpPr>
          <p:cNvPr id="52" name="Shape 50"/>
          <p:cNvSpPr/>
          <p:nvPr/>
        </p:nvSpPr>
        <p:spPr>
          <a:xfrm>
            <a:off x="6350508" y="2359152"/>
            <a:ext cx="889254" cy="256032"/>
          </a:xfrm>
          <a:prstGeom prst="rect">
            <a:avLst/>
          </a:prstGeom>
          <a:solidFill>
            <a:srgbClr val="FFFFFF"/>
          </a:solidFill>
          <a:ln w="9525">
            <a:solidFill>
              <a:srgbClr val="EDF1F6"/>
            </a:solidFill>
            <a:prstDash val="solid"/>
          </a:ln>
        </p:spPr>
        <p:txBody>
          <a:bodyPr/>
          <a:p/>
        </p:txBody>
      </p:sp>
      <p:sp>
        <p:nvSpPr>
          <p:cNvPr id="53" name="Shape 51"/>
          <p:cNvSpPr/>
          <p:nvPr/>
        </p:nvSpPr>
        <p:spPr>
          <a:xfrm>
            <a:off x="7239762" y="2359152"/>
            <a:ext cx="889254" cy="256032"/>
          </a:xfrm>
          <a:prstGeom prst="rect">
            <a:avLst/>
          </a:prstGeom>
          <a:solidFill>
            <a:srgbClr val="FFFFFF"/>
          </a:solidFill>
          <a:ln w="9525">
            <a:solidFill>
              <a:srgbClr val="EDF1F6"/>
            </a:solidFill>
            <a:prstDash val="solid"/>
          </a:ln>
        </p:spPr>
        <p:txBody>
          <a:bodyPr/>
          <a:p/>
        </p:txBody>
      </p:sp>
      <p:sp>
        <p:nvSpPr>
          <p:cNvPr id="54" name="Shape 52"/>
          <p:cNvSpPr/>
          <p:nvPr/>
        </p:nvSpPr>
        <p:spPr>
          <a:xfrm>
            <a:off x="8129016" y="2359152"/>
            <a:ext cx="889254" cy="256032"/>
          </a:xfrm>
          <a:prstGeom prst="rect">
            <a:avLst/>
          </a:prstGeom>
          <a:solidFill>
            <a:srgbClr val="FFFFFF"/>
          </a:solidFill>
          <a:ln w="9525">
            <a:solidFill>
              <a:srgbClr val="EDF1F6"/>
            </a:solidFill>
            <a:prstDash val="solid"/>
          </a:ln>
        </p:spPr>
        <p:txBody>
          <a:bodyPr/>
          <a:p/>
        </p:txBody>
      </p:sp>
      <p:sp>
        <p:nvSpPr>
          <p:cNvPr id="55" name="Shape 53"/>
          <p:cNvSpPr/>
          <p:nvPr/>
        </p:nvSpPr>
        <p:spPr>
          <a:xfrm>
            <a:off x="9018270" y="2359152"/>
            <a:ext cx="889254" cy="256032"/>
          </a:xfrm>
          <a:prstGeom prst="rect">
            <a:avLst/>
          </a:prstGeom>
          <a:solidFill>
            <a:srgbClr val="FFFFFF"/>
          </a:solidFill>
          <a:ln w="9525">
            <a:solidFill>
              <a:srgbClr val="EDF1F6"/>
            </a:solidFill>
            <a:prstDash val="solid"/>
          </a:ln>
        </p:spPr>
        <p:txBody>
          <a:bodyPr/>
          <a:p/>
        </p:txBody>
      </p:sp>
      <p:sp>
        <p:nvSpPr>
          <p:cNvPr id="56" name="Shape 54"/>
          <p:cNvSpPr/>
          <p:nvPr/>
        </p:nvSpPr>
        <p:spPr>
          <a:xfrm>
            <a:off x="9907524" y="2359152"/>
            <a:ext cx="889254" cy="256032"/>
          </a:xfrm>
          <a:prstGeom prst="rect">
            <a:avLst/>
          </a:prstGeom>
          <a:solidFill>
            <a:srgbClr val="FFFFFF"/>
          </a:solidFill>
          <a:ln w="9525">
            <a:solidFill>
              <a:srgbClr val="EDF1F6"/>
            </a:solidFill>
            <a:prstDash val="solid"/>
          </a:ln>
        </p:spPr>
        <p:txBody>
          <a:bodyPr/>
          <a:p/>
        </p:txBody>
      </p:sp>
      <p:sp>
        <p:nvSpPr>
          <p:cNvPr id="57" name="Shape 55"/>
          <p:cNvSpPr/>
          <p:nvPr/>
        </p:nvSpPr>
        <p:spPr>
          <a:xfrm>
            <a:off x="10796778" y="2359152"/>
            <a:ext cx="889254" cy="256032"/>
          </a:xfrm>
          <a:prstGeom prst="rect">
            <a:avLst/>
          </a:prstGeom>
          <a:solidFill>
            <a:srgbClr val="FFFFFF"/>
          </a:solidFill>
          <a:ln w="9525">
            <a:solidFill>
              <a:srgbClr val="EDF1F6"/>
            </a:solidFill>
            <a:prstDash val="solid"/>
          </a:ln>
        </p:spPr>
        <p:txBody>
          <a:bodyPr/>
          <a:p/>
        </p:txBody>
      </p:sp>
      <p:sp>
        <p:nvSpPr>
          <p:cNvPr id="58" name="Shape 56"/>
          <p:cNvSpPr/>
          <p:nvPr/>
        </p:nvSpPr>
        <p:spPr>
          <a:xfrm>
            <a:off x="5488686" y="2395728"/>
            <a:ext cx="1723644" cy="182880"/>
          </a:xfrm>
          <a:prstGeom prst="roundRect">
            <a:avLst>
              <a:gd name="adj" fmla="val 20000"/>
            </a:avLst>
          </a:prstGeom>
          <a:solidFill>
            <a:srgbClr val="0E7C7B"/>
          </a:solidFill>
          <a:ln w="12700">
            <a:solidFill>
              <a:srgbClr val="0E7C7B"/>
            </a:solidFill>
            <a:prstDash val="solid"/>
          </a:ln>
        </p:spPr>
        <p:txBody>
          <a:bodyPr/>
          <a:p/>
        </p:txBody>
      </p:sp>
      <p:sp>
        <p:nvSpPr>
          <p:cNvPr id="59" name="Shape 57"/>
          <p:cNvSpPr/>
          <p:nvPr/>
        </p:nvSpPr>
        <p:spPr>
          <a:xfrm>
            <a:off x="502920" y="2670048"/>
            <a:ext cx="237744" cy="256032"/>
          </a:xfrm>
          <a:prstGeom prst="roundRect">
            <a:avLst>
              <a:gd name="adj" fmla="val 19231"/>
            </a:avLst>
          </a:prstGeom>
          <a:solidFill>
            <a:srgbClr val="0E7C7B"/>
          </a:solidFill>
          <a:ln w="12700">
            <a:solidFill>
              <a:srgbClr val="0E7C7B"/>
            </a:solidFill>
            <a:prstDash val="solid"/>
          </a:ln>
        </p:spPr>
        <p:txBody>
          <a:bodyPr/>
          <a:p/>
        </p:txBody>
      </p:sp>
      <p:sp>
        <p:nvSpPr>
          <p:cNvPr id="60" name="Text 58"/>
          <p:cNvSpPr/>
          <p:nvPr/>
        </p:nvSpPr>
        <p:spPr>
          <a:xfrm>
            <a:off x="502920" y="2670048"/>
            <a:ext cx="23774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61" name="Text 59"/>
          <p:cNvSpPr/>
          <p:nvPr/>
        </p:nvSpPr>
        <p:spPr>
          <a:xfrm>
            <a:off x="795528" y="2670048"/>
            <a:ext cx="1325880" cy="256032"/>
          </a:xfrm>
          <a:prstGeom prst="rect">
            <a:avLst/>
          </a:prstGeom>
          <a:noFill/>
          <a:ln/>
        </p:spPr>
        <p:txBody>
          <a:bodyPr wrap="square" lIns="0" tIns="0" rIns="0" bIns="0" rtlCol="0" anchor="ctr"/>
          <a:lstStyle/>
          <a:p>
            <a:pPr indent="0" marL="0">
              <a:buNone/>
            </a:pPr>
            <a:r>
              <a:rPr lang="en-US" sz="950" b="1" dirty="0">
                <a:solidFill>
                  <a:srgbClr val="152A4E"/>
                </a:solidFill>
                <a:latin typeface="Calibri" pitchFamily="34" charset="0"/>
                <a:ea typeface="Calibri" pitchFamily="34" charset="-122"/>
                <a:cs typeface="Calibri" pitchFamily="34" charset="-120"/>
              </a:rPr>
              <a:t>Workflow</a:t>
            </a:r>
            <a:endParaRPr lang="en-US" sz="950" dirty="0"/>
          </a:p>
        </p:txBody>
      </p:sp>
      <p:sp>
        <p:nvSpPr>
          <p:cNvPr id="62" name="Text 60"/>
          <p:cNvSpPr/>
          <p:nvPr/>
        </p:nvSpPr>
        <p:spPr>
          <a:xfrm>
            <a:off x="2176272" y="2670048"/>
            <a:ext cx="2286000" cy="256032"/>
          </a:xfrm>
          <a:prstGeom prst="rect">
            <a:avLst/>
          </a:prstGeom>
          <a:noFill/>
          <a:ln/>
        </p:spPr>
        <p:txBody>
          <a:bodyPr wrap="square" lIns="0" tIns="0" rIns="0" bIns="0" rtlCol="0" anchor="ctr"/>
          <a:lstStyle/>
          <a:p>
            <a:pPr indent="0" marL="0">
              <a:lnSpc>
                <a:spcPts val="900"/>
              </a:lnSpc>
              <a:buNone/>
            </a:pPr>
            <a:r>
              <a:rPr lang="en-US" sz="750" dirty="0">
                <a:solidFill>
                  <a:srgbClr val="6B7280"/>
                </a:solidFill>
                <a:latin typeface="Calibri" pitchFamily="34" charset="0"/>
                <a:ea typeface="Calibri" pitchFamily="34" charset="-122"/>
                <a:cs typeface="Calibri" pitchFamily="34" charset="-120"/>
              </a:rPr>
              <a:t>Statuses, transitions, escalation gate validator + post-functions</a:t>
            </a:r>
            <a:endParaRPr lang="en-US" sz="750" dirty="0"/>
          </a:p>
        </p:txBody>
      </p:sp>
      <p:sp>
        <p:nvSpPr>
          <p:cNvPr id="63" name="Shape 61"/>
          <p:cNvSpPr/>
          <p:nvPr/>
        </p:nvSpPr>
        <p:spPr>
          <a:xfrm>
            <a:off x="4572000" y="2670048"/>
            <a:ext cx="889254" cy="256032"/>
          </a:xfrm>
          <a:prstGeom prst="rect">
            <a:avLst/>
          </a:prstGeom>
          <a:solidFill>
            <a:srgbClr val="FFFFFF"/>
          </a:solidFill>
          <a:ln w="9525">
            <a:solidFill>
              <a:srgbClr val="EDF1F6"/>
            </a:solidFill>
            <a:prstDash val="solid"/>
          </a:ln>
        </p:spPr>
        <p:txBody>
          <a:bodyPr/>
          <a:p/>
        </p:txBody>
      </p:sp>
      <p:sp>
        <p:nvSpPr>
          <p:cNvPr id="64" name="Shape 62"/>
          <p:cNvSpPr/>
          <p:nvPr/>
        </p:nvSpPr>
        <p:spPr>
          <a:xfrm>
            <a:off x="5461254" y="2670048"/>
            <a:ext cx="889254" cy="256032"/>
          </a:xfrm>
          <a:prstGeom prst="rect">
            <a:avLst/>
          </a:prstGeom>
          <a:solidFill>
            <a:srgbClr val="FFFFFF"/>
          </a:solidFill>
          <a:ln w="9525">
            <a:solidFill>
              <a:srgbClr val="EDF1F6"/>
            </a:solidFill>
            <a:prstDash val="solid"/>
          </a:ln>
        </p:spPr>
        <p:txBody>
          <a:bodyPr/>
          <a:p/>
        </p:txBody>
      </p:sp>
      <p:sp>
        <p:nvSpPr>
          <p:cNvPr id="65" name="Shape 63"/>
          <p:cNvSpPr/>
          <p:nvPr/>
        </p:nvSpPr>
        <p:spPr>
          <a:xfrm>
            <a:off x="6350508" y="2670048"/>
            <a:ext cx="889254" cy="256032"/>
          </a:xfrm>
          <a:prstGeom prst="rect">
            <a:avLst/>
          </a:prstGeom>
          <a:solidFill>
            <a:srgbClr val="FFFFFF"/>
          </a:solidFill>
          <a:ln w="9525">
            <a:solidFill>
              <a:srgbClr val="EDF1F6"/>
            </a:solidFill>
            <a:prstDash val="solid"/>
          </a:ln>
        </p:spPr>
        <p:txBody>
          <a:bodyPr/>
          <a:p/>
        </p:txBody>
      </p:sp>
      <p:sp>
        <p:nvSpPr>
          <p:cNvPr id="66" name="Shape 64"/>
          <p:cNvSpPr/>
          <p:nvPr/>
        </p:nvSpPr>
        <p:spPr>
          <a:xfrm>
            <a:off x="7239762" y="2670048"/>
            <a:ext cx="889254" cy="256032"/>
          </a:xfrm>
          <a:prstGeom prst="rect">
            <a:avLst/>
          </a:prstGeom>
          <a:solidFill>
            <a:srgbClr val="FFFFFF"/>
          </a:solidFill>
          <a:ln w="9525">
            <a:solidFill>
              <a:srgbClr val="EDF1F6"/>
            </a:solidFill>
            <a:prstDash val="solid"/>
          </a:ln>
        </p:spPr>
        <p:txBody>
          <a:bodyPr/>
          <a:p/>
        </p:txBody>
      </p:sp>
      <p:sp>
        <p:nvSpPr>
          <p:cNvPr id="67" name="Shape 65"/>
          <p:cNvSpPr/>
          <p:nvPr/>
        </p:nvSpPr>
        <p:spPr>
          <a:xfrm>
            <a:off x="8129016" y="2670048"/>
            <a:ext cx="889254" cy="256032"/>
          </a:xfrm>
          <a:prstGeom prst="rect">
            <a:avLst/>
          </a:prstGeom>
          <a:solidFill>
            <a:srgbClr val="FFFFFF"/>
          </a:solidFill>
          <a:ln w="9525">
            <a:solidFill>
              <a:srgbClr val="EDF1F6"/>
            </a:solidFill>
            <a:prstDash val="solid"/>
          </a:ln>
        </p:spPr>
        <p:txBody>
          <a:bodyPr/>
          <a:p/>
        </p:txBody>
      </p:sp>
      <p:sp>
        <p:nvSpPr>
          <p:cNvPr id="68" name="Shape 66"/>
          <p:cNvSpPr/>
          <p:nvPr/>
        </p:nvSpPr>
        <p:spPr>
          <a:xfrm>
            <a:off x="9018270" y="2670048"/>
            <a:ext cx="889254" cy="256032"/>
          </a:xfrm>
          <a:prstGeom prst="rect">
            <a:avLst/>
          </a:prstGeom>
          <a:solidFill>
            <a:srgbClr val="FFFFFF"/>
          </a:solidFill>
          <a:ln w="9525">
            <a:solidFill>
              <a:srgbClr val="EDF1F6"/>
            </a:solidFill>
            <a:prstDash val="solid"/>
          </a:ln>
        </p:spPr>
        <p:txBody>
          <a:bodyPr/>
          <a:p/>
        </p:txBody>
      </p:sp>
      <p:sp>
        <p:nvSpPr>
          <p:cNvPr id="69" name="Shape 67"/>
          <p:cNvSpPr/>
          <p:nvPr/>
        </p:nvSpPr>
        <p:spPr>
          <a:xfrm>
            <a:off x="9907524" y="2670048"/>
            <a:ext cx="889254" cy="256032"/>
          </a:xfrm>
          <a:prstGeom prst="rect">
            <a:avLst/>
          </a:prstGeom>
          <a:solidFill>
            <a:srgbClr val="FFFFFF"/>
          </a:solidFill>
          <a:ln w="9525">
            <a:solidFill>
              <a:srgbClr val="EDF1F6"/>
            </a:solidFill>
            <a:prstDash val="solid"/>
          </a:ln>
        </p:spPr>
        <p:txBody>
          <a:bodyPr/>
          <a:p/>
        </p:txBody>
      </p:sp>
      <p:sp>
        <p:nvSpPr>
          <p:cNvPr id="70" name="Shape 68"/>
          <p:cNvSpPr/>
          <p:nvPr/>
        </p:nvSpPr>
        <p:spPr>
          <a:xfrm>
            <a:off x="10796778" y="2670048"/>
            <a:ext cx="889254" cy="256032"/>
          </a:xfrm>
          <a:prstGeom prst="rect">
            <a:avLst/>
          </a:prstGeom>
          <a:solidFill>
            <a:srgbClr val="FFFFFF"/>
          </a:solidFill>
          <a:ln w="9525">
            <a:solidFill>
              <a:srgbClr val="EDF1F6"/>
            </a:solidFill>
            <a:prstDash val="solid"/>
          </a:ln>
        </p:spPr>
        <p:txBody>
          <a:bodyPr/>
          <a:p/>
        </p:txBody>
      </p:sp>
      <p:sp>
        <p:nvSpPr>
          <p:cNvPr id="71" name="Shape 69"/>
          <p:cNvSpPr/>
          <p:nvPr/>
        </p:nvSpPr>
        <p:spPr>
          <a:xfrm>
            <a:off x="6377940" y="2706624"/>
            <a:ext cx="1723644" cy="182880"/>
          </a:xfrm>
          <a:prstGeom prst="roundRect">
            <a:avLst>
              <a:gd name="adj" fmla="val 20000"/>
            </a:avLst>
          </a:prstGeom>
          <a:solidFill>
            <a:srgbClr val="0E7C7B"/>
          </a:solidFill>
          <a:ln w="12700">
            <a:solidFill>
              <a:srgbClr val="0E7C7B"/>
            </a:solidFill>
            <a:prstDash val="solid"/>
          </a:ln>
        </p:spPr>
        <p:txBody>
          <a:bodyPr/>
          <a:p/>
        </p:txBody>
      </p:sp>
      <p:sp>
        <p:nvSpPr>
          <p:cNvPr id="72" name="Shape 70"/>
          <p:cNvSpPr/>
          <p:nvPr/>
        </p:nvSpPr>
        <p:spPr>
          <a:xfrm>
            <a:off x="502920" y="2980944"/>
            <a:ext cx="237744" cy="256032"/>
          </a:xfrm>
          <a:prstGeom prst="roundRect">
            <a:avLst>
              <a:gd name="adj" fmla="val 19231"/>
            </a:avLst>
          </a:prstGeom>
          <a:solidFill>
            <a:srgbClr val="0E7C7B"/>
          </a:solidFill>
          <a:ln w="12700">
            <a:solidFill>
              <a:srgbClr val="0E7C7B"/>
            </a:solidFill>
            <a:prstDash val="solid"/>
          </a:ln>
        </p:spPr>
        <p:txBody>
          <a:bodyPr/>
          <a:p/>
        </p:txBody>
      </p:sp>
      <p:sp>
        <p:nvSpPr>
          <p:cNvPr id="73" name="Text 71"/>
          <p:cNvSpPr/>
          <p:nvPr/>
        </p:nvSpPr>
        <p:spPr>
          <a:xfrm>
            <a:off x="502920" y="2980944"/>
            <a:ext cx="23774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74" name="Text 72"/>
          <p:cNvSpPr/>
          <p:nvPr/>
        </p:nvSpPr>
        <p:spPr>
          <a:xfrm>
            <a:off x="795528" y="2980944"/>
            <a:ext cx="1325880" cy="256032"/>
          </a:xfrm>
          <a:prstGeom prst="rect">
            <a:avLst/>
          </a:prstGeom>
          <a:noFill/>
          <a:ln/>
        </p:spPr>
        <p:txBody>
          <a:bodyPr wrap="square" lIns="0" tIns="0" rIns="0" bIns="0" rtlCol="0" anchor="ctr"/>
          <a:lstStyle/>
          <a:p>
            <a:pPr indent="0" marL="0">
              <a:buNone/>
            </a:pPr>
            <a:r>
              <a:rPr lang="en-US" sz="950" b="1" dirty="0">
                <a:solidFill>
                  <a:srgbClr val="152A4E"/>
                </a:solidFill>
                <a:latin typeface="Calibri" pitchFamily="34" charset="0"/>
                <a:ea typeface="Calibri" pitchFamily="34" charset="-122"/>
                <a:cs typeface="Calibri" pitchFamily="34" charset="-120"/>
              </a:rPr>
              <a:t>SLA &amp; queues</a:t>
            </a:r>
            <a:endParaRPr lang="en-US" sz="950" dirty="0"/>
          </a:p>
        </p:txBody>
      </p:sp>
      <p:sp>
        <p:nvSpPr>
          <p:cNvPr id="75" name="Text 73"/>
          <p:cNvSpPr/>
          <p:nvPr/>
        </p:nvSpPr>
        <p:spPr>
          <a:xfrm>
            <a:off x="2176272" y="2980944"/>
            <a:ext cx="2286000" cy="256032"/>
          </a:xfrm>
          <a:prstGeom prst="rect">
            <a:avLst/>
          </a:prstGeom>
          <a:noFill/>
          <a:ln/>
        </p:spPr>
        <p:txBody>
          <a:bodyPr wrap="square" lIns="0" tIns="0" rIns="0" bIns="0" rtlCol="0" anchor="ctr"/>
          <a:lstStyle/>
          <a:p>
            <a:pPr indent="0" marL="0">
              <a:lnSpc>
                <a:spcPts val="900"/>
              </a:lnSpc>
              <a:buNone/>
            </a:pPr>
            <a:r>
              <a:rPr lang="en-US" sz="750" dirty="0">
                <a:solidFill>
                  <a:srgbClr val="6B7280"/>
                </a:solidFill>
                <a:latin typeface="Calibri" pitchFamily="34" charset="0"/>
                <a:ea typeface="Calibri" pitchFamily="34" charset="-122"/>
                <a:cs typeface="Calibri" pitchFamily="34" charset="-120"/>
              </a:rPr>
              <a:t>SLA targets with pause conditions; per-tower queues</a:t>
            </a:r>
            <a:endParaRPr lang="en-US" sz="750" dirty="0"/>
          </a:p>
        </p:txBody>
      </p:sp>
      <p:sp>
        <p:nvSpPr>
          <p:cNvPr id="76" name="Shape 74"/>
          <p:cNvSpPr/>
          <p:nvPr/>
        </p:nvSpPr>
        <p:spPr>
          <a:xfrm>
            <a:off x="4572000" y="2980944"/>
            <a:ext cx="889254" cy="256032"/>
          </a:xfrm>
          <a:prstGeom prst="rect">
            <a:avLst/>
          </a:prstGeom>
          <a:solidFill>
            <a:srgbClr val="FFFFFF"/>
          </a:solidFill>
          <a:ln w="9525">
            <a:solidFill>
              <a:srgbClr val="EDF1F6"/>
            </a:solidFill>
            <a:prstDash val="solid"/>
          </a:ln>
        </p:spPr>
        <p:txBody>
          <a:bodyPr/>
          <a:p/>
        </p:txBody>
      </p:sp>
      <p:sp>
        <p:nvSpPr>
          <p:cNvPr id="77" name="Shape 75"/>
          <p:cNvSpPr/>
          <p:nvPr/>
        </p:nvSpPr>
        <p:spPr>
          <a:xfrm>
            <a:off x="5461254" y="2980944"/>
            <a:ext cx="889254" cy="256032"/>
          </a:xfrm>
          <a:prstGeom prst="rect">
            <a:avLst/>
          </a:prstGeom>
          <a:solidFill>
            <a:srgbClr val="FFFFFF"/>
          </a:solidFill>
          <a:ln w="9525">
            <a:solidFill>
              <a:srgbClr val="EDF1F6"/>
            </a:solidFill>
            <a:prstDash val="solid"/>
          </a:ln>
        </p:spPr>
        <p:txBody>
          <a:bodyPr/>
          <a:p/>
        </p:txBody>
      </p:sp>
      <p:sp>
        <p:nvSpPr>
          <p:cNvPr id="78" name="Shape 76"/>
          <p:cNvSpPr/>
          <p:nvPr/>
        </p:nvSpPr>
        <p:spPr>
          <a:xfrm>
            <a:off x="6350508" y="2980944"/>
            <a:ext cx="889254" cy="256032"/>
          </a:xfrm>
          <a:prstGeom prst="rect">
            <a:avLst/>
          </a:prstGeom>
          <a:solidFill>
            <a:srgbClr val="FFFFFF"/>
          </a:solidFill>
          <a:ln w="9525">
            <a:solidFill>
              <a:srgbClr val="EDF1F6"/>
            </a:solidFill>
            <a:prstDash val="solid"/>
          </a:ln>
        </p:spPr>
        <p:txBody>
          <a:bodyPr/>
          <a:p/>
        </p:txBody>
      </p:sp>
      <p:sp>
        <p:nvSpPr>
          <p:cNvPr id="79" name="Shape 77"/>
          <p:cNvSpPr/>
          <p:nvPr/>
        </p:nvSpPr>
        <p:spPr>
          <a:xfrm>
            <a:off x="7239762" y="2980944"/>
            <a:ext cx="889254" cy="256032"/>
          </a:xfrm>
          <a:prstGeom prst="rect">
            <a:avLst/>
          </a:prstGeom>
          <a:solidFill>
            <a:srgbClr val="FFFFFF"/>
          </a:solidFill>
          <a:ln w="9525">
            <a:solidFill>
              <a:srgbClr val="EDF1F6"/>
            </a:solidFill>
            <a:prstDash val="solid"/>
          </a:ln>
        </p:spPr>
        <p:txBody>
          <a:bodyPr/>
          <a:p/>
        </p:txBody>
      </p:sp>
      <p:sp>
        <p:nvSpPr>
          <p:cNvPr id="80" name="Shape 78"/>
          <p:cNvSpPr/>
          <p:nvPr/>
        </p:nvSpPr>
        <p:spPr>
          <a:xfrm>
            <a:off x="8129016" y="2980944"/>
            <a:ext cx="889254" cy="256032"/>
          </a:xfrm>
          <a:prstGeom prst="rect">
            <a:avLst/>
          </a:prstGeom>
          <a:solidFill>
            <a:srgbClr val="FFFFFF"/>
          </a:solidFill>
          <a:ln w="9525">
            <a:solidFill>
              <a:srgbClr val="EDF1F6"/>
            </a:solidFill>
            <a:prstDash val="solid"/>
          </a:ln>
        </p:spPr>
        <p:txBody>
          <a:bodyPr/>
          <a:p/>
        </p:txBody>
      </p:sp>
      <p:sp>
        <p:nvSpPr>
          <p:cNvPr id="81" name="Shape 79"/>
          <p:cNvSpPr/>
          <p:nvPr/>
        </p:nvSpPr>
        <p:spPr>
          <a:xfrm>
            <a:off x="9018270" y="2980944"/>
            <a:ext cx="889254" cy="256032"/>
          </a:xfrm>
          <a:prstGeom prst="rect">
            <a:avLst/>
          </a:prstGeom>
          <a:solidFill>
            <a:srgbClr val="FFFFFF"/>
          </a:solidFill>
          <a:ln w="9525">
            <a:solidFill>
              <a:srgbClr val="EDF1F6"/>
            </a:solidFill>
            <a:prstDash val="solid"/>
          </a:ln>
        </p:spPr>
        <p:txBody>
          <a:bodyPr/>
          <a:p/>
        </p:txBody>
      </p:sp>
      <p:sp>
        <p:nvSpPr>
          <p:cNvPr id="82" name="Shape 80"/>
          <p:cNvSpPr/>
          <p:nvPr/>
        </p:nvSpPr>
        <p:spPr>
          <a:xfrm>
            <a:off x="9907524" y="2980944"/>
            <a:ext cx="889254" cy="256032"/>
          </a:xfrm>
          <a:prstGeom prst="rect">
            <a:avLst/>
          </a:prstGeom>
          <a:solidFill>
            <a:srgbClr val="FFFFFF"/>
          </a:solidFill>
          <a:ln w="9525">
            <a:solidFill>
              <a:srgbClr val="EDF1F6"/>
            </a:solidFill>
            <a:prstDash val="solid"/>
          </a:ln>
        </p:spPr>
        <p:txBody>
          <a:bodyPr/>
          <a:p/>
        </p:txBody>
      </p:sp>
      <p:sp>
        <p:nvSpPr>
          <p:cNvPr id="83" name="Shape 81"/>
          <p:cNvSpPr/>
          <p:nvPr/>
        </p:nvSpPr>
        <p:spPr>
          <a:xfrm>
            <a:off x="10796778" y="2980944"/>
            <a:ext cx="889254" cy="256032"/>
          </a:xfrm>
          <a:prstGeom prst="rect">
            <a:avLst/>
          </a:prstGeom>
          <a:solidFill>
            <a:srgbClr val="FFFFFF"/>
          </a:solidFill>
          <a:ln w="9525">
            <a:solidFill>
              <a:srgbClr val="EDF1F6"/>
            </a:solidFill>
            <a:prstDash val="solid"/>
          </a:ln>
        </p:spPr>
        <p:txBody>
          <a:bodyPr/>
          <a:p/>
        </p:txBody>
      </p:sp>
      <p:sp>
        <p:nvSpPr>
          <p:cNvPr id="84" name="Shape 82"/>
          <p:cNvSpPr/>
          <p:nvPr/>
        </p:nvSpPr>
        <p:spPr>
          <a:xfrm>
            <a:off x="7267194" y="3017520"/>
            <a:ext cx="1723644" cy="182880"/>
          </a:xfrm>
          <a:prstGeom prst="roundRect">
            <a:avLst>
              <a:gd name="adj" fmla="val 20000"/>
            </a:avLst>
          </a:prstGeom>
          <a:solidFill>
            <a:srgbClr val="0E7C7B"/>
          </a:solidFill>
          <a:ln w="12700">
            <a:solidFill>
              <a:srgbClr val="0E7C7B"/>
            </a:solidFill>
            <a:prstDash val="solid"/>
          </a:ln>
        </p:spPr>
        <p:txBody>
          <a:bodyPr/>
          <a:p/>
        </p:txBody>
      </p:sp>
      <p:sp>
        <p:nvSpPr>
          <p:cNvPr id="85" name="Shape 83"/>
          <p:cNvSpPr/>
          <p:nvPr/>
        </p:nvSpPr>
        <p:spPr>
          <a:xfrm>
            <a:off x="502920" y="3291840"/>
            <a:ext cx="237744" cy="256032"/>
          </a:xfrm>
          <a:prstGeom prst="roundRect">
            <a:avLst>
              <a:gd name="adj" fmla="val 19231"/>
            </a:avLst>
          </a:prstGeom>
          <a:solidFill>
            <a:srgbClr val="0E7C7B"/>
          </a:solidFill>
          <a:ln w="12700">
            <a:solidFill>
              <a:srgbClr val="0E7C7B"/>
            </a:solidFill>
            <a:prstDash val="solid"/>
          </a:ln>
        </p:spPr>
        <p:txBody>
          <a:bodyPr/>
          <a:p/>
        </p:txBody>
      </p:sp>
      <p:sp>
        <p:nvSpPr>
          <p:cNvPr id="86" name="Text 84"/>
          <p:cNvSpPr/>
          <p:nvPr/>
        </p:nvSpPr>
        <p:spPr>
          <a:xfrm>
            <a:off x="502920" y="3291840"/>
            <a:ext cx="23774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87" name="Text 85"/>
          <p:cNvSpPr/>
          <p:nvPr/>
        </p:nvSpPr>
        <p:spPr>
          <a:xfrm>
            <a:off x="795528" y="3291840"/>
            <a:ext cx="1325880" cy="256032"/>
          </a:xfrm>
          <a:prstGeom prst="rect">
            <a:avLst/>
          </a:prstGeom>
          <a:noFill/>
          <a:ln/>
        </p:spPr>
        <p:txBody>
          <a:bodyPr wrap="square" lIns="0" tIns="0" rIns="0" bIns="0" rtlCol="0" anchor="ctr"/>
          <a:lstStyle/>
          <a:p>
            <a:pPr indent="0" marL="0">
              <a:buNone/>
            </a:pPr>
            <a:r>
              <a:rPr lang="en-US" sz="950" b="1" dirty="0">
                <a:solidFill>
                  <a:srgbClr val="152A4E"/>
                </a:solidFill>
                <a:latin typeface="Calibri" pitchFamily="34" charset="0"/>
                <a:ea typeface="Calibri" pitchFamily="34" charset="-122"/>
                <a:cs typeface="Calibri" pitchFamily="34" charset="-120"/>
              </a:rPr>
              <a:t>Automation</a:t>
            </a:r>
            <a:endParaRPr lang="en-US" sz="950" dirty="0"/>
          </a:p>
        </p:txBody>
      </p:sp>
      <p:sp>
        <p:nvSpPr>
          <p:cNvPr id="88" name="Text 86"/>
          <p:cNvSpPr/>
          <p:nvPr/>
        </p:nvSpPr>
        <p:spPr>
          <a:xfrm>
            <a:off x="2176272" y="3291840"/>
            <a:ext cx="2286000" cy="256032"/>
          </a:xfrm>
          <a:prstGeom prst="rect">
            <a:avLst/>
          </a:prstGeom>
          <a:noFill/>
          <a:ln/>
        </p:spPr>
        <p:txBody>
          <a:bodyPr wrap="square" lIns="0" tIns="0" rIns="0" bIns="0" rtlCol="0" anchor="ctr"/>
          <a:lstStyle/>
          <a:p>
            <a:pPr indent="0" marL="0">
              <a:lnSpc>
                <a:spcPts val="900"/>
              </a:lnSpc>
              <a:buNone/>
            </a:pPr>
            <a:r>
              <a:rPr lang="en-US" sz="750" dirty="0">
                <a:solidFill>
                  <a:srgbClr val="6B7280"/>
                </a:solidFill>
                <a:latin typeface="Calibri" pitchFamily="34" charset="0"/>
                <a:ea typeface="Calibri" pitchFamily="34" charset="-122"/>
                <a:cs typeface="Calibri" pitchFamily="34" charset="-120"/>
              </a:rPr>
              <a:t>The seven rules — priority derivation, routing, breach warnings</a:t>
            </a:r>
            <a:endParaRPr lang="en-US" sz="750" dirty="0"/>
          </a:p>
        </p:txBody>
      </p:sp>
      <p:sp>
        <p:nvSpPr>
          <p:cNvPr id="89" name="Shape 87"/>
          <p:cNvSpPr/>
          <p:nvPr/>
        </p:nvSpPr>
        <p:spPr>
          <a:xfrm>
            <a:off x="4572000" y="3291840"/>
            <a:ext cx="889254" cy="256032"/>
          </a:xfrm>
          <a:prstGeom prst="rect">
            <a:avLst/>
          </a:prstGeom>
          <a:solidFill>
            <a:srgbClr val="FFFFFF"/>
          </a:solidFill>
          <a:ln w="9525">
            <a:solidFill>
              <a:srgbClr val="EDF1F6"/>
            </a:solidFill>
            <a:prstDash val="solid"/>
          </a:ln>
        </p:spPr>
        <p:txBody>
          <a:bodyPr/>
          <a:p/>
        </p:txBody>
      </p:sp>
      <p:sp>
        <p:nvSpPr>
          <p:cNvPr id="90" name="Shape 88"/>
          <p:cNvSpPr/>
          <p:nvPr/>
        </p:nvSpPr>
        <p:spPr>
          <a:xfrm>
            <a:off x="5461254" y="3291840"/>
            <a:ext cx="889254" cy="256032"/>
          </a:xfrm>
          <a:prstGeom prst="rect">
            <a:avLst/>
          </a:prstGeom>
          <a:solidFill>
            <a:srgbClr val="FFFFFF"/>
          </a:solidFill>
          <a:ln w="9525">
            <a:solidFill>
              <a:srgbClr val="EDF1F6"/>
            </a:solidFill>
            <a:prstDash val="solid"/>
          </a:ln>
        </p:spPr>
        <p:txBody>
          <a:bodyPr/>
          <a:p/>
        </p:txBody>
      </p:sp>
      <p:sp>
        <p:nvSpPr>
          <p:cNvPr id="91" name="Shape 89"/>
          <p:cNvSpPr/>
          <p:nvPr/>
        </p:nvSpPr>
        <p:spPr>
          <a:xfrm>
            <a:off x="6350508" y="3291840"/>
            <a:ext cx="889254" cy="256032"/>
          </a:xfrm>
          <a:prstGeom prst="rect">
            <a:avLst/>
          </a:prstGeom>
          <a:solidFill>
            <a:srgbClr val="FFFFFF"/>
          </a:solidFill>
          <a:ln w="9525">
            <a:solidFill>
              <a:srgbClr val="EDF1F6"/>
            </a:solidFill>
            <a:prstDash val="solid"/>
          </a:ln>
        </p:spPr>
        <p:txBody>
          <a:bodyPr/>
          <a:p/>
        </p:txBody>
      </p:sp>
      <p:sp>
        <p:nvSpPr>
          <p:cNvPr id="92" name="Shape 90"/>
          <p:cNvSpPr/>
          <p:nvPr/>
        </p:nvSpPr>
        <p:spPr>
          <a:xfrm>
            <a:off x="7239762" y="3291840"/>
            <a:ext cx="889254" cy="256032"/>
          </a:xfrm>
          <a:prstGeom prst="rect">
            <a:avLst/>
          </a:prstGeom>
          <a:solidFill>
            <a:srgbClr val="FFFFFF"/>
          </a:solidFill>
          <a:ln w="9525">
            <a:solidFill>
              <a:srgbClr val="EDF1F6"/>
            </a:solidFill>
            <a:prstDash val="solid"/>
          </a:ln>
        </p:spPr>
        <p:txBody>
          <a:bodyPr/>
          <a:p/>
        </p:txBody>
      </p:sp>
      <p:sp>
        <p:nvSpPr>
          <p:cNvPr id="93" name="Shape 91"/>
          <p:cNvSpPr/>
          <p:nvPr/>
        </p:nvSpPr>
        <p:spPr>
          <a:xfrm>
            <a:off x="8129016" y="3291840"/>
            <a:ext cx="889254" cy="256032"/>
          </a:xfrm>
          <a:prstGeom prst="rect">
            <a:avLst/>
          </a:prstGeom>
          <a:solidFill>
            <a:srgbClr val="FFFFFF"/>
          </a:solidFill>
          <a:ln w="9525">
            <a:solidFill>
              <a:srgbClr val="EDF1F6"/>
            </a:solidFill>
            <a:prstDash val="solid"/>
          </a:ln>
        </p:spPr>
        <p:txBody>
          <a:bodyPr/>
          <a:p/>
        </p:txBody>
      </p:sp>
      <p:sp>
        <p:nvSpPr>
          <p:cNvPr id="94" name="Shape 92"/>
          <p:cNvSpPr/>
          <p:nvPr/>
        </p:nvSpPr>
        <p:spPr>
          <a:xfrm>
            <a:off x="9018270" y="3291840"/>
            <a:ext cx="889254" cy="256032"/>
          </a:xfrm>
          <a:prstGeom prst="rect">
            <a:avLst/>
          </a:prstGeom>
          <a:solidFill>
            <a:srgbClr val="FFFFFF"/>
          </a:solidFill>
          <a:ln w="9525">
            <a:solidFill>
              <a:srgbClr val="EDF1F6"/>
            </a:solidFill>
            <a:prstDash val="solid"/>
          </a:ln>
        </p:spPr>
        <p:txBody>
          <a:bodyPr/>
          <a:p/>
        </p:txBody>
      </p:sp>
      <p:sp>
        <p:nvSpPr>
          <p:cNvPr id="95" name="Shape 93"/>
          <p:cNvSpPr/>
          <p:nvPr/>
        </p:nvSpPr>
        <p:spPr>
          <a:xfrm>
            <a:off x="9907524" y="3291840"/>
            <a:ext cx="889254" cy="256032"/>
          </a:xfrm>
          <a:prstGeom prst="rect">
            <a:avLst/>
          </a:prstGeom>
          <a:solidFill>
            <a:srgbClr val="FFFFFF"/>
          </a:solidFill>
          <a:ln w="9525">
            <a:solidFill>
              <a:srgbClr val="EDF1F6"/>
            </a:solidFill>
            <a:prstDash val="solid"/>
          </a:ln>
        </p:spPr>
        <p:txBody>
          <a:bodyPr/>
          <a:p/>
        </p:txBody>
      </p:sp>
      <p:sp>
        <p:nvSpPr>
          <p:cNvPr id="96" name="Shape 94"/>
          <p:cNvSpPr/>
          <p:nvPr/>
        </p:nvSpPr>
        <p:spPr>
          <a:xfrm>
            <a:off x="10796778" y="3291840"/>
            <a:ext cx="889254" cy="256032"/>
          </a:xfrm>
          <a:prstGeom prst="rect">
            <a:avLst/>
          </a:prstGeom>
          <a:solidFill>
            <a:srgbClr val="FFFFFF"/>
          </a:solidFill>
          <a:ln w="9525">
            <a:solidFill>
              <a:srgbClr val="EDF1F6"/>
            </a:solidFill>
            <a:prstDash val="solid"/>
          </a:ln>
        </p:spPr>
        <p:txBody>
          <a:bodyPr/>
          <a:p/>
        </p:txBody>
      </p:sp>
      <p:sp>
        <p:nvSpPr>
          <p:cNvPr id="97" name="Shape 95"/>
          <p:cNvSpPr/>
          <p:nvPr/>
        </p:nvSpPr>
        <p:spPr>
          <a:xfrm>
            <a:off x="8156448" y="3328416"/>
            <a:ext cx="834390" cy="182880"/>
          </a:xfrm>
          <a:prstGeom prst="roundRect">
            <a:avLst>
              <a:gd name="adj" fmla="val 20000"/>
            </a:avLst>
          </a:prstGeom>
          <a:solidFill>
            <a:srgbClr val="0E7C7B"/>
          </a:solidFill>
          <a:ln w="12700">
            <a:solidFill>
              <a:srgbClr val="0E7C7B"/>
            </a:solidFill>
            <a:prstDash val="solid"/>
          </a:ln>
        </p:spPr>
        <p:txBody>
          <a:bodyPr/>
          <a:p/>
        </p:txBody>
      </p:sp>
      <p:sp>
        <p:nvSpPr>
          <p:cNvPr id="98" name="Shape 96"/>
          <p:cNvSpPr/>
          <p:nvPr/>
        </p:nvSpPr>
        <p:spPr>
          <a:xfrm>
            <a:off x="502920" y="3602736"/>
            <a:ext cx="237744" cy="256032"/>
          </a:xfrm>
          <a:prstGeom prst="roundRect">
            <a:avLst>
              <a:gd name="adj" fmla="val 19231"/>
            </a:avLst>
          </a:prstGeom>
          <a:solidFill>
            <a:srgbClr val="0E7C7B"/>
          </a:solidFill>
          <a:ln w="12700">
            <a:solidFill>
              <a:srgbClr val="0E7C7B"/>
            </a:solidFill>
            <a:prstDash val="solid"/>
          </a:ln>
        </p:spPr>
        <p:txBody>
          <a:bodyPr/>
          <a:p/>
        </p:txBody>
      </p:sp>
      <p:sp>
        <p:nvSpPr>
          <p:cNvPr id="99" name="Text 97"/>
          <p:cNvSpPr/>
          <p:nvPr/>
        </p:nvSpPr>
        <p:spPr>
          <a:xfrm>
            <a:off x="502920" y="3602736"/>
            <a:ext cx="23774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100" name="Text 98"/>
          <p:cNvSpPr/>
          <p:nvPr/>
        </p:nvSpPr>
        <p:spPr>
          <a:xfrm>
            <a:off x="795528" y="3602736"/>
            <a:ext cx="1325880" cy="256032"/>
          </a:xfrm>
          <a:prstGeom prst="rect">
            <a:avLst/>
          </a:prstGeom>
          <a:noFill/>
          <a:ln/>
        </p:spPr>
        <p:txBody>
          <a:bodyPr wrap="square" lIns="0" tIns="0" rIns="0" bIns="0" rtlCol="0" anchor="ctr"/>
          <a:lstStyle/>
          <a:p>
            <a:pPr indent="0" marL="0">
              <a:buNone/>
            </a:pPr>
            <a:r>
              <a:rPr lang="en-US" sz="950" b="1" dirty="0">
                <a:solidFill>
                  <a:srgbClr val="152A4E"/>
                </a:solidFill>
                <a:latin typeface="Calibri" pitchFamily="34" charset="0"/>
                <a:ea typeface="Calibri" pitchFamily="34" charset="-122"/>
                <a:cs typeface="Calibri" pitchFamily="34" charset="-120"/>
              </a:rPr>
              <a:t>Reporting</a:t>
            </a:r>
            <a:endParaRPr lang="en-US" sz="950" dirty="0"/>
          </a:p>
        </p:txBody>
      </p:sp>
      <p:sp>
        <p:nvSpPr>
          <p:cNvPr id="101" name="Text 99"/>
          <p:cNvSpPr/>
          <p:nvPr/>
        </p:nvSpPr>
        <p:spPr>
          <a:xfrm>
            <a:off x="2176272" y="3602736"/>
            <a:ext cx="2286000" cy="256032"/>
          </a:xfrm>
          <a:prstGeom prst="rect">
            <a:avLst/>
          </a:prstGeom>
          <a:noFill/>
          <a:ln/>
        </p:spPr>
        <p:txBody>
          <a:bodyPr wrap="square" lIns="0" tIns="0" rIns="0" bIns="0" rtlCol="0" anchor="ctr"/>
          <a:lstStyle/>
          <a:p>
            <a:pPr indent="0" marL="0">
              <a:lnSpc>
                <a:spcPts val="900"/>
              </a:lnSpc>
              <a:buNone/>
            </a:pPr>
            <a:r>
              <a:rPr lang="en-US" sz="750" dirty="0">
                <a:solidFill>
                  <a:srgbClr val="6B7280"/>
                </a:solidFill>
                <a:latin typeface="Calibri" pitchFamily="34" charset="0"/>
                <a:ea typeface="Calibri" pitchFamily="34" charset="-122"/>
                <a:cs typeface="Calibri" pitchFamily="34" charset="-120"/>
              </a:rPr>
              <a:t>Dashboards for the six metrics</a:t>
            </a:r>
            <a:endParaRPr lang="en-US" sz="750" dirty="0"/>
          </a:p>
        </p:txBody>
      </p:sp>
      <p:sp>
        <p:nvSpPr>
          <p:cNvPr id="102" name="Shape 100"/>
          <p:cNvSpPr/>
          <p:nvPr/>
        </p:nvSpPr>
        <p:spPr>
          <a:xfrm>
            <a:off x="4572000" y="3602736"/>
            <a:ext cx="889254" cy="256032"/>
          </a:xfrm>
          <a:prstGeom prst="rect">
            <a:avLst/>
          </a:prstGeom>
          <a:solidFill>
            <a:srgbClr val="FFFFFF"/>
          </a:solidFill>
          <a:ln w="9525">
            <a:solidFill>
              <a:srgbClr val="EDF1F6"/>
            </a:solidFill>
            <a:prstDash val="solid"/>
          </a:ln>
        </p:spPr>
        <p:txBody>
          <a:bodyPr/>
          <a:p/>
        </p:txBody>
      </p:sp>
      <p:sp>
        <p:nvSpPr>
          <p:cNvPr id="103" name="Shape 101"/>
          <p:cNvSpPr/>
          <p:nvPr/>
        </p:nvSpPr>
        <p:spPr>
          <a:xfrm>
            <a:off x="5461254" y="3602736"/>
            <a:ext cx="889254" cy="256032"/>
          </a:xfrm>
          <a:prstGeom prst="rect">
            <a:avLst/>
          </a:prstGeom>
          <a:solidFill>
            <a:srgbClr val="FFFFFF"/>
          </a:solidFill>
          <a:ln w="9525">
            <a:solidFill>
              <a:srgbClr val="EDF1F6"/>
            </a:solidFill>
            <a:prstDash val="solid"/>
          </a:ln>
        </p:spPr>
        <p:txBody>
          <a:bodyPr/>
          <a:p/>
        </p:txBody>
      </p:sp>
      <p:sp>
        <p:nvSpPr>
          <p:cNvPr id="104" name="Shape 102"/>
          <p:cNvSpPr/>
          <p:nvPr/>
        </p:nvSpPr>
        <p:spPr>
          <a:xfrm>
            <a:off x="6350508" y="3602736"/>
            <a:ext cx="889254" cy="256032"/>
          </a:xfrm>
          <a:prstGeom prst="rect">
            <a:avLst/>
          </a:prstGeom>
          <a:solidFill>
            <a:srgbClr val="FFFFFF"/>
          </a:solidFill>
          <a:ln w="9525">
            <a:solidFill>
              <a:srgbClr val="EDF1F6"/>
            </a:solidFill>
            <a:prstDash val="solid"/>
          </a:ln>
        </p:spPr>
        <p:txBody>
          <a:bodyPr/>
          <a:p/>
        </p:txBody>
      </p:sp>
      <p:sp>
        <p:nvSpPr>
          <p:cNvPr id="105" name="Shape 103"/>
          <p:cNvSpPr/>
          <p:nvPr/>
        </p:nvSpPr>
        <p:spPr>
          <a:xfrm>
            <a:off x="7239762" y="3602736"/>
            <a:ext cx="889254" cy="256032"/>
          </a:xfrm>
          <a:prstGeom prst="rect">
            <a:avLst/>
          </a:prstGeom>
          <a:solidFill>
            <a:srgbClr val="FFFFFF"/>
          </a:solidFill>
          <a:ln w="9525">
            <a:solidFill>
              <a:srgbClr val="EDF1F6"/>
            </a:solidFill>
            <a:prstDash val="solid"/>
          </a:ln>
        </p:spPr>
        <p:txBody>
          <a:bodyPr/>
          <a:p/>
        </p:txBody>
      </p:sp>
      <p:sp>
        <p:nvSpPr>
          <p:cNvPr id="106" name="Shape 104"/>
          <p:cNvSpPr/>
          <p:nvPr/>
        </p:nvSpPr>
        <p:spPr>
          <a:xfrm>
            <a:off x="8129016" y="3602736"/>
            <a:ext cx="889254" cy="256032"/>
          </a:xfrm>
          <a:prstGeom prst="rect">
            <a:avLst/>
          </a:prstGeom>
          <a:solidFill>
            <a:srgbClr val="FFFFFF"/>
          </a:solidFill>
          <a:ln w="9525">
            <a:solidFill>
              <a:srgbClr val="EDF1F6"/>
            </a:solidFill>
            <a:prstDash val="solid"/>
          </a:ln>
        </p:spPr>
        <p:txBody>
          <a:bodyPr/>
          <a:p/>
        </p:txBody>
      </p:sp>
      <p:sp>
        <p:nvSpPr>
          <p:cNvPr id="107" name="Shape 105"/>
          <p:cNvSpPr/>
          <p:nvPr/>
        </p:nvSpPr>
        <p:spPr>
          <a:xfrm>
            <a:off x="9018270" y="3602736"/>
            <a:ext cx="889254" cy="256032"/>
          </a:xfrm>
          <a:prstGeom prst="rect">
            <a:avLst/>
          </a:prstGeom>
          <a:solidFill>
            <a:srgbClr val="FFFFFF"/>
          </a:solidFill>
          <a:ln w="9525">
            <a:solidFill>
              <a:srgbClr val="EDF1F6"/>
            </a:solidFill>
            <a:prstDash val="solid"/>
          </a:ln>
        </p:spPr>
        <p:txBody>
          <a:bodyPr/>
          <a:p/>
        </p:txBody>
      </p:sp>
      <p:sp>
        <p:nvSpPr>
          <p:cNvPr id="108" name="Shape 106"/>
          <p:cNvSpPr/>
          <p:nvPr/>
        </p:nvSpPr>
        <p:spPr>
          <a:xfrm>
            <a:off x="9907524" y="3602736"/>
            <a:ext cx="889254" cy="256032"/>
          </a:xfrm>
          <a:prstGeom prst="rect">
            <a:avLst/>
          </a:prstGeom>
          <a:solidFill>
            <a:srgbClr val="FFFFFF"/>
          </a:solidFill>
          <a:ln w="9525">
            <a:solidFill>
              <a:srgbClr val="EDF1F6"/>
            </a:solidFill>
            <a:prstDash val="solid"/>
          </a:ln>
        </p:spPr>
        <p:txBody>
          <a:bodyPr/>
          <a:p/>
        </p:txBody>
      </p:sp>
      <p:sp>
        <p:nvSpPr>
          <p:cNvPr id="109" name="Shape 107"/>
          <p:cNvSpPr/>
          <p:nvPr/>
        </p:nvSpPr>
        <p:spPr>
          <a:xfrm>
            <a:off x="10796778" y="3602736"/>
            <a:ext cx="889254" cy="256032"/>
          </a:xfrm>
          <a:prstGeom prst="rect">
            <a:avLst/>
          </a:prstGeom>
          <a:solidFill>
            <a:srgbClr val="FFFFFF"/>
          </a:solidFill>
          <a:ln w="9525">
            <a:solidFill>
              <a:srgbClr val="EDF1F6"/>
            </a:solidFill>
            <a:prstDash val="solid"/>
          </a:ln>
        </p:spPr>
        <p:txBody>
          <a:bodyPr/>
          <a:p/>
        </p:txBody>
      </p:sp>
      <p:sp>
        <p:nvSpPr>
          <p:cNvPr id="110" name="Shape 108"/>
          <p:cNvSpPr/>
          <p:nvPr/>
        </p:nvSpPr>
        <p:spPr>
          <a:xfrm>
            <a:off x="8156448" y="3639312"/>
            <a:ext cx="1723644" cy="182880"/>
          </a:xfrm>
          <a:prstGeom prst="roundRect">
            <a:avLst>
              <a:gd name="adj" fmla="val 20000"/>
            </a:avLst>
          </a:prstGeom>
          <a:solidFill>
            <a:srgbClr val="0E7C7B"/>
          </a:solidFill>
          <a:ln w="12700">
            <a:solidFill>
              <a:srgbClr val="0E7C7B"/>
            </a:solidFill>
            <a:prstDash val="solid"/>
          </a:ln>
        </p:spPr>
        <p:txBody>
          <a:bodyPr/>
          <a:p/>
        </p:txBody>
      </p:sp>
      <p:sp>
        <p:nvSpPr>
          <p:cNvPr id="111" name="Shape 109"/>
          <p:cNvSpPr/>
          <p:nvPr/>
        </p:nvSpPr>
        <p:spPr>
          <a:xfrm>
            <a:off x="502920" y="3913632"/>
            <a:ext cx="237744" cy="256032"/>
          </a:xfrm>
          <a:prstGeom prst="roundRect">
            <a:avLst>
              <a:gd name="adj" fmla="val 19231"/>
            </a:avLst>
          </a:prstGeom>
          <a:solidFill>
            <a:srgbClr val="A86A11"/>
          </a:solidFill>
          <a:ln w="12700">
            <a:solidFill>
              <a:srgbClr val="A86A11"/>
            </a:solidFill>
            <a:prstDash val="solid"/>
          </a:ln>
        </p:spPr>
        <p:txBody>
          <a:bodyPr/>
          <a:p/>
        </p:txBody>
      </p:sp>
      <p:sp>
        <p:nvSpPr>
          <p:cNvPr id="112" name="Text 110"/>
          <p:cNvSpPr/>
          <p:nvPr/>
        </p:nvSpPr>
        <p:spPr>
          <a:xfrm>
            <a:off x="502920" y="3913632"/>
            <a:ext cx="23774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a:t>
            </a:r>
            <a:endParaRPr lang="en-US" sz="950" dirty="0"/>
          </a:p>
        </p:txBody>
      </p:sp>
      <p:sp>
        <p:nvSpPr>
          <p:cNvPr id="113" name="Text 111"/>
          <p:cNvSpPr/>
          <p:nvPr/>
        </p:nvSpPr>
        <p:spPr>
          <a:xfrm>
            <a:off x="795528" y="3913632"/>
            <a:ext cx="1325880" cy="256032"/>
          </a:xfrm>
          <a:prstGeom prst="rect">
            <a:avLst/>
          </a:prstGeom>
          <a:noFill/>
          <a:ln/>
        </p:spPr>
        <p:txBody>
          <a:bodyPr wrap="square" lIns="0" tIns="0" rIns="0" bIns="0" rtlCol="0" anchor="ctr"/>
          <a:lstStyle/>
          <a:p>
            <a:pPr indent="0" marL="0">
              <a:buNone/>
            </a:pPr>
            <a:r>
              <a:rPr lang="en-US" sz="950" b="1" dirty="0">
                <a:solidFill>
                  <a:srgbClr val="152A4E"/>
                </a:solidFill>
                <a:latin typeface="Calibri" pitchFamily="34" charset="0"/>
                <a:ea typeface="Calibri" pitchFamily="34" charset="-122"/>
                <a:cs typeface="Calibri" pitchFamily="34" charset="-120"/>
              </a:rPr>
              <a:t>Pilot — one tower</a:t>
            </a:r>
            <a:endParaRPr lang="en-US" sz="950" dirty="0"/>
          </a:p>
        </p:txBody>
      </p:sp>
      <p:sp>
        <p:nvSpPr>
          <p:cNvPr id="114" name="Text 112"/>
          <p:cNvSpPr/>
          <p:nvPr/>
        </p:nvSpPr>
        <p:spPr>
          <a:xfrm>
            <a:off x="2176272" y="3913632"/>
            <a:ext cx="2286000" cy="256032"/>
          </a:xfrm>
          <a:prstGeom prst="rect">
            <a:avLst/>
          </a:prstGeom>
          <a:noFill/>
          <a:ln/>
        </p:spPr>
        <p:txBody>
          <a:bodyPr wrap="square" lIns="0" tIns="0" rIns="0" bIns="0" rtlCol="0" anchor="ctr"/>
          <a:lstStyle/>
          <a:p>
            <a:pPr indent="0" marL="0">
              <a:lnSpc>
                <a:spcPts val="900"/>
              </a:lnSpc>
              <a:buNone/>
            </a:pPr>
            <a:r>
              <a:rPr lang="en-US" sz="750" dirty="0">
                <a:solidFill>
                  <a:srgbClr val="6B7280"/>
                </a:solidFill>
                <a:latin typeface="Calibri" pitchFamily="34" charset="0"/>
                <a:ea typeface="Calibri" pitchFamily="34" charset="-122"/>
                <a:cs typeface="Calibri" pitchFamily="34" charset="-120"/>
              </a:rPr>
              <a:t>Seeded traffic; tune SLA targets and the escalation gate</a:t>
            </a:r>
            <a:endParaRPr lang="en-US" sz="750" dirty="0"/>
          </a:p>
        </p:txBody>
      </p:sp>
      <p:sp>
        <p:nvSpPr>
          <p:cNvPr id="115" name="Shape 113"/>
          <p:cNvSpPr/>
          <p:nvPr/>
        </p:nvSpPr>
        <p:spPr>
          <a:xfrm>
            <a:off x="4572000" y="3913632"/>
            <a:ext cx="889254" cy="256032"/>
          </a:xfrm>
          <a:prstGeom prst="rect">
            <a:avLst/>
          </a:prstGeom>
          <a:solidFill>
            <a:srgbClr val="FFFFFF"/>
          </a:solidFill>
          <a:ln w="9525">
            <a:solidFill>
              <a:srgbClr val="EDF1F6"/>
            </a:solidFill>
            <a:prstDash val="solid"/>
          </a:ln>
        </p:spPr>
        <p:txBody>
          <a:bodyPr/>
          <a:p/>
        </p:txBody>
      </p:sp>
      <p:sp>
        <p:nvSpPr>
          <p:cNvPr id="116" name="Shape 114"/>
          <p:cNvSpPr/>
          <p:nvPr/>
        </p:nvSpPr>
        <p:spPr>
          <a:xfrm>
            <a:off x="5461254" y="3913632"/>
            <a:ext cx="889254" cy="256032"/>
          </a:xfrm>
          <a:prstGeom prst="rect">
            <a:avLst/>
          </a:prstGeom>
          <a:solidFill>
            <a:srgbClr val="FFFFFF"/>
          </a:solidFill>
          <a:ln w="9525">
            <a:solidFill>
              <a:srgbClr val="EDF1F6"/>
            </a:solidFill>
            <a:prstDash val="solid"/>
          </a:ln>
        </p:spPr>
        <p:txBody>
          <a:bodyPr/>
          <a:p/>
        </p:txBody>
      </p:sp>
      <p:sp>
        <p:nvSpPr>
          <p:cNvPr id="117" name="Shape 115"/>
          <p:cNvSpPr/>
          <p:nvPr/>
        </p:nvSpPr>
        <p:spPr>
          <a:xfrm>
            <a:off x="6350508" y="3913632"/>
            <a:ext cx="889254" cy="256032"/>
          </a:xfrm>
          <a:prstGeom prst="rect">
            <a:avLst/>
          </a:prstGeom>
          <a:solidFill>
            <a:srgbClr val="FFFFFF"/>
          </a:solidFill>
          <a:ln w="9525">
            <a:solidFill>
              <a:srgbClr val="EDF1F6"/>
            </a:solidFill>
            <a:prstDash val="solid"/>
          </a:ln>
        </p:spPr>
        <p:txBody>
          <a:bodyPr/>
          <a:p/>
        </p:txBody>
      </p:sp>
      <p:sp>
        <p:nvSpPr>
          <p:cNvPr id="118" name="Shape 116"/>
          <p:cNvSpPr/>
          <p:nvPr/>
        </p:nvSpPr>
        <p:spPr>
          <a:xfrm>
            <a:off x="7239762" y="3913632"/>
            <a:ext cx="889254" cy="256032"/>
          </a:xfrm>
          <a:prstGeom prst="rect">
            <a:avLst/>
          </a:prstGeom>
          <a:solidFill>
            <a:srgbClr val="FFFFFF"/>
          </a:solidFill>
          <a:ln w="9525">
            <a:solidFill>
              <a:srgbClr val="EDF1F6"/>
            </a:solidFill>
            <a:prstDash val="solid"/>
          </a:ln>
        </p:spPr>
        <p:txBody>
          <a:bodyPr/>
          <a:p/>
        </p:txBody>
      </p:sp>
      <p:sp>
        <p:nvSpPr>
          <p:cNvPr id="119" name="Shape 117"/>
          <p:cNvSpPr/>
          <p:nvPr/>
        </p:nvSpPr>
        <p:spPr>
          <a:xfrm>
            <a:off x="8129016" y="3913632"/>
            <a:ext cx="889254" cy="256032"/>
          </a:xfrm>
          <a:prstGeom prst="rect">
            <a:avLst/>
          </a:prstGeom>
          <a:solidFill>
            <a:srgbClr val="FFFFFF"/>
          </a:solidFill>
          <a:ln w="9525">
            <a:solidFill>
              <a:srgbClr val="EDF1F6"/>
            </a:solidFill>
            <a:prstDash val="solid"/>
          </a:ln>
        </p:spPr>
        <p:txBody>
          <a:bodyPr/>
          <a:p/>
        </p:txBody>
      </p:sp>
      <p:sp>
        <p:nvSpPr>
          <p:cNvPr id="120" name="Shape 118"/>
          <p:cNvSpPr/>
          <p:nvPr/>
        </p:nvSpPr>
        <p:spPr>
          <a:xfrm>
            <a:off x="9018270" y="3913632"/>
            <a:ext cx="889254" cy="256032"/>
          </a:xfrm>
          <a:prstGeom prst="rect">
            <a:avLst/>
          </a:prstGeom>
          <a:solidFill>
            <a:srgbClr val="FFFFFF"/>
          </a:solidFill>
          <a:ln w="9525">
            <a:solidFill>
              <a:srgbClr val="EDF1F6"/>
            </a:solidFill>
            <a:prstDash val="solid"/>
          </a:ln>
        </p:spPr>
        <p:txBody>
          <a:bodyPr/>
          <a:p/>
        </p:txBody>
      </p:sp>
      <p:sp>
        <p:nvSpPr>
          <p:cNvPr id="121" name="Shape 119"/>
          <p:cNvSpPr/>
          <p:nvPr/>
        </p:nvSpPr>
        <p:spPr>
          <a:xfrm>
            <a:off x="9907524" y="3913632"/>
            <a:ext cx="889254" cy="256032"/>
          </a:xfrm>
          <a:prstGeom prst="rect">
            <a:avLst/>
          </a:prstGeom>
          <a:solidFill>
            <a:srgbClr val="FFFFFF"/>
          </a:solidFill>
          <a:ln w="9525">
            <a:solidFill>
              <a:srgbClr val="EDF1F6"/>
            </a:solidFill>
            <a:prstDash val="solid"/>
          </a:ln>
        </p:spPr>
        <p:txBody>
          <a:bodyPr/>
          <a:p/>
        </p:txBody>
      </p:sp>
      <p:sp>
        <p:nvSpPr>
          <p:cNvPr id="122" name="Shape 120"/>
          <p:cNvSpPr/>
          <p:nvPr/>
        </p:nvSpPr>
        <p:spPr>
          <a:xfrm>
            <a:off x="10796778" y="3913632"/>
            <a:ext cx="889254" cy="256032"/>
          </a:xfrm>
          <a:prstGeom prst="rect">
            <a:avLst/>
          </a:prstGeom>
          <a:solidFill>
            <a:srgbClr val="FFFFFF"/>
          </a:solidFill>
          <a:ln w="9525">
            <a:solidFill>
              <a:srgbClr val="EDF1F6"/>
            </a:solidFill>
            <a:prstDash val="solid"/>
          </a:ln>
        </p:spPr>
        <p:txBody>
          <a:bodyPr/>
          <a:p/>
        </p:txBody>
      </p:sp>
      <p:sp>
        <p:nvSpPr>
          <p:cNvPr id="123" name="Shape 121"/>
          <p:cNvSpPr/>
          <p:nvPr/>
        </p:nvSpPr>
        <p:spPr>
          <a:xfrm>
            <a:off x="9045702" y="3950208"/>
            <a:ext cx="1723644" cy="182880"/>
          </a:xfrm>
          <a:prstGeom prst="roundRect">
            <a:avLst>
              <a:gd name="adj" fmla="val 20000"/>
            </a:avLst>
          </a:prstGeom>
          <a:solidFill>
            <a:srgbClr val="A86A11"/>
          </a:solidFill>
          <a:ln w="12700">
            <a:solidFill>
              <a:srgbClr val="A86A11"/>
            </a:solidFill>
            <a:prstDash val="solid"/>
          </a:ln>
        </p:spPr>
        <p:txBody>
          <a:bodyPr/>
          <a:p/>
        </p:txBody>
      </p:sp>
      <p:sp>
        <p:nvSpPr>
          <p:cNvPr id="124" name="Shape 122"/>
          <p:cNvSpPr/>
          <p:nvPr/>
        </p:nvSpPr>
        <p:spPr>
          <a:xfrm>
            <a:off x="502920" y="4224528"/>
            <a:ext cx="237744" cy="256032"/>
          </a:xfrm>
          <a:prstGeom prst="roundRect">
            <a:avLst>
              <a:gd name="adj" fmla="val 19231"/>
            </a:avLst>
          </a:prstGeom>
          <a:solidFill>
            <a:srgbClr val="27436F"/>
          </a:solidFill>
          <a:ln w="12700">
            <a:solidFill>
              <a:srgbClr val="27436F"/>
            </a:solidFill>
            <a:prstDash val="solid"/>
          </a:ln>
        </p:spPr>
        <p:txBody>
          <a:bodyPr/>
          <a:p/>
        </p:txBody>
      </p:sp>
      <p:sp>
        <p:nvSpPr>
          <p:cNvPr id="125" name="Text 123"/>
          <p:cNvSpPr/>
          <p:nvPr/>
        </p:nvSpPr>
        <p:spPr>
          <a:xfrm>
            <a:off x="502920" y="4224528"/>
            <a:ext cx="23774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126" name="Text 124"/>
          <p:cNvSpPr/>
          <p:nvPr/>
        </p:nvSpPr>
        <p:spPr>
          <a:xfrm>
            <a:off x="795528" y="4224528"/>
            <a:ext cx="1325880" cy="256032"/>
          </a:xfrm>
          <a:prstGeom prst="rect">
            <a:avLst/>
          </a:prstGeom>
          <a:noFill/>
          <a:ln/>
        </p:spPr>
        <p:txBody>
          <a:bodyPr wrap="square" lIns="0" tIns="0" rIns="0" bIns="0" rtlCol="0" anchor="ctr"/>
          <a:lstStyle/>
          <a:p>
            <a:pPr indent="0" marL="0">
              <a:buNone/>
            </a:pPr>
            <a:r>
              <a:rPr lang="en-US" sz="950" b="1" dirty="0">
                <a:solidFill>
                  <a:srgbClr val="152A4E"/>
                </a:solidFill>
                <a:latin typeface="Calibri" pitchFamily="34" charset="0"/>
                <a:ea typeface="Calibri" pitchFamily="34" charset="-122"/>
                <a:cs typeface="Calibri" pitchFamily="34" charset="-120"/>
              </a:rPr>
              <a:t>Rollout</a:t>
            </a:r>
            <a:endParaRPr lang="en-US" sz="950" dirty="0"/>
          </a:p>
        </p:txBody>
      </p:sp>
      <p:sp>
        <p:nvSpPr>
          <p:cNvPr id="127" name="Text 125"/>
          <p:cNvSpPr/>
          <p:nvPr/>
        </p:nvSpPr>
        <p:spPr>
          <a:xfrm>
            <a:off x="2176272" y="4224528"/>
            <a:ext cx="2286000" cy="256032"/>
          </a:xfrm>
          <a:prstGeom prst="rect">
            <a:avLst/>
          </a:prstGeom>
          <a:noFill/>
          <a:ln/>
        </p:spPr>
        <p:txBody>
          <a:bodyPr wrap="square" lIns="0" tIns="0" rIns="0" bIns="0" rtlCol="0" anchor="ctr"/>
          <a:lstStyle/>
          <a:p>
            <a:pPr indent="0" marL="0">
              <a:lnSpc>
                <a:spcPts val="900"/>
              </a:lnSpc>
              <a:buNone/>
            </a:pPr>
            <a:r>
              <a:rPr lang="en-US" sz="750" dirty="0">
                <a:solidFill>
                  <a:srgbClr val="6B7280"/>
                </a:solidFill>
                <a:latin typeface="Calibri" pitchFamily="34" charset="0"/>
                <a:ea typeface="Calibri" pitchFamily="34" charset="-122"/>
                <a:cs typeface="Calibri" pitchFamily="34" charset="-120"/>
              </a:rPr>
              <a:t>Remaining towers; KB seeded from the pilot's recurring issues</a:t>
            </a:r>
            <a:endParaRPr lang="en-US" sz="750" dirty="0"/>
          </a:p>
        </p:txBody>
      </p:sp>
      <p:sp>
        <p:nvSpPr>
          <p:cNvPr id="128" name="Shape 126"/>
          <p:cNvSpPr/>
          <p:nvPr/>
        </p:nvSpPr>
        <p:spPr>
          <a:xfrm>
            <a:off x="4572000" y="4224528"/>
            <a:ext cx="889254" cy="256032"/>
          </a:xfrm>
          <a:prstGeom prst="rect">
            <a:avLst/>
          </a:prstGeom>
          <a:solidFill>
            <a:srgbClr val="FFFFFF"/>
          </a:solidFill>
          <a:ln w="9525">
            <a:solidFill>
              <a:srgbClr val="EDF1F6"/>
            </a:solidFill>
            <a:prstDash val="solid"/>
          </a:ln>
        </p:spPr>
        <p:txBody>
          <a:bodyPr/>
          <a:p/>
        </p:txBody>
      </p:sp>
      <p:sp>
        <p:nvSpPr>
          <p:cNvPr id="129" name="Shape 127"/>
          <p:cNvSpPr/>
          <p:nvPr/>
        </p:nvSpPr>
        <p:spPr>
          <a:xfrm>
            <a:off x="5461254" y="4224528"/>
            <a:ext cx="889254" cy="256032"/>
          </a:xfrm>
          <a:prstGeom prst="rect">
            <a:avLst/>
          </a:prstGeom>
          <a:solidFill>
            <a:srgbClr val="FFFFFF"/>
          </a:solidFill>
          <a:ln w="9525">
            <a:solidFill>
              <a:srgbClr val="EDF1F6"/>
            </a:solidFill>
            <a:prstDash val="solid"/>
          </a:ln>
        </p:spPr>
        <p:txBody>
          <a:bodyPr/>
          <a:p/>
        </p:txBody>
      </p:sp>
      <p:sp>
        <p:nvSpPr>
          <p:cNvPr id="130" name="Shape 128"/>
          <p:cNvSpPr/>
          <p:nvPr/>
        </p:nvSpPr>
        <p:spPr>
          <a:xfrm>
            <a:off x="6350508" y="4224528"/>
            <a:ext cx="889254" cy="256032"/>
          </a:xfrm>
          <a:prstGeom prst="rect">
            <a:avLst/>
          </a:prstGeom>
          <a:solidFill>
            <a:srgbClr val="FFFFFF"/>
          </a:solidFill>
          <a:ln w="9525">
            <a:solidFill>
              <a:srgbClr val="EDF1F6"/>
            </a:solidFill>
            <a:prstDash val="solid"/>
          </a:ln>
        </p:spPr>
        <p:txBody>
          <a:bodyPr/>
          <a:p/>
        </p:txBody>
      </p:sp>
      <p:sp>
        <p:nvSpPr>
          <p:cNvPr id="131" name="Shape 129"/>
          <p:cNvSpPr/>
          <p:nvPr/>
        </p:nvSpPr>
        <p:spPr>
          <a:xfrm>
            <a:off x="7239762" y="4224528"/>
            <a:ext cx="889254" cy="256032"/>
          </a:xfrm>
          <a:prstGeom prst="rect">
            <a:avLst/>
          </a:prstGeom>
          <a:solidFill>
            <a:srgbClr val="FFFFFF"/>
          </a:solidFill>
          <a:ln w="9525">
            <a:solidFill>
              <a:srgbClr val="EDF1F6"/>
            </a:solidFill>
            <a:prstDash val="solid"/>
          </a:ln>
        </p:spPr>
        <p:txBody>
          <a:bodyPr/>
          <a:p/>
        </p:txBody>
      </p:sp>
      <p:sp>
        <p:nvSpPr>
          <p:cNvPr id="132" name="Shape 130"/>
          <p:cNvSpPr/>
          <p:nvPr/>
        </p:nvSpPr>
        <p:spPr>
          <a:xfrm>
            <a:off x="8129016" y="4224528"/>
            <a:ext cx="889254" cy="256032"/>
          </a:xfrm>
          <a:prstGeom prst="rect">
            <a:avLst/>
          </a:prstGeom>
          <a:solidFill>
            <a:srgbClr val="FFFFFF"/>
          </a:solidFill>
          <a:ln w="9525">
            <a:solidFill>
              <a:srgbClr val="EDF1F6"/>
            </a:solidFill>
            <a:prstDash val="solid"/>
          </a:ln>
        </p:spPr>
        <p:txBody>
          <a:bodyPr/>
          <a:p/>
        </p:txBody>
      </p:sp>
      <p:sp>
        <p:nvSpPr>
          <p:cNvPr id="133" name="Shape 131"/>
          <p:cNvSpPr/>
          <p:nvPr/>
        </p:nvSpPr>
        <p:spPr>
          <a:xfrm>
            <a:off x="9018270" y="4224528"/>
            <a:ext cx="889254" cy="256032"/>
          </a:xfrm>
          <a:prstGeom prst="rect">
            <a:avLst/>
          </a:prstGeom>
          <a:solidFill>
            <a:srgbClr val="FFFFFF"/>
          </a:solidFill>
          <a:ln w="9525">
            <a:solidFill>
              <a:srgbClr val="EDF1F6"/>
            </a:solidFill>
            <a:prstDash val="solid"/>
          </a:ln>
        </p:spPr>
        <p:txBody>
          <a:bodyPr/>
          <a:p/>
        </p:txBody>
      </p:sp>
      <p:sp>
        <p:nvSpPr>
          <p:cNvPr id="134" name="Shape 132"/>
          <p:cNvSpPr/>
          <p:nvPr/>
        </p:nvSpPr>
        <p:spPr>
          <a:xfrm>
            <a:off x="9907524" y="4224528"/>
            <a:ext cx="889254" cy="256032"/>
          </a:xfrm>
          <a:prstGeom prst="rect">
            <a:avLst/>
          </a:prstGeom>
          <a:solidFill>
            <a:srgbClr val="FFFFFF"/>
          </a:solidFill>
          <a:ln w="9525">
            <a:solidFill>
              <a:srgbClr val="EDF1F6"/>
            </a:solidFill>
            <a:prstDash val="solid"/>
          </a:ln>
        </p:spPr>
        <p:txBody>
          <a:bodyPr/>
          <a:p/>
        </p:txBody>
      </p:sp>
      <p:sp>
        <p:nvSpPr>
          <p:cNvPr id="135" name="Shape 133"/>
          <p:cNvSpPr/>
          <p:nvPr/>
        </p:nvSpPr>
        <p:spPr>
          <a:xfrm>
            <a:off x="10796778" y="4224528"/>
            <a:ext cx="889254" cy="256032"/>
          </a:xfrm>
          <a:prstGeom prst="rect">
            <a:avLst/>
          </a:prstGeom>
          <a:solidFill>
            <a:srgbClr val="FFFFFF"/>
          </a:solidFill>
          <a:ln w="9525">
            <a:solidFill>
              <a:srgbClr val="EDF1F6"/>
            </a:solidFill>
            <a:prstDash val="solid"/>
          </a:ln>
        </p:spPr>
        <p:txBody>
          <a:bodyPr/>
          <a:p/>
        </p:txBody>
      </p:sp>
      <p:sp>
        <p:nvSpPr>
          <p:cNvPr id="136" name="Shape 134"/>
          <p:cNvSpPr/>
          <p:nvPr/>
        </p:nvSpPr>
        <p:spPr>
          <a:xfrm>
            <a:off x="10824210" y="4261104"/>
            <a:ext cx="834390" cy="182880"/>
          </a:xfrm>
          <a:prstGeom prst="roundRect">
            <a:avLst>
              <a:gd name="adj" fmla="val 20000"/>
            </a:avLst>
          </a:prstGeom>
          <a:solidFill>
            <a:srgbClr val="27436F"/>
          </a:solidFill>
          <a:ln w="12700">
            <a:solidFill>
              <a:srgbClr val="27436F"/>
            </a:solidFill>
            <a:prstDash val="solid"/>
          </a:ln>
        </p:spPr>
        <p:txBody>
          <a:bodyPr/>
          <a:p/>
        </p:txBody>
      </p:sp>
      <p:sp>
        <p:nvSpPr>
          <p:cNvPr id="137" name="Text 135"/>
          <p:cNvSpPr/>
          <p:nvPr/>
        </p:nvSpPr>
        <p:spPr>
          <a:xfrm>
            <a:off x="9018270" y="3950208"/>
            <a:ext cx="177850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 weeks</a:t>
            </a:r>
            <a:endParaRPr lang="en-US" sz="800" dirty="0"/>
          </a:p>
        </p:txBody>
      </p:sp>
      <p:sp>
        <p:nvSpPr>
          <p:cNvPr id="138" name="Shape 136"/>
          <p:cNvSpPr/>
          <p:nvPr/>
        </p:nvSpPr>
        <p:spPr>
          <a:xfrm>
            <a:off x="502920" y="4754880"/>
            <a:ext cx="3602736" cy="1371600"/>
          </a:xfrm>
          <a:prstGeom prst="roundRect">
            <a:avLst>
              <a:gd name="adj" fmla="val 4000"/>
            </a:avLst>
          </a:prstGeom>
          <a:solidFill>
            <a:srgbClr val="D9EAE9"/>
          </a:solidFill>
          <a:ln w="12700">
            <a:solidFill>
              <a:srgbClr val="A9CFCD"/>
            </a:solidFill>
            <a:prstDash val="solid"/>
          </a:ln>
          <a:effectLst>
            <a:outerShdw sx="100000" sy="100000" kx="0" ky="0" algn="bl" rotWithShape="0" blurRad="76200" dist="12700" dir="5400000">
              <a:srgbClr val="9AA7BA">
                <a:alpha val="22000"/>
              </a:srgbClr>
            </a:outerShdw>
          </a:effectLst>
        </p:spPr>
        <p:txBody>
          <a:bodyPr/>
          <a:p/>
        </p:txBody>
      </p:sp>
      <p:sp>
        <p:nvSpPr>
          <p:cNvPr id="139" name="Text 137"/>
          <p:cNvSpPr/>
          <p:nvPr/>
        </p:nvSpPr>
        <p:spPr>
          <a:xfrm>
            <a:off x="685800" y="4864608"/>
            <a:ext cx="3236976" cy="365760"/>
          </a:xfrm>
          <a:prstGeom prst="rect">
            <a:avLst/>
          </a:prstGeom>
          <a:noFill/>
          <a:ln/>
        </p:spPr>
        <p:txBody>
          <a:bodyPr wrap="square" lIns="0" tIns="0" rIns="0" bIns="0" rtlCol="0" anchor="t"/>
          <a:lstStyle/>
          <a:p>
            <a:pPr indent="0" marL="0">
              <a:lnSpc>
                <a:spcPts val="1400"/>
              </a:lnSpc>
              <a:buNone/>
            </a:pPr>
            <a:r>
              <a:rPr lang="en-US" sz="1150" b="1" dirty="0">
                <a:solidFill>
                  <a:srgbClr val="0E7C7B"/>
                </a:solidFill>
                <a:latin typeface="Calibri" pitchFamily="34" charset="0"/>
                <a:ea typeface="Calibri" pitchFamily="34" charset="-122"/>
                <a:cs typeface="Calibri" pitchFamily="34" charset="-120"/>
              </a:rPr>
              <a:t>The pilot is not a formality</a:t>
            </a:r>
            <a:endParaRPr lang="en-US" sz="1150" dirty="0"/>
          </a:p>
        </p:txBody>
      </p:sp>
      <p:sp>
        <p:nvSpPr>
          <p:cNvPr id="140" name="Text 138"/>
          <p:cNvSpPr/>
          <p:nvPr/>
        </p:nvSpPr>
        <p:spPr>
          <a:xfrm>
            <a:off x="685800" y="5257800"/>
            <a:ext cx="3236976" cy="777240"/>
          </a:xfrm>
          <a:prstGeom prst="rect">
            <a:avLst/>
          </a:prstGeom>
          <a:noFill/>
          <a:ln/>
        </p:spPr>
        <p:txBody>
          <a:bodyPr wrap="square" lIns="0" tIns="0" rIns="0" bIns="0" rtlCol="0" anchor="t"/>
          <a:lstStyle/>
          <a:p>
            <a:pPr indent="0" marL="0">
              <a:lnSpc>
                <a:spcPts val="1250"/>
              </a:lnSpc>
              <a:buNone/>
            </a:pPr>
            <a:r>
              <a:rPr lang="en-US" sz="950" dirty="0">
                <a:solidFill>
                  <a:srgbClr val="1A1A1A"/>
                </a:solidFill>
                <a:latin typeface="Calibri" pitchFamily="34" charset="0"/>
                <a:ea typeface="Calibri" pitchFamily="34" charset="-122"/>
                <a:cs typeface="Calibri" pitchFamily="34" charset="-120"/>
              </a:rPr>
              <a:t>It is where SLA targets and the escalation gate are tuned against real traffic, and where the first Problem records become the KB articles that drive L1 deflection in every tower that follows.</a:t>
            </a:r>
            <a:endParaRPr lang="en-US" sz="950" dirty="0"/>
          </a:p>
        </p:txBody>
      </p:sp>
      <p:sp>
        <p:nvSpPr>
          <p:cNvPr id="141" name="Shape 139"/>
          <p:cNvSpPr/>
          <p:nvPr/>
        </p:nvSpPr>
        <p:spPr>
          <a:xfrm>
            <a:off x="4297680" y="4754880"/>
            <a:ext cx="3602736" cy="1371600"/>
          </a:xfrm>
          <a:prstGeom prst="roundRect">
            <a:avLst>
              <a:gd name="adj" fmla="val 4000"/>
            </a:avLst>
          </a:prstGeom>
          <a:solidFill>
            <a:srgbClr val="F7E5E3"/>
          </a:solidFill>
          <a:ln w="12700">
            <a:solidFill>
              <a:srgbClr val="E3BFBB"/>
            </a:solidFill>
            <a:prstDash val="solid"/>
          </a:ln>
          <a:effectLst>
            <a:outerShdw sx="100000" sy="100000" kx="0" ky="0" algn="bl" rotWithShape="0" blurRad="76200" dist="12700" dir="5400000">
              <a:srgbClr val="9AA7BA">
                <a:alpha val="22000"/>
              </a:srgbClr>
            </a:outerShdw>
          </a:effectLst>
        </p:spPr>
        <p:txBody>
          <a:bodyPr/>
          <a:p/>
        </p:txBody>
      </p:sp>
      <p:sp>
        <p:nvSpPr>
          <p:cNvPr id="142" name="Text 140"/>
          <p:cNvSpPr/>
          <p:nvPr/>
        </p:nvSpPr>
        <p:spPr>
          <a:xfrm>
            <a:off x="4480560" y="4864608"/>
            <a:ext cx="3236976" cy="365760"/>
          </a:xfrm>
          <a:prstGeom prst="rect">
            <a:avLst/>
          </a:prstGeom>
          <a:noFill/>
          <a:ln/>
        </p:spPr>
        <p:txBody>
          <a:bodyPr wrap="square" lIns="0" tIns="0" rIns="0" bIns="0" rtlCol="0" anchor="t"/>
          <a:lstStyle/>
          <a:p>
            <a:pPr indent="0" marL="0">
              <a:lnSpc>
                <a:spcPts val="1400"/>
              </a:lnSpc>
              <a:buNone/>
            </a:pPr>
            <a:r>
              <a:rPr lang="en-US" sz="1150" b="1" dirty="0">
                <a:solidFill>
                  <a:srgbClr val="9E2B25"/>
                </a:solidFill>
                <a:latin typeface="Calibri" pitchFamily="34" charset="0"/>
                <a:ea typeface="Calibri" pitchFamily="34" charset="-122"/>
                <a:cs typeface="Calibri" pitchFamily="34" charset="-120"/>
              </a:rPr>
              <a:t>Biggest risk: agents route around the gate</a:t>
            </a:r>
            <a:endParaRPr lang="en-US" sz="1150" dirty="0"/>
          </a:p>
        </p:txBody>
      </p:sp>
      <p:sp>
        <p:nvSpPr>
          <p:cNvPr id="143" name="Text 141"/>
          <p:cNvSpPr/>
          <p:nvPr/>
        </p:nvSpPr>
        <p:spPr>
          <a:xfrm>
            <a:off x="4480560" y="5257800"/>
            <a:ext cx="3236976" cy="777240"/>
          </a:xfrm>
          <a:prstGeom prst="rect">
            <a:avLst/>
          </a:prstGeom>
          <a:noFill/>
          <a:ln/>
        </p:spPr>
        <p:txBody>
          <a:bodyPr wrap="square" lIns="0" tIns="0" rIns="0" bIns="0" rtlCol="0" anchor="t"/>
          <a:lstStyle/>
          <a:p>
            <a:pPr indent="0" marL="0">
              <a:lnSpc>
                <a:spcPts val="1250"/>
              </a:lnSpc>
              <a:buNone/>
            </a:pPr>
            <a:r>
              <a:rPr lang="en-US" sz="950" dirty="0">
                <a:solidFill>
                  <a:srgbClr val="1A1A1A"/>
                </a:solidFill>
                <a:latin typeface="Calibri" pitchFamily="34" charset="0"/>
                <a:ea typeface="Calibri" pitchFamily="34" charset="-122"/>
                <a:cs typeface="Calibri" pitchFamily="34" charset="-120"/>
              </a:rPr>
              <a:t>An agent uses a different transition to reach L2 without filling the validator fields. Mitigation: the pilot's escalation-rate data exposes it within days, and transition permissions are tightened before rollout.</a:t>
            </a:r>
            <a:endParaRPr lang="en-US" sz="950" dirty="0"/>
          </a:p>
        </p:txBody>
      </p:sp>
      <p:sp>
        <p:nvSpPr>
          <p:cNvPr id="144" name="Shape 142"/>
          <p:cNvSpPr/>
          <p:nvPr/>
        </p:nvSpPr>
        <p:spPr>
          <a:xfrm>
            <a:off x="8092440" y="4754880"/>
            <a:ext cx="3602736" cy="1517904"/>
          </a:xfrm>
          <a:prstGeom prst="roundRect">
            <a:avLst>
              <a:gd name="adj" fmla="val 4000"/>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txBody>
          <a:bodyPr/>
          <a:p/>
        </p:txBody>
      </p:sp>
      <p:sp>
        <p:nvSpPr>
          <p:cNvPr id="145" name="Text 143"/>
          <p:cNvSpPr/>
          <p:nvPr/>
        </p:nvSpPr>
        <p:spPr>
          <a:xfrm>
            <a:off x="8275320" y="4864608"/>
            <a:ext cx="3236976" cy="365760"/>
          </a:xfrm>
          <a:prstGeom prst="rect">
            <a:avLst/>
          </a:prstGeom>
          <a:noFill/>
          <a:ln/>
        </p:spPr>
        <p:txBody>
          <a:bodyPr wrap="square" lIns="0" tIns="0" rIns="0" bIns="0" rtlCol="0" anchor="t"/>
          <a:lstStyle/>
          <a:p>
            <a:pPr indent="0" marL="0">
              <a:lnSpc>
                <a:spcPts val="1400"/>
              </a:lnSpc>
              <a:buNone/>
            </a:pPr>
            <a:r>
              <a:rPr lang="en-US" sz="1150" b="1" dirty="0">
                <a:solidFill>
                  <a:srgbClr val="152A4E"/>
                </a:solidFill>
                <a:latin typeface="Calibri" pitchFamily="34" charset="0"/>
                <a:ea typeface="Calibri" pitchFamily="34" charset="-122"/>
                <a:cs typeface="Calibri" pitchFamily="34" charset="-120"/>
              </a:rPr>
              <a:t>Structure is scripted; rules are exported JSON</a:t>
            </a:r>
            <a:endParaRPr lang="en-US" sz="1150" dirty="0"/>
          </a:p>
        </p:txBody>
      </p:sp>
      <p:sp>
        <p:nvSpPr>
          <p:cNvPr id="146" name="Text 144"/>
          <p:cNvSpPr/>
          <p:nvPr/>
        </p:nvSpPr>
        <p:spPr>
          <a:xfrm>
            <a:off x="8275320" y="5257800"/>
            <a:ext cx="3236976" cy="987552"/>
          </a:xfrm>
          <a:prstGeom prst="rect">
            <a:avLst/>
          </a:prstGeom>
          <a:noFill/>
          <a:ln/>
        </p:spPr>
        <p:txBody>
          <a:bodyPr wrap="square" lIns="0" tIns="0" rIns="0" bIns="0" rtlCol="0" anchor="t"/>
          <a:lstStyle/>
          <a:p>
            <a:pPr indent="0" marL="0">
              <a:lnSpc>
                <a:spcPts val="1250"/>
              </a:lnSpc>
              <a:buNone/>
            </a:pPr>
            <a:r>
              <a:rPr lang="en-US" sz="900" dirty="0">
                <a:solidFill>
                  <a:srgbClr val="1A1A1A"/>
                </a:solidFill>
                <a:latin typeface="Calibri" pitchFamily="34" charset="0"/>
                <a:ea typeface="Calibri" pitchFamily="34" charset="-122"/>
                <a:cs typeface="Calibri" pitchFamily="34" charset="-120"/>
              </a:rPr>
              <a:t>Fields, screens, statuses, workflows and validators are REST-scriptable — verified against the live instance. Automation rules are not: Jira Cloud exposes no public REST API (404), so they are built in the rule builder and version-controlled via JSON export/import. SLA and queue config is JSM UI.</a:t>
            </a:r>
            <a:endParaRPr lang="en-US" sz="950" dirty="0"/>
          </a:p>
        </p:txBody>
      </p:sp>
      <p:sp>
        <p:nvSpPr>
          <p:cNvPr id="147" name="Text 145"/>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§12 build phases; BRIEF.md 'Delivery'. Week allocation is indicative sequencing of the eight stated phases</a:t>
            </a:r>
            <a:endParaRPr lang="en-US" sz="850" dirty="0"/>
          </a:p>
        </p:txBody>
      </p:sp>
      <p:sp>
        <p:nvSpPr>
          <p:cNvPr id="148" name="Text 146"/>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52A4E"/>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52A4E"/>
          </a:solidFill>
          <a:ln/>
        </p:spPr>
        <p:txBody>
          <a:bodyPr/>
          <a:p/>
        </p:txBody>
      </p:sp>
      <p:sp>
        <p:nvSpPr>
          <p:cNvPr id="3" name="Text 1"/>
          <p:cNvSpPr/>
          <p:nvPr/>
        </p:nvSpPr>
        <p:spPr>
          <a:xfrm>
            <a:off x="502920" y="1371600"/>
            <a:ext cx="7315200" cy="274320"/>
          </a:xfrm>
          <a:prstGeom prst="rect">
            <a:avLst/>
          </a:prstGeom>
          <a:noFill/>
          <a:ln/>
        </p:spPr>
        <p:txBody>
          <a:bodyPr wrap="square" lIns="0" tIns="0" rIns="0" bIns="0" rtlCol="0" anchor="ctr"/>
          <a:lstStyle/>
          <a:p>
            <a:pPr indent="0" marL="0">
              <a:buNone/>
            </a:pPr>
            <a:r>
              <a:rPr lang="en-US" sz="1050" b="1" spc="220" kern="0" dirty="0">
                <a:solidFill>
                  <a:srgbClr val="6FC0BE"/>
                </a:solidFill>
                <a:latin typeface="Calibri" pitchFamily="34" charset="0"/>
                <a:ea typeface="Calibri" pitchFamily="34" charset="-122"/>
                <a:cs typeface="Calibri" pitchFamily="34" charset="-120"/>
              </a:rPr>
              <a:t>DEEP DIVES · ON DEMAND</a:t>
            </a:r>
            <a:endParaRPr lang="en-US" sz="1050" dirty="0"/>
          </a:p>
        </p:txBody>
      </p:sp>
      <p:sp>
        <p:nvSpPr>
          <p:cNvPr id="4" name="Text 2"/>
          <p:cNvSpPr/>
          <p:nvPr/>
        </p:nvSpPr>
        <p:spPr>
          <a:xfrm>
            <a:off x="502920" y="1737360"/>
            <a:ext cx="7315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Appendix</a:t>
            </a:r>
            <a:endParaRPr lang="en-US" sz="4400" dirty="0"/>
          </a:p>
        </p:txBody>
      </p:sp>
      <p:sp>
        <p:nvSpPr>
          <p:cNvPr id="5" name="Text 3"/>
          <p:cNvSpPr/>
          <p:nvPr/>
        </p:nvSpPr>
        <p:spPr>
          <a:xfrm>
            <a:off x="502920" y="2697480"/>
            <a:ext cx="5852160" cy="914400"/>
          </a:xfrm>
          <a:prstGeom prst="rect">
            <a:avLst/>
          </a:prstGeom>
          <a:noFill/>
          <a:ln/>
        </p:spPr>
        <p:txBody>
          <a:bodyPr wrap="square" lIns="0" tIns="0" rIns="0" bIns="0" rtlCol="0" anchor="ctr"/>
          <a:lstStyle/>
          <a:p>
            <a:pPr indent="0" marL="0">
              <a:lnSpc>
                <a:spcPts val="2000"/>
              </a:lnSpc>
              <a:buNone/>
            </a:pPr>
            <a:r>
              <a:rPr lang="en-US" sz="1350" dirty="0">
                <a:solidFill>
                  <a:srgbClr val="CFDAEA"/>
                </a:solidFill>
                <a:latin typeface="Calibri" pitchFamily="34" charset="0"/>
                <a:ea typeface="Calibri" pitchFamily="34" charset="-122"/>
                <a:cs typeface="Calibri" pitchFamily="34" charset="-120"/>
              </a:rPr>
              <a:t>The core argument is complete. Everything from here is detail I can open if you want to push on a specific area — or skip entirely.</a:t>
            </a:r>
            <a:endParaRPr lang="en-US" sz="1350" dirty="0"/>
          </a:p>
        </p:txBody>
      </p:sp>
      <p:sp>
        <p:nvSpPr>
          <p:cNvPr id="6" name="Shape 4"/>
          <p:cNvSpPr/>
          <p:nvPr/>
        </p:nvSpPr>
        <p:spPr>
          <a:xfrm>
            <a:off x="6355080" y="1828800"/>
            <a:ext cx="2606040" cy="548640"/>
          </a:xfrm>
          <a:prstGeom prst="roundRect">
            <a:avLst>
              <a:gd name="adj" fmla="val 8333"/>
            </a:avLst>
          </a:prstGeom>
          <a:solidFill>
            <a:srgbClr val="27436F"/>
          </a:solidFill>
          <a:ln w="12700">
            <a:solidFill>
              <a:srgbClr val="3D5B8C"/>
            </a:solidFill>
            <a:prstDash val="solid"/>
          </a:ln>
        </p:spPr>
        <p:txBody>
          <a:bodyPr/>
          <a:p/>
        </p:txBody>
      </p:sp>
      <p:sp>
        <p:nvSpPr>
          <p:cNvPr id="7" name="Text 5"/>
          <p:cNvSpPr/>
          <p:nvPr/>
        </p:nvSpPr>
        <p:spPr>
          <a:xfrm>
            <a:off x="6483096" y="1828800"/>
            <a:ext cx="457200" cy="548640"/>
          </a:xfrm>
          <a:prstGeom prst="rect">
            <a:avLst/>
          </a:prstGeom>
          <a:noFill/>
          <a:ln/>
        </p:spPr>
        <p:txBody>
          <a:bodyPr wrap="square" lIns="0" tIns="0" rIns="0" bIns="0" rtlCol="0" anchor="ctr"/>
          <a:lstStyle/>
          <a:p>
            <a:pPr indent="0" marL="0">
              <a:buNone/>
            </a:pPr>
            <a:r>
              <a:rPr lang="en-US" sz="1000" b="1" dirty="0">
                <a:solidFill>
                  <a:srgbClr val="6FC0BE"/>
                </a:solidFill>
                <a:latin typeface="Calibri" pitchFamily="34" charset="0"/>
                <a:ea typeface="Calibri" pitchFamily="34" charset="-122"/>
                <a:cs typeface="Calibri" pitchFamily="34" charset="-120"/>
              </a:rPr>
              <a:t>A-1</a:t>
            </a:r>
            <a:endParaRPr lang="en-US" sz="1000" dirty="0"/>
          </a:p>
        </p:txBody>
      </p:sp>
      <p:sp>
        <p:nvSpPr>
          <p:cNvPr id="8" name="Text 6"/>
          <p:cNvSpPr/>
          <p:nvPr/>
        </p:nvSpPr>
        <p:spPr>
          <a:xfrm>
            <a:off x="6922008" y="1865376"/>
            <a:ext cx="1920240" cy="475488"/>
          </a:xfrm>
          <a:prstGeom prst="rect">
            <a:avLst/>
          </a:prstGeom>
          <a:noFill/>
          <a:ln/>
        </p:spPr>
        <p:txBody>
          <a:bodyPr wrap="square" lIns="0" tIns="0" rIns="0" bIns="0" rtlCol="0" anchor="ctr"/>
          <a:lstStyle/>
          <a:p>
            <a:pPr indent="0" marL="0">
              <a:lnSpc>
                <a:spcPts val="1200"/>
              </a:lnSpc>
              <a:buNone/>
            </a:pPr>
            <a:r>
              <a:rPr lang="en-US" sz="950" dirty="0">
                <a:solidFill>
                  <a:srgbClr val="FFFFFF"/>
                </a:solidFill>
                <a:latin typeface="Calibri" pitchFamily="34" charset="0"/>
                <a:ea typeface="Calibri" pitchFamily="34" charset="-122"/>
                <a:cs typeface="Calibri" pitchFamily="34" charset="-120"/>
              </a:rPr>
              <a:t>Instance survey — what exists today</a:t>
            </a:r>
            <a:endParaRPr lang="en-US" sz="950" dirty="0"/>
          </a:p>
        </p:txBody>
      </p:sp>
      <p:sp>
        <p:nvSpPr>
          <p:cNvPr id="9" name="Shape 7"/>
          <p:cNvSpPr/>
          <p:nvPr/>
        </p:nvSpPr>
        <p:spPr>
          <a:xfrm>
            <a:off x="6355080" y="2487168"/>
            <a:ext cx="2606040" cy="548640"/>
          </a:xfrm>
          <a:prstGeom prst="roundRect">
            <a:avLst>
              <a:gd name="adj" fmla="val 8333"/>
            </a:avLst>
          </a:prstGeom>
          <a:solidFill>
            <a:srgbClr val="27436F"/>
          </a:solidFill>
          <a:ln w="12700">
            <a:solidFill>
              <a:srgbClr val="3D5B8C"/>
            </a:solidFill>
            <a:prstDash val="solid"/>
          </a:ln>
        </p:spPr>
        <p:txBody>
          <a:bodyPr/>
          <a:p/>
        </p:txBody>
      </p:sp>
      <p:sp>
        <p:nvSpPr>
          <p:cNvPr id="10" name="Text 8"/>
          <p:cNvSpPr/>
          <p:nvPr/>
        </p:nvSpPr>
        <p:spPr>
          <a:xfrm>
            <a:off x="6483096" y="2487168"/>
            <a:ext cx="457200" cy="548640"/>
          </a:xfrm>
          <a:prstGeom prst="rect">
            <a:avLst/>
          </a:prstGeom>
          <a:noFill/>
          <a:ln/>
        </p:spPr>
        <p:txBody>
          <a:bodyPr wrap="square" lIns="0" tIns="0" rIns="0" bIns="0" rtlCol="0" anchor="ctr"/>
          <a:lstStyle/>
          <a:p>
            <a:pPr indent="0" marL="0">
              <a:buNone/>
            </a:pPr>
            <a:r>
              <a:rPr lang="en-US" sz="1000" b="1" dirty="0">
                <a:solidFill>
                  <a:srgbClr val="6FC0BE"/>
                </a:solidFill>
                <a:latin typeface="Calibri" pitchFamily="34" charset="0"/>
                <a:ea typeface="Calibri" pitchFamily="34" charset="-122"/>
                <a:cs typeface="Calibri" pitchFamily="34" charset="-120"/>
              </a:rPr>
              <a:t>A-2</a:t>
            </a:r>
            <a:endParaRPr lang="en-US" sz="1000" dirty="0"/>
          </a:p>
        </p:txBody>
      </p:sp>
      <p:sp>
        <p:nvSpPr>
          <p:cNvPr id="11" name="Text 9"/>
          <p:cNvSpPr/>
          <p:nvPr/>
        </p:nvSpPr>
        <p:spPr>
          <a:xfrm>
            <a:off x="6922008" y="2523744"/>
            <a:ext cx="1920240" cy="475488"/>
          </a:xfrm>
          <a:prstGeom prst="rect">
            <a:avLst/>
          </a:prstGeom>
          <a:noFill/>
          <a:ln/>
        </p:spPr>
        <p:txBody>
          <a:bodyPr wrap="square" lIns="0" tIns="0" rIns="0" bIns="0" rtlCol="0" anchor="ctr"/>
          <a:lstStyle/>
          <a:p>
            <a:pPr indent="0" marL="0">
              <a:lnSpc>
                <a:spcPts val="1200"/>
              </a:lnSpc>
              <a:buNone/>
            </a:pPr>
            <a:r>
              <a:rPr lang="en-US" sz="950" dirty="0">
                <a:solidFill>
                  <a:srgbClr val="FFFFFF"/>
                </a:solidFill>
                <a:latin typeface="Calibri" pitchFamily="34" charset="0"/>
                <a:ea typeface="Calibri" pitchFamily="34" charset="-122"/>
                <a:cs typeface="Calibri" pitchFamily="34" charset="-120"/>
              </a:rPr>
              <a:t>Impact × Urgency priority matrix</a:t>
            </a:r>
            <a:endParaRPr lang="en-US" sz="950" dirty="0"/>
          </a:p>
        </p:txBody>
      </p:sp>
      <p:sp>
        <p:nvSpPr>
          <p:cNvPr id="12" name="Shape 10"/>
          <p:cNvSpPr/>
          <p:nvPr/>
        </p:nvSpPr>
        <p:spPr>
          <a:xfrm>
            <a:off x="6355080" y="3145536"/>
            <a:ext cx="2606040" cy="548640"/>
          </a:xfrm>
          <a:prstGeom prst="roundRect">
            <a:avLst>
              <a:gd name="adj" fmla="val 8333"/>
            </a:avLst>
          </a:prstGeom>
          <a:solidFill>
            <a:srgbClr val="27436F"/>
          </a:solidFill>
          <a:ln w="12700">
            <a:solidFill>
              <a:srgbClr val="3D5B8C"/>
            </a:solidFill>
            <a:prstDash val="solid"/>
          </a:ln>
        </p:spPr>
        <p:txBody>
          <a:bodyPr/>
          <a:p/>
        </p:txBody>
      </p:sp>
      <p:sp>
        <p:nvSpPr>
          <p:cNvPr id="13" name="Text 11"/>
          <p:cNvSpPr/>
          <p:nvPr/>
        </p:nvSpPr>
        <p:spPr>
          <a:xfrm>
            <a:off x="6483096" y="3145536"/>
            <a:ext cx="457200" cy="548640"/>
          </a:xfrm>
          <a:prstGeom prst="rect">
            <a:avLst/>
          </a:prstGeom>
          <a:noFill/>
          <a:ln/>
        </p:spPr>
        <p:txBody>
          <a:bodyPr wrap="square" lIns="0" tIns="0" rIns="0" bIns="0" rtlCol="0" anchor="ctr"/>
          <a:lstStyle/>
          <a:p>
            <a:pPr indent="0" marL="0">
              <a:buNone/>
            </a:pPr>
            <a:r>
              <a:rPr lang="en-US" sz="1000" b="1" dirty="0">
                <a:solidFill>
                  <a:srgbClr val="6FC0BE"/>
                </a:solidFill>
                <a:latin typeface="Calibri" pitchFamily="34" charset="0"/>
                <a:ea typeface="Calibri" pitchFamily="34" charset="-122"/>
                <a:cs typeface="Calibri" pitchFamily="34" charset="-120"/>
              </a:rPr>
              <a:t>A-3</a:t>
            </a:r>
            <a:endParaRPr lang="en-US" sz="1000" dirty="0"/>
          </a:p>
        </p:txBody>
      </p:sp>
      <p:sp>
        <p:nvSpPr>
          <p:cNvPr id="14" name="Text 12"/>
          <p:cNvSpPr/>
          <p:nvPr/>
        </p:nvSpPr>
        <p:spPr>
          <a:xfrm>
            <a:off x="6922008" y="3182112"/>
            <a:ext cx="1920240" cy="475488"/>
          </a:xfrm>
          <a:prstGeom prst="rect">
            <a:avLst/>
          </a:prstGeom>
          <a:noFill/>
          <a:ln/>
        </p:spPr>
        <p:txBody>
          <a:bodyPr wrap="square" lIns="0" tIns="0" rIns="0" bIns="0" rtlCol="0" anchor="ctr"/>
          <a:lstStyle/>
          <a:p>
            <a:pPr indent="0" marL="0">
              <a:lnSpc>
                <a:spcPts val="1200"/>
              </a:lnSpc>
              <a:buNone/>
            </a:pPr>
            <a:r>
              <a:rPr lang="en-US" sz="950" dirty="0">
                <a:solidFill>
                  <a:srgbClr val="FFFFFF"/>
                </a:solidFill>
                <a:latin typeface="Calibri" pitchFamily="34" charset="0"/>
                <a:ea typeface="Calibri" pitchFamily="34" charset="-122"/>
                <a:cs typeface="Calibri" pitchFamily="34" charset="-120"/>
              </a:rPr>
              <a:t>SLA targets and pause conditions</a:t>
            </a:r>
            <a:endParaRPr lang="en-US" sz="950" dirty="0"/>
          </a:p>
        </p:txBody>
      </p:sp>
      <p:sp>
        <p:nvSpPr>
          <p:cNvPr id="15" name="Shape 13"/>
          <p:cNvSpPr/>
          <p:nvPr/>
        </p:nvSpPr>
        <p:spPr>
          <a:xfrm>
            <a:off x="6355080" y="3803904"/>
            <a:ext cx="2606040" cy="548640"/>
          </a:xfrm>
          <a:prstGeom prst="roundRect">
            <a:avLst>
              <a:gd name="adj" fmla="val 8333"/>
            </a:avLst>
          </a:prstGeom>
          <a:solidFill>
            <a:srgbClr val="27436F"/>
          </a:solidFill>
          <a:ln w="12700">
            <a:solidFill>
              <a:srgbClr val="3D5B8C"/>
            </a:solidFill>
            <a:prstDash val="solid"/>
          </a:ln>
        </p:spPr>
        <p:txBody>
          <a:bodyPr/>
          <a:p/>
        </p:txBody>
      </p:sp>
      <p:sp>
        <p:nvSpPr>
          <p:cNvPr id="16" name="Text 14"/>
          <p:cNvSpPr/>
          <p:nvPr/>
        </p:nvSpPr>
        <p:spPr>
          <a:xfrm>
            <a:off x="6483096" y="3803904"/>
            <a:ext cx="457200" cy="548640"/>
          </a:xfrm>
          <a:prstGeom prst="rect">
            <a:avLst/>
          </a:prstGeom>
          <a:noFill/>
          <a:ln/>
        </p:spPr>
        <p:txBody>
          <a:bodyPr wrap="square" lIns="0" tIns="0" rIns="0" bIns="0" rtlCol="0" anchor="ctr"/>
          <a:lstStyle/>
          <a:p>
            <a:pPr indent="0" marL="0">
              <a:buNone/>
            </a:pPr>
            <a:r>
              <a:rPr lang="en-US" sz="1000" b="1" dirty="0">
                <a:solidFill>
                  <a:srgbClr val="6FC0BE"/>
                </a:solidFill>
                <a:latin typeface="Calibri" pitchFamily="34" charset="0"/>
                <a:ea typeface="Calibri" pitchFamily="34" charset="-122"/>
                <a:cs typeface="Calibri" pitchFamily="34" charset="-120"/>
              </a:rPr>
              <a:t>A-4</a:t>
            </a:r>
            <a:endParaRPr lang="en-US" sz="1000" dirty="0"/>
          </a:p>
        </p:txBody>
      </p:sp>
      <p:sp>
        <p:nvSpPr>
          <p:cNvPr id="17" name="Text 15"/>
          <p:cNvSpPr/>
          <p:nvPr/>
        </p:nvSpPr>
        <p:spPr>
          <a:xfrm>
            <a:off x="6922008" y="3840480"/>
            <a:ext cx="1920240" cy="475488"/>
          </a:xfrm>
          <a:prstGeom prst="rect">
            <a:avLst/>
          </a:prstGeom>
          <a:noFill/>
          <a:ln/>
        </p:spPr>
        <p:txBody>
          <a:bodyPr wrap="square" lIns="0" tIns="0" rIns="0" bIns="0" rtlCol="0" anchor="ctr"/>
          <a:lstStyle/>
          <a:p>
            <a:pPr indent="0" marL="0">
              <a:lnSpc>
                <a:spcPts val="1200"/>
              </a:lnSpc>
              <a:buNone/>
            </a:pPr>
            <a:r>
              <a:rPr lang="en-US" sz="950" dirty="0">
                <a:solidFill>
                  <a:srgbClr val="FFFFFF"/>
                </a:solidFill>
                <a:latin typeface="Calibri" pitchFamily="34" charset="0"/>
                <a:ea typeface="Calibri" pitchFamily="34" charset="-122"/>
                <a:cs typeface="Calibri" pitchFamily="34" charset="-120"/>
              </a:rPr>
              <a:t>Custom field schema</a:t>
            </a:r>
            <a:endParaRPr lang="en-US" sz="950" dirty="0"/>
          </a:p>
        </p:txBody>
      </p:sp>
      <p:sp>
        <p:nvSpPr>
          <p:cNvPr id="18" name="Shape 16"/>
          <p:cNvSpPr/>
          <p:nvPr/>
        </p:nvSpPr>
        <p:spPr>
          <a:xfrm>
            <a:off x="9144000" y="1828800"/>
            <a:ext cx="2606040" cy="548640"/>
          </a:xfrm>
          <a:prstGeom prst="roundRect">
            <a:avLst>
              <a:gd name="adj" fmla="val 8333"/>
            </a:avLst>
          </a:prstGeom>
          <a:solidFill>
            <a:srgbClr val="27436F"/>
          </a:solidFill>
          <a:ln w="12700">
            <a:solidFill>
              <a:srgbClr val="3D5B8C"/>
            </a:solidFill>
            <a:prstDash val="solid"/>
          </a:ln>
        </p:spPr>
        <p:txBody>
          <a:bodyPr/>
          <a:p/>
        </p:txBody>
      </p:sp>
      <p:sp>
        <p:nvSpPr>
          <p:cNvPr id="19" name="Text 17"/>
          <p:cNvSpPr/>
          <p:nvPr/>
        </p:nvSpPr>
        <p:spPr>
          <a:xfrm>
            <a:off x="9272016" y="1828800"/>
            <a:ext cx="457200" cy="548640"/>
          </a:xfrm>
          <a:prstGeom prst="rect">
            <a:avLst/>
          </a:prstGeom>
          <a:noFill/>
          <a:ln/>
        </p:spPr>
        <p:txBody>
          <a:bodyPr wrap="square" lIns="0" tIns="0" rIns="0" bIns="0" rtlCol="0" anchor="ctr"/>
          <a:lstStyle/>
          <a:p>
            <a:pPr indent="0" marL="0">
              <a:buNone/>
            </a:pPr>
            <a:r>
              <a:rPr lang="en-US" sz="1000" b="1" dirty="0">
                <a:solidFill>
                  <a:srgbClr val="6FC0BE"/>
                </a:solidFill>
                <a:latin typeface="Calibri" pitchFamily="34" charset="0"/>
                <a:ea typeface="Calibri" pitchFamily="34" charset="-122"/>
                <a:cs typeface="Calibri" pitchFamily="34" charset="-120"/>
              </a:rPr>
              <a:t>A-5</a:t>
            </a:r>
            <a:endParaRPr lang="en-US" sz="1000" dirty="0"/>
          </a:p>
        </p:txBody>
      </p:sp>
      <p:sp>
        <p:nvSpPr>
          <p:cNvPr id="20" name="Text 18"/>
          <p:cNvSpPr/>
          <p:nvPr/>
        </p:nvSpPr>
        <p:spPr>
          <a:xfrm>
            <a:off x="9710928" y="1865376"/>
            <a:ext cx="1920240" cy="475488"/>
          </a:xfrm>
          <a:prstGeom prst="rect">
            <a:avLst/>
          </a:prstGeom>
          <a:noFill/>
          <a:ln/>
        </p:spPr>
        <p:txBody>
          <a:bodyPr wrap="square" lIns="0" tIns="0" rIns="0" bIns="0" rtlCol="0" anchor="ctr"/>
          <a:lstStyle/>
          <a:p>
            <a:pPr indent="0" marL="0">
              <a:lnSpc>
                <a:spcPts val="1200"/>
              </a:lnSpc>
              <a:buNone/>
            </a:pPr>
            <a:r>
              <a:rPr lang="en-US" sz="950" dirty="0">
                <a:solidFill>
                  <a:srgbClr val="FFFFFF"/>
                </a:solidFill>
                <a:latin typeface="Calibri" pitchFamily="34" charset="0"/>
                <a:ea typeface="Calibri" pitchFamily="34" charset="-122"/>
                <a:cs typeface="Calibri" pitchFamily="34" charset="-120"/>
              </a:rPr>
              <a:t>Issue types and tower list</a:t>
            </a:r>
            <a:endParaRPr lang="en-US" sz="950" dirty="0"/>
          </a:p>
        </p:txBody>
      </p:sp>
      <p:sp>
        <p:nvSpPr>
          <p:cNvPr id="21" name="Shape 19"/>
          <p:cNvSpPr/>
          <p:nvPr/>
        </p:nvSpPr>
        <p:spPr>
          <a:xfrm>
            <a:off x="9144000" y="2487168"/>
            <a:ext cx="2606040" cy="548640"/>
          </a:xfrm>
          <a:prstGeom prst="roundRect">
            <a:avLst>
              <a:gd name="adj" fmla="val 8333"/>
            </a:avLst>
          </a:prstGeom>
          <a:solidFill>
            <a:srgbClr val="27436F"/>
          </a:solidFill>
          <a:ln w="12700">
            <a:solidFill>
              <a:srgbClr val="3D5B8C"/>
            </a:solidFill>
            <a:prstDash val="solid"/>
          </a:ln>
        </p:spPr>
        <p:txBody>
          <a:bodyPr/>
          <a:p/>
        </p:txBody>
      </p:sp>
      <p:sp>
        <p:nvSpPr>
          <p:cNvPr id="22" name="Text 20"/>
          <p:cNvSpPr/>
          <p:nvPr/>
        </p:nvSpPr>
        <p:spPr>
          <a:xfrm>
            <a:off x="9272016" y="2487168"/>
            <a:ext cx="457200" cy="548640"/>
          </a:xfrm>
          <a:prstGeom prst="rect">
            <a:avLst/>
          </a:prstGeom>
          <a:noFill/>
          <a:ln/>
        </p:spPr>
        <p:txBody>
          <a:bodyPr wrap="square" lIns="0" tIns="0" rIns="0" bIns="0" rtlCol="0" anchor="ctr"/>
          <a:lstStyle/>
          <a:p>
            <a:pPr indent="0" marL="0">
              <a:buNone/>
            </a:pPr>
            <a:r>
              <a:rPr lang="en-US" sz="1000" b="1" dirty="0">
                <a:solidFill>
                  <a:srgbClr val="6FC0BE"/>
                </a:solidFill>
                <a:latin typeface="Calibri" pitchFamily="34" charset="0"/>
                <a:ea typeface="Calibri" pitchFamily="34" charset="-122"/>
                <a:cs typeface="Calibri" pitchFamily="34" charset="-120"/>
              </a:rPr>
              <a:t>A-6</a:t>
            </a:r>
            <a:endParaRPr lang="en-US" sz="1000" dirty="0"/>
          </a:p>
        </p:txBody>
      </p:sp>
      <p:sp>
        <p:nvSpPr>
          <p:cNvPr id="23" name="Text 21"/>
          <p:cNvSpPr/>
          <p:nvPr/>
        </p:nvSpPr>
        <p:spPr>
          <a:xfrm>
            <a:off x="9710928" y="2523744"/>
            <a:ext cx="1920240" cy="475488"/>
          </a:xfrm>
          <a:prstGeom prst="rect">
            <a:avLst/>
          </a:prstGeom>
          <a:noFill/>
          <a:ln/>
        </p:spPr>
        <p:txBody>
          <a:bodyPr wrap="square" lIns="0" tIns="0" rIns="0" bIns="0" rtlCol="0" anchor="ctr"/>
          <a:lstStyle/>
          <a:p>
            <a:pPr indent="0" marL="0">
              <a:lnSpc>
                <a:spcPts val="1200"/>
              </a:lnSpc>
              <a:buNone/>
            </a:pPr>
            <a:r>
              <a:rPr lang="en-US" sz="950" dirty="0">
                <a:solidFill>
                  <a:srgbClr val="FFFFFF"/>
                </a:solidFill>
                <a:latin typeface="Calibri" pitchFamily="34" charset="0"/>
                <a:ea typeface="Calibri" pitchFamily="34" charset="-122"/>
                <a:cs typeface="Calibri" pitchFamily="34" charset="-120"/>
              </a:rPr>
              <a:t>Queues and the seven automation rules</a:t>
            </a:r>
            <a:endParaRPr lang="en-US" sz="950" dirty="0"/>
          </a:p>
        </p:txBody>
      </p:sp>
      <p:sp>
        <p:nvSpPr>
          <p:cNvPr id="24" name="Shape 22"/>
          <p:cNvSpPr/>
          <p:nvPr/>
        </p:nvSpPr>
        <p:spPr>
          <a:xfrm>
            <a:off x="9144000" y="3145536"/>
            <a:ext cx="2606040" cy="548640"/>
          </a:xfrm>
          <a:prstGeom prst="roundRect">
            <a:avLst>
              <a:gd name="adj" fmla="val 8333"/>
            </a:avLst>
          </a:prstGeom>
          <a:solidFill>
            <a:srgbClr val="27436F"/>
          </a:solidFill>
          <a:ln w="12700">
            <a:solidFill>
              <a:srgbClr val="3D5B8C"/>
            </a:solidFill>
            <a:prstDash val="solid"/>
          </a:ln>
        </p:spPr>
        <p:txBody>
          <a:bodyPr/>
          <a:p/>
        </p:txBody>
      </p:sp>
      <p:sp>
        <p:nvSpPr>
          <p:cNvPr id="25" name="Text 23"/>
          <p:cNvSpPr/>
          <p:nvPr/>
        </p:nvSpPr>
        <p:spPr>
          <a:xfrm>
            <a:off x="9272016" y="3145536"/>
            <a:ext cx="457200" cy="548640"/>
          </a:xfrm>
          <a:prstGeom prst="rect">
            <a:avLst/>
          </a:prstGeom>
          <a:noFill/>
          <a:ln/>
        </p:spPr>
        <p:txBody>
          <a:bodyPr wrap="square" lIns="0" tIns="0" rIns="0" bIns="0" rtlCol="0" anchor="ctr"/>
          <a:lstStyle/>
          <a:p>
            <a:pPr indent="0" marL="0">
              <a:buNone/>
            </a:pPr>
            <a:r>
              <a:rPr lang="en-US" sz="1000" b="1" dirty="0">
                <a:solidFill>
                  <a:srgbClr val="6FC0BE"/>
                </a:solidFill>
                <a:latin typeface="Calibri" pitchFamily="34" charset="0"/>
                <a:ea typeface="Calibri" pitchFamily="34" charset="-122"/>
                <a:cs typeface="Calibri" pitchFamily="34" charset="-120"/>
              </a:rPr>
              <a:t>A-7</a:t>
            </a:r>
            <a:endParaRPr lang="en-US" sz="1000" dirty="0"/>
          </a:p>
        </p:txBody>
      </p:sp>
      <p:sp>
        <p:nvSpPr>
          <p:cNvPr id="26" name="Text 24"/>
          <p:cNvSpPr/>
          <p:nvPr/>
        </p:nvSpPr>
        <p:spPr>
          <a:xfrm>
            <a:off x="9710928" y="3182112"/>
            <a:ext cx="1920240" cy="475488"/>
          </a:xfrm>
          <a:prstGeom prst="rect">
            <a:avLst/>
          </a:prstGeom>
          <a:noFill/>
          <a:ln/>
        </p:spPr>
        <p:txBody>
          <a:bodyPr wrap="square" lIns="0" tIns="0" rIns="0" bIns="0" rtlCol="0" anchor="ctr"/>
          <a:lstStyle/>
          <a:p>
            <a:pPr indent="0" marL="0">
              <a:lnSpc>
                <a:spcPts val="1200"/>
              </a:lnSpc>
              <a:buNone/>
            </a:pPr>
            <a:r>
              <a:rPr lang="en-US" sz="950" dirty="0">
                <a:solidFill>
                  <a:srgbClr val="FFFFFF"/>
                </a:solidFill>
                <a:latin typeface="Calibri" pitchFamily="34" charset="0"/>
                <a:ea typeface="Calibri" pitchFamily="34" charset="-122"/>
                <a:cs typeface="Calibri" pitchFamily="34" charset="-120"/>
              </a:rPr>
              <a:t>Permission scheme and reporting views</a:t>
            </a:r>
            <a:endParaRPr lang="en-US" sz="950" dirty="0"/>
          </a:p>
        </p:txBody>
      </p:sp>
      <p:sp>
        <p:nvSpPr>
          <p:cNvPr id="27" name="Shape 25"/>
          <p:cNvSpPr/>
          <p:nvPr/>
        </p:nvSpPr>
        <p:spPr>
          <a:xfrm>
            <a:off x="9144000" y="3803904"/>
            <a:ext cx="2606040" cy="548640"/>
          </a:xfrm>
          <a:prstGeom prst="roundRect">
            <a:avLst>
              <a:gd name="adj" fmla="val 8333"/>
            </a:avLst>
          </a:prstGeom>
          <a:solidFill>
            <a:srgbClr val="27436F"/>
          </a:solidFill>
          <a:ln w="12700">
            <a:solidFill>
              <a:srgbClr val="3D5B8C"/>
            </a:solidFill>
            <a:prstDash val="solid"/>
          </a:ln>
        </p:spPr>
        <p:txBody>
          <a:bodyPr/>
          <a:p/>
        </p:txBody>
      </p:sp>
      <p:sp>
        <p:nvSpPr>
          <p:cNvPr id="28" name="Text 26"/>
          <p:cNvSpPr/>
          <p:nvPr/>
        </p:nvSpPr>
        <p:spPr>
          <a:xfrm>
            <a:off x="9272016" y="3803904"/>
            <a:ext cx="457200" cy="548640"/>
          </a:xfrm>
          <a:prstGeom prst="rect">
            <a:avLst/>
          </a:prstGeom>
          <a:noFill/>
          <a:ln/>
        </p:spPr>
        <p:txBody>
          <a:bodyPr wrap="square" lIns="0" tIns="0" rIns="0" bIns="0" rtlCol="0" anchor="ctr"/>
          <a:lstStyle/>
          <a:p>
            <a:pPr indent="0" marL="0">
              <a:buNone/>
            </a:pPr>
            <a:r>
              <a:rPr lang="en-US" sz="1000" b="1" dirty="0">
                <a:solidFill>
                  <a:srgbClr val="6FC0BE"/>
                </a:solidFill>
                <a:latin typeface="Calibri" pitchFamily="34" charset="0"/>
                <a:ea typeface="Calibri" pitchFamily="34" charset="-122"/>
                <a:cs typeface="Calibri" pitchFamily="34" charset="-120"/>
              </a:rPr>
              <a:t>A-8</a:t>
            </a:r>
            <a:endParaRPr lang="en-US" sz="1000" dirty="0"/>
          </a:p>
        </p:txBody>
      </p:sp>
      <p:sp>
        <p:nvSpPr>
          <p:cNvPr id="29" name="Text 27"/>
          <p:cNvSpPr/>
          <p:nvPr/>
        </p:nvSpPr>
        <p:spPr>
          <a:xfrm>
            <a:off x="9710928" y="3840480"/>
            <a:ext cx="1920240" cy="475488"/>
          </a:xfrm>
          <a:prstGeom prst="rect">
            <a:avLst/>
          </a:prstGeom>
          <a:noFill/>
          <a:ln/>
        </p:spPr>
        <p:txBody>
          <a:bodyPr wrap="square" lIns="0" tIns="0" rIns="0" bIns="0" rtlCol="0" anchor="ctr"/>
          <a:lstStyle/>
          <a:p>
            <a:pPr indent="0" marL="0">
              <a:lnSpc>
                <a:spcPts val="1200"/>
              </a:lnSpc>
              <a:buNone/>
            </a:pPr>
            <a:r>
              <a:rPr lang="en-US" sz="950" dirty="0">
                <a:solidFill>
                  <a:srgbClr val="FFFFFF"/>
                </a:solidFill>
                <a:latin typeface="Calibri" pitchFamily="34" charset="0"/>
                <a:ea typeface="Calibri" pitchFamily="34" charset="-122"/>
                <a:cs typeface="Calibri" pitchFamily="34" charset="-120"/>
              </a:rPr>
              <a:t>Open questions that gate the full build</a:t>
            </a:r>
            <a:endParaRPr lang="en-US" sz="950" dirty="0"/>
          </a:p>
        </p:txBody>
      </p:sp>
      <p:sp>
        <p:nvSpPr>
          <p:cNvPr id="30" name="Text 28"/>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9FB0C9"/>
                </a:solidFill>
                <a:latin typeface="Calibri" pitchFamily="34" charset="0"/>
                <a:ea typeface="Calibri" pitchFamily="34" charset="-122"/>
                <a:cs typeface="Calibri" pitchFamily="34" charset="-120"/>
              </a:rPr>
              <a:t>Source: PLAN.md — full design detail</a:t>
            </a:r>
            <a:endParaRPr lang="en-US" sz="850" dirty="0"/>
          </a:p>
        </p:txBody>
      </p:sp>
      <p:sp>
        <p:nvSpPr>
          <p:cNvPr id="31" name="Text 29"/>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9FB0C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A-1  ·  INSTANCE SURVEY</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The target instance is a clean slate — full site-admin rights, no company-managed projects, and nothing that conflicts with the build</a:t>
            </a:r>
            <a:endParaRPr lang="en-US" sz="1850" dirty="0"/>
          </a:p>
        </p:txBody>
      </p:sp>
      <p:sp>
        <p:nvSpPr>
          <p:cNvPr id="4" name="Text 2"/>
          <p:cNvSpPr/>
          <p:nvPr/>
        </p:nvSpPr>
        <p:spPr>
          <a:xfrm>
            <a:off x="10222992" y="274320"/>
            <a:ext cx="1463040" cy="219456"/>
          </a:xfrm>
          <a:prstGeom prst="rect">
            <a:avLst/>
          </a:prstGeom>
          <a:noFill/>
          <a:ln/>
        </p:spPr>
        <p:txBody>
          <a:bodyPr wrap="square" lIns="0" tIns="0" rIns="0" bIns="0" rtlCol="0" anchor="ctr"/>
          <a:lstStyle/>
          <a:p>
            <a:pPr algn="r" indent="0" marL="0">
              <a:buNone/>
            </a:pPr>
            <a:r>
              <a:rPr lang="en-US" sz="850" b="1" spc="140" kern="0" dirty="0">
                <a:solidFill>
                  <a:srgbClr val="6B7280"/>
                </a:solidFill>
                <a:latin typeface="Calibri" pitchFamily="34" charset="0"/>
                <a:ea typeface="Calibri" pitchFamily="34" charset="-122"/>
                <a:cs typeface="Calibri" pitchFamily="34" charset="-120"/>
              </a:rPr>
              <a:t>APPENDIX</a:t>
            </a:r>
            <a:endParaRPr lang="en-US" sz="850" dirty="0"/>
          </a:p>
        </p:txBody>
      </p:sp>
      <p:sp>
        <p:nvSpPr>
          <p:cNvPr id="5" name="Shape 3"/>
          <p:cNvSpPr/>
          <p:nvPr/>
        </p:nvSpPr>
        <p:spPr>
          <a:xfrm>
            <a:off x="502920" y="1463040"/>
            <a:ext cx="6858000" cy="365760"/>
          </a:xfrm>
          <a:prstGeom prst="rect">
            <a:avLst/>
          </a:prstGeom>
          <a:solidFill>
            <a:srgbClr val="152A4E"/>
          </a:solidFill>
          <a:ln w="12700">
            <a:solidFill>
              <a:srgbClr val="152A4E"/>
            </a:solidFill>
            <a:prstDash val="solid"/>
          </a:ln>
        </p:spPr>
      </p:sp>
      <p:sp>
        <p:nvSpPr>
          <p:cNvPr id="6" name="Text 4"/>
          <p:cNvSpPr/>
          <p:nvPr/>
        </p:nvSpPr>
        <p:spPr>
          <a:xfrm>
            <a:off x="630936" y="1463040"/>
            <a:ext cx="219456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p>
        </p:txBody>
      </p:sp>
      <p:sp>
        <p:nvSpPr>
          <p:cNvPr id="7" name="Text 5"/>
          <p:cNvSpPr/>
          <p:nvPr/>
        </p:nvSpPr>
        <p:spPr>
          <a:xfrm>
            <a:off x="3008376" y="1463040"/>
            <a:ext cx="429768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State in the instance today</a:t>
            </a:r>
            <a:endParaRPr lang="en-US" sz="950" dirty="0"/>
          </a:p>
        </p:txBody>
      </p:sp>
      <p:sp>
        <p:nvSpPr>
          <p:cNvPr id="8" name="Shape 6"/>
          <p:cNvSpPr/>
          <p:nvPr/>
        </p:nvSpPr>
        <p:spPr>
          <a:xfrm>
            <a:off x="502920" y="1828800"/>
            <a:ext cx="6858000" cy="457200"/>
          </a:xfrm>
          <a:prstGeom prst="rect">
            <a:avLst/>
          </a:prstGeom>
          <a:solidFill>
            <a:srgbClr val="F2F5F9"/>
          </a:solidFill>
          <a:ln w="9525">
            <a:solidFill>
              <a:srgbClr val="D3DBE6"/>
            </a:solidFill>
            <a:prstDash val="solid"/>
          </a:ln>
        </p:spPr>
      </p:sp>
      <p:sp>
        <p:nvSpPr>
          <p:cNvPr id="9" name="Text 7"/>
          <p:cNvSpPr/>
          <p:nvPr/>
        </p:nvSpPr>
        <p:spPr>
          <a:xfrm>
            <a:off x="630936" y="1828800"/>
            <a:ext cx="217627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Licensed products</a:t>
            </a:r>
            <a:endParaRPr lang="en-US" sz="1050" dirty="0"/>
          </a:p>
        </p:txBody>
      </p:sp>
      <p:sp>
        <p:nvSpPr>
          <p:cNvPr id="10" name="Text 8"/>
          <p:cNvSpPr/>
          <p:nvPr/>
        </p:nvSpPr>
        <p:spPr>
          <a:xfrm>
            <a:off x="3008376" y="1828800"/>
            <a:ext cx="42793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jira-software only (100,000 seats, 1 used)</a:t>
            </a:r>
            <a:endParaRPr lang="en-US" sz="1050" dirty="0"/>
          </a:p>
        </p:txBody>
      </p:sp>
      <p:sp>
        <p:nvSpPr>
          <p:cNvPr id="11" name="Shape 9"/>
          <p:cNvSpPr/>
          <p:nvPr/>
        </p:nvSpPr>
        <p:spPr>
          <a:xfrm>
            <a:off x="502920" y="2286000"/>
            <a:ext cx="6858000" cy="457200"/>
          </a:xfrm>
          <a:prstGeom prst="rect">
            <a:avLst/>
          </a:prstGeom>
          <a:solidFill>
            <a:srgbClr val="FFFFFF"/>
          </a:solidFill>
          <a:ln w="9525">
            <a:solidFill>
              <a:srgbClr val="D3DBE6"/>
            </a:solidFill>
            <a:prstDash val="solid"/>
          </a:ln>
        </p:spPr>
      </p:sp>
      <p:sp>
        <p:nvSpPr>
          <p:cNvPr id="12" name="Text 10"/>
          <p:cNvSpPr/>
          <p:nvPr/>
        </p:nvSpPr>
        <p:spPr>
          <a:xfrm>
            <a:off x="630936" y="2286000"/>
            <a:ext cx="217627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Jira Service Management</a:t>
            </a:r>
            <a:endParaRPr lang="en-US" sz="1050" dirty="0"/>
          </a:p>
        </p:txBody>
      </p:sp>
      <p:sp>
        <p:nvSpPr>
          <p:cNvPr id="13" name="Text 11"/>
          <p:cNvSpPr/>
          <p:nvPr/>
        </p:nvSpPr>
        <p:spPr>
          <a:xfrm>
            <a:off x="3008376" y="2286000"/>
            <a:ext cx="42793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Not provisioned — /rest/servicedeskapi/* returns 403</a:t>
            </a:r>
            <a:endParaRPr lang="en-US" sz="1050" dirty="0"/>
          </a:p>
        </p:txBody>
      </p:sp>
      <p:sp>
        <p:nvSpPr>
          <p:cNvPr id="14" name="Shape 12"/>
          <p:cNvSpPr/>
          <p:nvPr/>
        </p:nvSpPr>
        <p:spPr>
          <a:xfrm>
            <a:off x="502920" y="2743200"/>
            <a:ext cx="6858000" cy="457200"/>
          </a:xfrm>
          <a:prstGeom prst="rect">
            <a:avLst/>
          </a:prstGeom>
          <a:solidFill>
            <a:srgbClr val="F2F5F9"/>
          </a:solidFill>
          <a:ln w="9525">
            <a:solidFill>
              <a:srgbClr val="D3DBE6"/>
            </a:solidFill>
            <a:prstDash val="solid"/>
          </a:ln>
        </p:spPr>
      </p:sp>
      <p:sp>
        <p:nvSpPr>
          <p:cNvPr id="15" name="Text 13"/>
          <p:cNvSpPr/>
          <p:nvPr/>
        </p:nvSpPr>
        <p:spPr>
          <a:xfrm>
            <a:off x="630936" y="2743200"/>
            <a:ext cx="217627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Existing projects</a:t>
            </a:r>
            <a:endParaRPr lang="en-US" sz="1050" dirty="0"/>
          </a:p>
        </p:txBody>
      </p:sp>
      <p:sp>
        <p:nvSpPr>
          <p:cNvPr id="16" name="Text 14"/>
          <p:cNvSpPr/>
          <p:nvPr/>
        </p:nvSpPr>
        <p:spPr>
          <a:xfrm>
            <a:off x="3008376" y="2743200"/>
            <a:ext cx="42793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KAN (team-managed) and SAM1 (team-managed)</a:t>
            </a:r>
            <a:endParaRPr lang="en-US" sz="1050" dirty="0"/>
          </a:p>
        </p:txBody>
      </p:sp>
      <p:sp>
        <p:nvSpPr>
          <p:cNvPr id="17" name="Shape 15"/>
          <p:cNvSpPr/>
          <p:nvPr/>
        </p:nvSpPr>
        <p:spPr>
          <a:xfrm>
            <a:off x="502920" y="3200400"/>
            <a:ext cx="6858000" cy="457200"/>
          </a:xfrm>
          <a:prstGeom prst="rect">
            <a:avLst/>
          </a:prstGeom>
          <a:solidFill>
            <a:srgbClr val="FFFFFF"/>
          </a:solidFill>
          <a:ln w="9525">
            <a:solidFill>
              <a:srgbClr val="D3DBE6"/>
            </a:solidFill>
            <a:prstDash val="solid"/>
          </a:ln>
        </p:spPr>
      </p:sp>
      <p:sp>
        <p:nvSpPr>
          <p:cNvPr id="18" name="Text 16"/>
          <p:cNvSpPr/>
          <p:nvPr/>
        </p:nvSpPr>
        <p:spPr>
          <a:xfrm>
            <a:off x="630936" y="3200400"/>
            <a:ext cx="217627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Company-managed projects</a:t>
            </a:r>
            <a:endParaRPr lang="en-US" sz="1050" dirty="0"/>
          </a:p>
        </p:txBody>
      </p:sp>
      <p:sp>
        <p:nvSpPr>
          <p:cNvPr id="19" name="Text 17"/>
          <p:cNvSpPr/>
          <p:nvPr/>
        </p:nvSpPr>
        <p:spPr>
          <a:xfrm>
            <a:off x="3008376" y="3200400"/>
            <a:ext cx="42793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None yet — both existing projects are next-gen</a:t>
            </a:r>
            <a:endParaRPr lang="en-US" sz="1050" dirty="0"/>
          </a:p>
        </p:txBody>
      </p:sp>
      <p:sp>
        <p:nvSpPr>
          <p:cNvPr id="20" name="Shape 18"/>
          <p:cNvSpPr/>
          <p:nvPr/>
        </p:nvSpPr>
        <p:spPr>
          <a:xfrm>
            <a:off x="502920" y="3657600"/>
            <a:ext cx="6858000" cy="457200"/>
          </a:xfrm>
          <a:prstGeom prst="rect">
            <a:avLst/>
          </a:prstGeom>
          <a:solidFill>
            <a:srgbClr val="F2F5F9"/>
          </a:solidFill>
          <a:ln w="9525">
            <a:solidFill>
              <a:srgbClr val="D3DBE6"/>
            </a:solidFill>
            <a:prstDash val="solid"/>
          </a:ln>
        </p:spPr>
      </p:sp>
      <p:sp>
        <p:nvSpPr>
          <p:cNvPr id="21" name="Text 19"/>
          <p:cNvSpPr/>
          <p:nvPr/>
        </p:nvSpPr>
        <p:spPr>
          <a:xfrm>
            <a:off x="630936" y="3657600"/>
            <a:ext cx="217627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Issue types available</a:t>
            </a:r>
            <a:endParaRPr lang="en-US" sz="1050" dirty="0"/>
          </a:p>
        </p:txBody>
      </p:sp>
      <p:sp>
        <p:nvSpPr>
          <p:cNvPr id="22" name="Text 20"/>
          <p:cNvSpPr/>
          <p:nvPr/>
        </p:nvSpPr>
        <p:spPr>
          <a:xfrm>
            <a:off x="3008376" y="3657600"/>
            <a:ext cx="42793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Bug, Epic, Feature, Request, Story, Subtask, Task</a:t>
            </a:r>
            <a:endParaRPr lang="en-US" sz="1050" dirty="0"/>
          </a:p>
        </p:txBody>
      </p:sp>
      <p:sp>
        <p:nvSpPr>
          <p:cNvPr id="23" name="Shape 21"/>
          <p:cNvSpPr/>
          <p:nvPr/>
        </p:nvSpPr>
        <p:spPr>
          <a:xfrm>
            <a:off x="502920" y="4114800"/>
            <a:ext cx="6858000" cy="457200"/>
          </a:xfrm>
          <a:prstGeom prst="rect">
            <a:avLst/>
          </a:prstGeom>
          <a:solidFill>
            <a:srgbClr val="FFFFFF"/>
          </a:solidFill>
          <a:ln w="9525">
            <a:solidFill>
              <a:srgbClr val="D3DBE6"/>
            </a:solidFill>
            <a:prstDash val="solid"/>
          </a:ln>
        </p:spPr>
      </p:sp>
      <p:sp>
        <p:nvSpPr>
          <p:cNvPr id="24" name="Text 22"/>
          <p:cNvSpPr/>
          <p:nvPr/>
        </p:nvSpPr>
        <p:spPr>
          <a:xfrm>
            <a:off x="630936" y="4114800"/>
            <a:ext cx="217627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Account rights</a:t>
            </a:r>
            <a:endParaRPr lang="en-US" sz="1050" dirty="0"/>
          </a:p>
        </p:txBody>
      </p:sp>
      <p:sp>
        <p:nvSpPr>
          <p:cNvPr id="25" name="Text 23"/>
          <p:cNvSpPr/>
          <p:nvPr/>
        </p:nvSpPr>
        <p:spPr>
          <a:xfrm>
            <a:off x="3008376" y="4114800"/>
            <a:ext cx="42793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Site admin — ADMINISTER and CREATE_PROJECT both true</a:t>
            </a:r>
            <a:endParaRPr lang="en-US" sz="1050" dirty="0"/>
          </a:p>
        </p:txBody>
      </p:sp>
      <p:sp>
        <p:nvSpPr>
          <p:cNvPr id="26" name="Shape 24"/>
          <p:cNvSpPr/>
          <p:nvPr/>
        </p:nvSpPr>
        <p:spPr>
          <a:xfrm>
            <a:off x="7635240" y="1463040"/>
            <a:ext cx="4050792" cy="1481328"/>
          </a:xfrm>
          <a:prstGeom prst="roundRect">
            <a:avLst>
              <a:gd name="adj" fmla="val 3704"/>
            </a:avLst>
          </a:prstGeom>
          <a:solidFill>
            <a:srgbClr val="D9EAE9"/>
          </a:solidFill>
          <a:ln w="12700">
            <a:solidFill>
              <a:srgbClr val="A9CFCD"/>
            </a:solidFill>
            <a:prstDash val="solid"/>
          </a:ln>
          <a:effectLst>
            <a:outerShdw sx="100000" sy="100000" kx="0" ky="0" algn="bl" rotWithShape="0" blurRad="76200" dist="12700" dir="5400000">
              <a:srgbClr val="9AA7BA">
                <a:alpha val="22000"/>
              </a:srgbClr>
            </a:outerShdw>
          </a:effectLst>
        </p:spPr>
      </p:sp>
      <p:sp>
        <p:nvSpPr>
          <p:cNvPr id="27" name="Text 25"/>
          <p:cNvSpPr/>
          <p:nvPr/>
        </p:nvSpPr>
        <p:spPr>
          <a:xfrm>
            <a:off x="7836408" y="1591056"/>
            <a:ext cx="3657600" cy="219456"/>
          </a:xfrm>
          <a:prstGeom prst="rect">
            <a:avLst/>
          </a:prstGeom>
          <a:noFill/>
          <a:ln/>
        </p:spPr>
        <p:txBody>
          <a:bodyPr wrap="square" lIns="0" tIns="0" rIns="0" bIns="0" rtlCol="0" anchor="ctr"/>
          <a:lstStyle/>
          <a:p>
            <a:pPr indent="0" marL="0">
              <a:buNone/>
            </a:pPr>
            <a:r>
              <a:rPr lang="en-US" sz="900" b="1" spc="110" kern="0" dirty="0">
                <a:solidFill>
                  <a:srgbClr val="0E7C7B"/>
                </a:solidFill>
                <a:latin typeface="Calibri" pitchFamily="34" charset="0"/>
                <a:ea typeface="Calibri" pitchFamily="34" charset="-122"/>
                <a:cs typeface="Calibri" pitchFamily="34" charset="-120"/>
              </a:rPr>
              <a:t>PROJECT TO BE CREATED</a:t>
            </a:r>
            <a:endParaRPr lang="en-US" sz="900" dirty="0"/>
          </a:p>
        </p:txBody>
      </p:sp>
      <p:sp>
        <p:nvSpPr>
          <p:cNvPr id="28" name="Text 26"/>
          <p:cNvSpPr/>
          <p:nvPr/>
        </p:nvSpPr>
        <p:spPr>
          <a:xfrm>
            <a:off x="7836408" y="1847088"/>
            <a:ext cx="3657600" cy="1005840"/>
          </a:xfrm>
          <a:prstGeom prst="rect">
            <a:avLst/>
          </a:prstGeom>
          <a:noFill/>
          <a:ln/>
        </p:spPr>
        <p:txBody>
          <a:bodyPr wrap="square" lIns="0" tIns="0" rIns="0" bIns="0" rtlCol="0" anchor="t"/>
          <a:lstStyle/>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Key OPS — “IT Operations, L1/L2 Support”</a:t>
            </a:r>
            <a:endParaRPr lang="en-US" sz="1050" dirty="0"/>
          </a:p>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Company-managed, ITSM template</a:t>
            </a:r>
            <a:endParaRPr lang="en-US" sz="1050" dirty="0"/>
          </a:p>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Not team-managed — that is non-negotiable</a:t>
            </a:r>
            <a:endParaRPr lang="en-US" sz="1050" dirty="0"/>
          </a:p>
        </p:txBody>
      </p:sp>
      <p:sp>
        <p:nvSpPr>
          <p:cNvPr id="29" name="Shape 27"/>
          <p:cNvSpPr/>
          <p:nvPr/>
        </p:nvSpPr>
        <p:spPr>
          <a:xfrm>
            <a:off x="7635240" y="3072384"/>
            <a:ext cx="4050792" cy="1783080"/>
          </a:xfrm>
          <a:prstGeom prst="roundRect">
            <a:avLst>
              <a:gd name="adj" fmla="val 3077"/>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30" name="Text 28"/>
          <p:cNvSpPr/>
          <p:nvPr/>
        </p:nvSpPr>
        <p:spPr>
          <a:xfrm>
            <a:off x="7836408" y="3200400"/>
            <a:ext cx="3657600" cy="256032"/>
          </a:xfrm>
          <a:prstGeom prst="rect">
            <a:avLst/>
          </a:prstGeom>
          <a:noFill/>
          <a:ln/>
        </p:spPr>
        <p:txBody>
          <a:bodyPr wrap="square" lIns="0" tIns="0" rIns="0" bIns="0" rtlCol="0" anchor="ctr"/>
          <a:lstStyle/>
          <a:p>
            <a:pPr indent="0" marL="0">
              <a:buNone/>
            </a:pPr>
            <a:r>
              <a:rPr lang="en-US" sz="1150" b="1" dirty="0">
                <a:solidFill>
                  <a:srgbClr val="152A4E"/>
                </a:solidFill>
                <a:latin typeface="Calibri" pitchFamily="34" charset="0"/>
                <a:ea typeface="Calibri" pitchFamily="34" charset="-122"/>
                <a:cs typeface="Calibri" pitchFamily="34" charset="-120"/>
              </a:rPr>
              <a:t>Why company-managed is non-negotiable</a:t>
            </a:r>
            <a:endParaRPr lang="en-US" sz="1150" dirty="0"/>
          </a:p>
        </p:txBody>
      </p:sp>
      <p:sp>
        <p:nvSpPr>
          <p:cNvPr id="31" name="Text 29"/>
          <p:cNvSpPr/>
          <p:nvPr/>
        </p:nvSpPr>
        <p:spPr>
          <a:xfrm>
            <a:off x="7836408" y="3493008"/>
            <a:ext cx="3657600" cy="1243584"/>
          </a:xfrm>
          <a:prstGeom prst="rect">
            <a:avLst/>
          </a:prstGeom>
          <a:noFill/>
          <a:ln/>
        </p:spPr>
        <p:txBody>
          <a:bodyPr wrap="square" lIns="0" tIns="0" rIns="0" bIns="0" rtlCol="0" anchor="ctr"/>
          <a:lstStyle/>
          <a:p>
            <a:pPr indent="0" marL="0">
              <a:lnSpc>
                <a:spcPts val="1350"/>
              </a:lnSpc>
              <a:buNone/>
            </a:pPr>
            <a:r>
              <a:rPr lang="en-US" sz="1000" dirty="0">
                <a:solidFill>
                  <a:srgbClr val="1A1A1A"/>
                </a:solidFill>
                <a:latin typeface="Calibri" pitchFamily="34" charset="0"/>
                <a:ea typeface="Calibri" pitchFamily="34" charset="-122"/>
                <a:cs typeface="Calibri" pitchFamily="34" charset="-120"/>
              </a:rPr>
              <a:t>Team-managed projects cannot share a workflow scheme and cannot use company-wide custom field contexts. This design depends on both: one workflow shared across four issue types, and Tower and Support Tier fields with a single context so they report consistently across every tower.</a:t>
            </a:r>
            <a:endParaRPr lang="en-US" sz="1000" dirty="0"/>
          </a:p>
        </p:txBody>
      </p:sp>
      <p:sp>
        <p:nvSpPr>
          <p:cNvPr id="32" name="Shape 30"/>
          <p:cNvSpPr/>
          <p:nvPr/>
        </p:nvSpPr>
        <p:spPr>
          <a:xfrm>
            <a:off x="502920" y="5029200"/>
            <a:ext cx="11183112" cy="1024128"/>
          </a:xfrm>
          <a:prstGeom prst="roundRect">
            <a:avLst>
              <a:gd name="adj" fmla="val 5357"/>
            </a:avLst>
          </a:prstGeom>
          <a:solidFill>
            <a:srgbClr val="FBEEDA"/>
          </a:solidFill>
          <a:ln w="12700">
            <a:solidFill>
              <a:srgbClr val="DFC08A"/>
            </a:solidFill>
            <a:prstDash val="solid"/>
          </a:ln>
          <a:effectLst>
            <a:outerShdw sx="100000" sy="100000" kx="0" ky="0" algn="bl" rotWithShape="0" blurRad="76200" dist="12700" dir="5400000">
              <a:srgbClr val="9AA7BA">
                <a:alpha val="22000"/>
              </a:srgbClr>
            </a:outerShdw>
          </a:effectLst>
        </p:spPr>
      </p:sp>
      <p:sp>
        <p:nvSpPr>
          <p:cNvPr id="33" name="Text 31"/>
          <p:cNvSpPr/>
          <p:nvPr/>
        </p:nvSpPr>
        <p:spPr>
          <a:xfrm>
            <a:off x="758952" y="5120640"/>
            <a:ext cx="10698480" cy="256032"/>
          </a:xfrm>
          <a:prstGeom prst="rect">
            <a:avLst/>
          </a:prstGeom>
          <a:noFill/>
          <a:ln/>
        </p:spPr>
        <p:txBody>
          <a:bodyPr wrap="square" lIns="0" tIns="0" rIns="0" bIns="0" rtlCol="0" anchor="ctr"/>
          <a:lstStyle/>
          <a:p>
            <a:pPr indent="0" marL="0">
              <a:buNone/>
            </a:pPr>
            <a:r>
              <a:rPr lang="en-US" sz="1150" b="1" dirty="0">
                <a:solidFill>
                  <a:srgbClr val="A86A11"/>
                </a:solidFill>
                <a:latin typeface="Calibri" pitchFamily="34" charset="0"/>
                <a:ea typeface="Calibri" pitchFamily="34" charset="-122"/>
                <a:cs typeface="Calibri" pitchFamily="34" charset="-120"/>
              </a:rPr>
              <a:t>Housekeeping: rotate the survey token</a:t>
            </a:r>
            <a:endParaRPr lang="en-US" sz="1150" dirty="0"/>
          </a:p>
        </p:txBody>
      </p:sp>
      <p:sp>
        <p:nvSpPr>
          <p:cNvPr id="34" name="Text 32"/>
          <p:cNvSpPr/>
          <p:nvPr/>
        </p:nvSpPr>
        <p:spPr>
          <a:xfrm>
            <a:off x="758952" y="5394960"/>
            <a:ext cx="10698480" cy="548640"/>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The API token used to survey this instance was shared in plaintext and grants full site-admin access. It gets rotated once this work is done, and the scripted build reads its token from an environment variable rather than an inline literal.</a:t>
            </a:r>
            <a:endParaRPr lang="en-US" sz="1050" dirty="0"/>
          </a:p>
        </p:txBody>
      </p:sp>
      <p:sp>
        <p:nvSpPr>
          <p:cNvPr id="35" name="Text 33"/>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live survey of the Jira Cloud instance, 20 July 2026 (PLAN.md §1, §4, security note)</a:t>
            </a:r>
            <a:endParaRPr lang="en-US" sz="850" dirty="0"/>
          </a:p>
        </p:txBody>
      </p:sp>
      <p:sp>
        <p:nvSpPr>
          <p:cNvPr id="36" name="Text 34"/>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A-2  ·  PRIORITY AUTOMATION</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Priority is derived from a fixed Impact × Urgency matrix by automation, never free-picked by the agent — which is what stops priority inflation</a:t>
            </a:r>
            <a:endParaRPr lang="en-US" sz="1850" dirty="0"/>
          </a:p>
        </p:txBody>
      </p:sp>
      <p:sp>
        <p:nvSpPr>
          <p:cNvPr id="4" name="Text 2"/>
          <p:cNvSpPr/>
          <p:nvPr/>
        </p:nvSpPr>
        <p:spPr>
          <a:xfrm>
            <a:off x="10222992" y="274320"/>
            <a:ext cx="1463040" cy="219456"/>
          </a:xfrm>
          <a:prstGeom prst="rect">
            <a:avLst/>
          </a:prstGeom>
          <a:noFill/>
          <a:ln/>
        </p:spPr>
        <p:txBody>
          <a:bodyPr wrap="square" lIns="0" tIns="0" rIns="0" bIns="0" rtlCol="0" anchor="ctr"/>
          <a:lstStyle/>
          <a:p>
            <a:pPr algn="r" indent="0" marL="0">
              <a:buNone/>
            </a:pPr>
            <a:r>
              <a:rPr lang="en-US" sz="850" b="1" spc="140" kern="0" dirty="0">
                <a:solidFill>
                  <a:srgbClr val="6B7280"/>
                </a:solidFill>
                <a:latin typeface="Calibri" pitchFamily="34" charset="0"/>
                <a:ea typeface="Calibri" pitchFamily="34" charset="-122"/>
                <a:cs typeface="Calibri" pitchFamily="34" charset="-120"/>
              </a:rPr>
              <a:t>APPENDIX</a:t>
            </a:r>
            <a:endParaRPr lang="en-US" sz="850" dirty="0"/>
          </a:p>
        </p:txBody>
      </p:sp>
      <p:sp>
        <p:nvSpPr>
          <p:cNvPr id="5" name="Text 3"/>
          <p:cNvSpPr/>
          <p:nvPr/>
        </p:nvSpPr>
        <p:spPr>
          <a:xfrm>
            <a:off x="2148840" y="1627632"/>
            <a:ext cx="5897880" cy="237744"/>
          </a:xfrm>
          <a:prstGeom prst="rect">
            <a:avLst/>
          </a:prstGeom>
          <a:noFill/>
          <a:ln/>
        </p:spPr>
        <p:txBody>
          <a:bodyPr wrap="square" lIns="0" tIns="0" rIns="0" bIns="0" rtlCol="0" anchor="ctr"/>
          <a:lstStyle/>
          <a:p>
            <a:pPr algn="ctr" indent="0" marL="0">
              <a:buNone/>
            </a:pPr>
            <a:r>
              <a:rPr lang="en-US" sz="950" b="1" spc="140" kern="0" dirty="0">
                <a:solidFill>
                  <a:srgbClr val="0E7C7B"/>
                </a:solidFill>
                <a:latin typeface="Calibri" pitchFamily="34" charset="0"/>
                <a:ea typeface="Calibri" pitchFamily="34" charset="-122"/>
                <a:cs typeface="Calibri" pitchFamily="34" charset="-120"/>
              </a:rPr>
              <a:t>URGENCY</a:t>
            </a:r>
            <a:endParaRPr lang="en-US" sz="950" dirty="0"/>
          </a:p>
        </p:txBody>
      </p:sp>
      <p:sp>
        <p:nvSpPr>
          <p:cNvPr id="6" name="Text 4"/>
          <p:cNvSpPr/>
          <p:nvPr/>
        </p:nvSpPr>
        <p:spPr>
          <a:xfrm>
            <a:off x="2148840" y="1874520"/>
            <a:ext cx="1965960" cy="256032"/>
          </a:xfrm>
          <a:prstGeom prst="rect">
            <a:avLst/>
          </a:prstGeom>
          <a:noFill/>
          <a:ln/>
        </p:spPr>
        <p:txBody>
          <a:bodyPr wrap="square" lIns="0" tIns="0" rIns="0" bIns="0" rtlCol="0" anchor="ctr"/>
          <a:lstStyle/>
          <a:p>
            <a:pPr algn="ctr" indent="0" marL="0">
              <a:buNone/>
            </a:pPr>
            <a:r>
              <a:rPr lang="en-US" sz="1100" b="1" dirty="0">
                <a:solidFill>
                  <a:srgbClr val="152A4E"/>
                </a:solidFill>
                <a:latin typeface="Calibri" pitchFamily="34" charset="0"/>
                <a:ea typeface="Calibri" pitchFamily="34" charset="-122"/>
                <a:cs typeface="Calibri" pitchFamily="34" charset="-120"/>
              </a:rPr>
              <a:t>High</a:t>
            </a:r>
            <a:endParaRPr lang="en-US" sz="1100" dirty="0"/>
          </a:p>
        </p:txBody>
      </p:sp>
      <p:sp>
        <p:nvSpPr>
          <p:cNvPr id="7" name="Text 5"/>
          <p:cNvSpPr/>
          <p:nvPr/>
        </p:nvSpPr>
        <p:spPr>
          <a:xfrm>
            <a:off x="4114800" y="1874520"/>
            <a:ext cx="1965960" cy="256032"/>
          </a:xfrm>
          <a:prstGeom prst="rect">
            <a:avLst/>
          </a:prstGeom>
          <a:noFill/>
          <a:ln/>
        </p:spPr>
        <p:txBody>
          <a:bodyPr wrap="square" lIns="0" tIns="0" rIns="0" bIns="0" rtlCol="0" anchor="ctr"/>
          <a:lstStyle/>
          <a:p>
            <a:pPr algn="ctr" indent="0" marL="0">
              <a:buNone/>
            </a:pPr>
            <a:r>
              <a:rPr lang="en-US" sz="1100" b="1" dirty="0">
                <a:solidFill>
                  <a:srgbClr val="152A4E"/>
                </a:solidFill>
                <a:latin typeface="Calibri" pitchFamily="34" charset="0"/>
                <a:ea typeface="Calibri" pitchFamily="34" charset="-122"/>
                <a:cs typeface="Calibri" pitchFamily="34" charset="-120"/>
              </a:rPr>
              <a:t>Medium</a:t>
            </a:r>
            <a:endParaRPr lang="en-US" sz="1100" dirty="0"/>
          </a:p>
        </p:txBody>
      </p:sp>
      <p:sp>
        <p:nvSpPr>
          <p:cNvPr id="8" name="Text 6"/>
          <p:cNvSpPr/>
          <p:nvPr/>
        </p:nvSpPr>
        <p:spPr>
          <a:xfrm>
            <a:off x="6080760" y="1874520"/>
            <a:ext cx="1965960" cy="256032"/>
          </a:xfrm>
          <a:prstGeom prst="rect">
            <a:avLst/>
          </a:prstGeom>
          <a:noFill/>
          <a:ln/>
        </p:spPr>
        <p:txBody>
          <a:bodyPr wrap="square" lIns="0" tIns="0" rIns="0" bIns="0" rtlCol="0" anchor="ctr"/>
          <a:lstStyle/>
          <a:p>
            <a:pPr algn="ctr" indent="0" marL="0">
              <a:buNone/>
            </a:pPr>
            <a:r>
              <a:rPr lang="en-US" sz="1100" b="1" dirty="0">
                <a:solidFill>
                  <a:srgbClr val="152A4E"/>
                </a:solidFill>
                <a:latin typeface="Calibri" pitchFamily="34" charset="0"/>
                <a:ea typeface="Calibri" pitchFamily="34" charset="-122"/>
                <a:cs typeface="Calibri" pitchFamily="34" charset="-120"/>
              </a:rPr>
              <a:t>Low</a:t>
            </a:r>
            <a:endParaRPr lang="en-US" sz="1100" dirty="0"/>
          </a:p>
        </p:txBody>
      </p:sp>
      <p:sp>
        <p:nvSpPr>
          <p:cNvPr id="9" name="Text 7"/>
          <p:cNvSpPr/>
          <p:nvPr/>
        </p:nvSpPr>
        <p:spPr>
          <a:xfrm rot="16200000">
            <a:off x="137160" y="3177540"/>
            <a:ext cx="1097280" cy="237744"/>
          </a:xfrm>
          <a:prstGeom prst="rect">
            <a:avLst/>
          </a:prstGeom>
          <a:noFill/>
          <a:ln/>
        </p:spPr>
        <p:txBody>
          <a:bodyPr wrap="square" lIns="0" tIns="0" rIns="0" bIns="0" rtlCol="0" anchor="ctr"/>
          <a:lstStyle/>
          <a:p>
            <a:pPr algn="ctr" indent="0" marL="0">
              <a:buNone/>
            </a:pPr>
            <a:r>
              <a:rPr lang="en-US" sz="950" b="1" spc="140" kern="0" dirty="0">
                <a:solidFill>
                  <a:srgbClr val="0E7C7B"/>
                </a:solidFill>
                <a:latin typeface="Calibri" pitchFamily="34" charset="0"/>
                <a:ea typeface="Calibri" pitchFamily="34" charset="-122"/>
                <a:cs typeface="Calibri" pitchFamily="34" charset="-120"/>
              </a:rPr>
              <a:t>IMPACT</a:t>
            </a:r>
            <a:endParaRPr lang="en-US" sz="950" dirty="0"/>
          </a:p>
        </p:txBody>
      </p:sp>
      <p:sp>
        <p:nvSpPr>
          <p:cNvPr id="10" name="Text 8"/>
          <p:cNvSpPr/>
          <p:nvPr/>
        </p:nvSpPr>
        <p:spPr>
          <a:xfrm>
            <a:off x="960120" y="2148840"/>
            <a:ext cx="1115568" cy="1051560"/>
          </a:xfrm>
          <a:prstGeom prst="rect">
            <a:avLst/>
          </a:prstGeom>
          <a:noFill/>
          <a:ln/>
        </p:spPr>
        <p:txBody>
          <a:bodyPr wrap="square" lIns="0" tIns="0" rIns="0" bIns="0" rtlCol="0" anchor="ctr"/>
          <a:lstStyle/>
          <a:p>
            <a:pPr algn="r" indent="0" marL="0">
              <a:buNone/>
            </a:pPr>
            <a:r>
              <a:rPr lang="en-US" sz="1100" b="1" dirty="0">
                <a:solidFill>
                  <a:srgbClr val="152A4E"/>
                </a:solidFill>
                <a:latin typeface="Calibri" pitchFamily="34" charset="0"/>
                <a:ea typeface="Calibri" pitchFamily="34" charset="-122"/>
                <a:cs typeface="Calibri" pitchFamily="34" charset="-120"/>
              </a:rPr>
              <a:t>High</a:t>
            </a:r>
            <a:endParaRPr lang="en-US" sz="1100" dirty="0"/>
          </a:p>
        </p:txBody>
      </p:sp>
      <p:sp>
        <p:nvSpPr>
          <p:cNvPr id="11" name="Shape 9"/>
          <p:cNvSpPr/>
          <p:nvPr/>
        </p:nvSpPr>
        <p:spPr>
          <a:xfrm>
            <a:off x="2148840" y="2148840"/>
            <a:ext cx="1965960" cy="1051560"/>
          </a:xfrm>
          <a:prstGeom prst="rect">
            <a:avLst/>
          </a:prstGeom>
          <a:solidFill>
            <a:srgbClr val="9E2B25"/>
          </a:solidFill>
          <a:ln w="31750">
            <a:solidFill>
              <a:srgbClr val="FFFFFF"/>
            </a:solidFill>
            <a:prstDash val="solid"/>
          </a:ln>
        </p:spPr>
      </p:sp>
      <p:sp>
        <p:nvSpPr>
          <p:cNvPr id="12" name="Text 10"/>
          <p:cNvSpPr/>
          <p:nvPr/>
        </p:nvSpPr>
        <p:spPr>
          <a:xfrm>
            <a:off x="2148840" y="2148840"/>
            <a:ext cx="196596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P1</a:t>
            </a:r>
            <a:endParaRPr lang="en-US" sz="2600" dirty="0"/>
          </a:p>
        </p:txBody>
      </p:sp>
      <p:sp>
        <p:nvSpPr>
          <p:cNvPr id="13" name="Shape 11"/>
          <p:cNvSpPr/>
          <p:nvPr/>
        </p:nvSpPr>
        <p:spPr>
          <a:xfrm>
            <a:off x="4114800" y="2148840"/>
            <a:ext cx="1965960" cy="1051560"/>
          </a:xfrm>
          <a:prstGeom prst="rect">
            <a:avLst/>
          </a:prstGeom>
          <a:solidFill>
            <a:srgbClr val="A86A11"/>
          </a:solidFill>
          <a:ln w="31750">
            <a:solidFill>
              <a:srgbClr val="FFFFFF"/>
            </a:solidFill>
            <a:prstDash val="solid"/>
          </a:ln>
        </p:spPr>
      </p:sp>
      <p:sp>
        <p:nvSpPr>
          <p:cNvPr id="14" name="Text 12"/>
          <p:cNvSpPr/>
          <p:nvPr/>
        </p:nvSpPr>
        <p:spPr>
          <a:xfrm>
            <a:off x="4114800" y="2148840"/>
            <a:ext cx="196596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P2</a:t>
            </a:r>
            <a:endParaRPr lang="en-US" sz="2600" dirty="0"/>
          </a:p>
        </p:txBody>
      </p:sp>
      <p:sp>
        <p:nvSpPr>
          <p:cNvPr id="15" name="Shape 13"/>
          <p:cNvSpPr/>
          <p:nvPr/>
        </p:nvSpPr>
        <p:spPr>
          <a:xfrm>
            <a:off x="6080760" y="2148840"/>
            <a:ext cx="1965960" cy="1051560"/>
          </a:xfrm>
          <a:prstGeom prst="rect">
            <a:avLst/>
          </a:prstGeom>
          <a:solidFill>
            <a:srgbClr val="0E7C7B"/>
          </a:solidFill>
          <a:ln w="31750">
            <a:solidFill>
              <a:srgbClr val="FFFFFF"/>
            </a:solidFill>
            <a:prstDash val="solid"/>
          </a:ln>
        </p:spPr>
      </p:sp>
      <p:sp>
        <p:nvSpPr>
          <p:cNvPr id="16" name="Text 14"/>
          <p:cNvSpPr/>
          <p:nvPr/>
        </p:nvSpPr>
        <p:spPr>
          <a:xfrm>
            <a:off x="6080760" y="2148840"/>
            <a:ext cx="196596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P3</a:t>
            </a:r>
            <a:endParaRPr lang="en-US" sz="2600" dirty="0"/>
          </a:p>
        </p:txBody>
      </p:sp>
      <p:sp>
        <p:nvSpPr>
          <p:cNvPr id="17" name="Text 15"/>
          <p:cNvSpPr/>
          <p:nvPr/>
        </p:nvSpPr>
        <p:spPr>
          <a:xfrm>
            <a:off x="960120" y="3200400"/>
            <a:ext cx="1115568" cy="1051560"/>
          </a:xfrm>
          <a:prstGeom prst="rect">
            <a:avLst/>
          </a:prstGeom>
          <a:noFill/>
          <a:ln/>
        </p:spPr>
        <p:txBody>
          <a:bodyPr wrap="square" lIns="0" tIns="0" rIns="0" bIns="0" rtlCol="0" anchor="ctr"/>
          <a:lstStyle/>
          <a:p>
            <a:pPr algn="r" indent="0" marL="0">
              <a:buNone/>
            </a:pPr>
            <a:r>
              <a:rPr lang="en-US" sz="1100" b="1" dirty="0">
                <a:solidFill>
                  <a:srgbClr val="152A4E"/>
                </a:solidFill>
                <a:latin typeface="Calibri" pitchFamily="34" charset="0"/>
                <a:ea typeface="Calibri" pitchFamily="34" charset="-122"/>
                <a:cs typeface="Calibri" pitchFamily="34" charset="-120"/>
              </a:rPr>
              <a:t>Medium</a:t>
            </a:r>
            <a:endParaRPr lang="en-US" sz="1100" dirty="0"/>
          </a:p>
        </p:txBody>
      </p:sp>
      <p:sp>
        <p:nvSpPr>
          <p:cNvPr id="18" name="Shape 16"/>
          <p:cNvSpPr/>
          <p:nvPr/>
        </p:nvSpPr>
        <p:spPr>
          <a:xfrm>
            <a:off x="2148840" y="3200400"/>
            <a:ext cx="1965960" cy="1051560"/>
          </a:xfrm>
          <a:prstGeom prst="rect">
            <a:avLst/>
          </a:prstGeom>
          <a:solidFill>
            <a:srgbClr val="A86A11"/>
          </a:solidFill>
          <a:ln w="31750">
            <a:solidFill>
              <a:srgbClr val="FFFFFF"/>
            </a:solidFill>
            <a:prstDash val="solid"/>
          </a:ln>
        </p:spPr>
      </p:sp>
      <p:sp>
        <p:nvSpPr>
          <p:cNvPr id="19" name="Text 17"/>
          <p:cNvSpPr/>
          <p:nvPr/>
        </p:nvSpPr>
        <p:spPr>
          <a:xfrm>
            <a:off x="2148840" y="3200400"/>
            <a:ext cx="196596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P2</a:t>
            </a:r>
            <a:endParaRPr lang="en-US" sz="2600" dirty="0"/>
          </a:p>
        </p:txBody>
      </p:sp>
      <p:sp>
        <p:nvSpPr>
          <p:cNvPr id="20" name="Shape 18"/>
          <p:cNvSpPr/>
          <p:nvPr/>
        </p:nvSpPr>
        <p:spPr>
          <a:xfrm>
            <a:off x="4114800" y="3200400"/>
            <a:ext cx="1965960" cy="1051560"/>
          </a:xfrm>
          <a:prstGeom prst="rect">
            <a:avLst/>
          </a:prstGeom>
          <a:solidFill>
            <a:srgbClr val="0E7C7B"/>
          </a:solidFill>
          <a:ln w="31750">
            <a:solidFill>
              <a:srgbClr val="FFFFFF"/>
            </a:solidFill>
            <a:prstDash val="solid"/>
          </a:ln>
        </p:spPr>
      </p:sp>
      <p:sp>
        <p:nvSpPr>
          <p:cNvPr id="21" name="Text 19"/>
          <p:cNvSpPr/>
          <p:nvPr/>
        </p:nvSpPr>
        <p:spPr>
          <a:xfrm>
            <a:off x="4114800" y="3200400"/>
            <a:ext cx="196596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P3</a:t>
            </a:r>
            <a:endParaRPr lang="en-US" sz="2600" dirty="0"/>
          </a:p>
        </p:txBody>
      </p:sp>
      <p:sp>
        <p:nvSpPr>
          <p:cNvPr id="22" name="Shape 20"/>
          <p:cNvSpPr/>
          <p:nvPr/>
        </p:nvSpPr>
        <p:spPr>
          <a:xfrm>
            <a:off x="6080760" y="3200400"/>
            <a:ext cx="1965960" cy="1051560"/>
          </a:xfrm>
          <a:prstGeom prst="rect">
            <a:avLst/>
          </a:prstGeom>
          <a:solidFill>
            <a:srgbClr val="0E7C7B"/>
          </a:solidFill>
          <a:ln w="31750">
            <a:solidFill>
              <a:srgbClr val="FFFFFF"/>
            </a:solidFill>
            <a:prstDash val="solid"/>
          </a:ln>
        </p:spPr>
      </p:sp>
      <p:sp>
        <p:nvSpPr>
          <p:cNvPr id="23" name="Text 21"/>
          <p:cNvSpPr/>
          <p:nvPr/>
        </p:nvSpPr>
        <p:spPr>
          <a:xfrm>
            <a:off x="6080760" y="3200400"/>
            <a:ext cx="196596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P3</a:t>
            </a:r>
            <a:endParaRPr lang="en-US" sz="2600" dirty="0"/>
          </a:p>
        </p:txBody>
      </p:sp>
      <p:sp>
        <p:nvSpPr>
          <p:cNvPr id="24" name="Text 22"/>
          <p:cNvSpPr/>
          <p:nvPr/>
        </p:nvSpPr>
        <p:spPr>
          <a:xfrm>
            <a:off x="960120" y="4251960"/>
            <a:ext cx="1115568" cy="1051560"/>
          </a:xfrm>
          <a:prstGeom prst="rect">
            <a:avLst/>
          </a:prstGeom>
          <a:noFill/>
          <a:ln/>
        </p:spPr>
        <p:txBody>
          <a:bodyPr wrap="square" lIns="0" tIns="0" rIns="0" bIns="0" rtlCol="0" anchor="ctr"/>
          <a:lstStyle/>
          <a:p>
            <a:pPr algn="r" indent="0" marL="0">
              <a:buNone/>
            </a:pPr>
            <a:r>
              <a:rPr lang="en-US" sz="1100" b="1" dirty="0">
                <a:solidFill>
                  <a:srgbClr val="152A4E"/>
                </a:solidFill>
                <a:latin typeface="Calibri" pitchFamily="34" charset="0"/>
                <a:ea typeface="Calibri" pitchFamily="34" charset="-122"/>
                <a:cs typeface="Calibri" pitchFamily="34" charset="-120"/>
              </a:rPr>
              <a:t>Low</a:t>
            </a:r>
            <a:endParaRPr lang="en-US" sz="1100" dirty="0"/>
          </a:p>
        </p:txBody>
      </p:sp>
      <p:sp>
        <p:nvSpPr>
          <p:cNvPr id="25" name="Shape 23"/>
          <p:cNvSpPr/>
          <p:nvPr/>
        </p:nvSpPr>
        <p:spPr>
          <a:xfrm>
            <a:off x="2148840" y="4251960"/>
            <a:ext cx="1965960" cy="1051560"/>
          </a:xfrm>
          <a:prstGeom prst="rect">
            <a:avLst/>
          </a:prstGeom>
          <a:solidFill>
            <a:srgbClr val="0E7C7B"/>
          </a:solidFill>
          <a:ln w="31750">
            <a:solidFill>
              <a:srgbClr val="FFFFFF"/>
            </a:solidFill>
            <a:prstDash val="solid"/>
          </a:ln>
        </p:spPr>
      </p:sp>
      <p:sp>
        <p:nvSpPr>
          <p:cNvPr id="26" name="Text 24"/>
          <p:cNvSpPr/>
          <p:nvPr/>
        </p:nvSpPr>
        <p:spPr>
          <a:xfrm>
            <a:off x="2148840" y="4251960"/>
            <a:ext cx="196596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P3</a:t>
            </a:r>
            <a:endParaRPr lang="en-US" sz="2600" dirty="0"/>
          </a:p>
        </p:txBody>
      </p:sp>
      <p:sp>
        <p:nvSpPr>
          <p:cNvPr id="27" name="Shape 25"/>
          <p:cNvSpPr/>
          <p:nvPr/>
        </p:nvSpPr>
        <p:spPr>
          <a:xfrm>
            <a:off x="4114800" y="4251960"/>
            <a:ext cx="1965960" cy="1051560"/>
          </a:xfrm>
          <a:prstGeom prst="rect">
            <a:avLst/>
          </a:prstGeom>
          <a:solidFill>
            <a:srgbClr val="0E7C7B"/>
          </a:solidFill>
          <a:ln w="31750">
            <a:solidFill>
              <a:srgbClr val="FFFFFF"/>
            </a:solidFill>
            <a:prstDash val="solid"/>
          </a:ln>
        </p:spPr>
      </p:sp>
      <p:sp>
        <p:nvSpPr>
          <p:cNvPr id="28" name="Text 26"/>
          <p:cNvSpPr/>
          <p:nvPr/>
        </p:nvSpPr>
        <p:spPr>
          <a:xfrm>
            <a:off x="4114800" y="4251960"/>
            <a:ext cx="196596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P3</a:t>
            </a:r>
            <a:endParaRPr lang="en-US" sz="2600" dirty="0"/>
          </a:p>
        </p:txBody>
      </p:sp>
      <p:sp>
        <p:nvSpPr>
          <p:cNvPr id="29" name="Shape 27"/>
          <p:cNvSpPr/>
          <p:nvPr/>
        </p:nvSpPr>
        <p:spPr>
          <a:xfrm>
            <a:off x="6080760" y="4251960"/>
            <a:ext cx="1965960" cy="1051560"/>
          </a:xfrm>
          <a:prstGeom prst="rect">
            <a:avLst/>
          </a:prstGeom>
          <a:solidFill>
            <a:srgbClr val="F2F5F9"/>
          </a:solidFill>
          <a:ln w="31750">
            <a:solidFill>
              <a:srgbClr val="FFFFFF"/>
            </a:solidFill>
            <a:prstDash val="solid"/>
          </a:ln>
        </p:spPr>
      </p:sp>
      <p:sp>
        <p:nvSpPr>
          <p:cNvPr id="30" name="Text 28"/>
          <p:cNvSpPr/>
          <p:nvPr/>
        </p:nvSpPr>
        <p:spPr>
          <a:xfrm>
            <a:off x="6080760" y="4251960"/>
            <a:ext cx="1965960" cy="1051560"/>
          </a:xfrm>
          <a:prstGeom prst="rect">
            <a:avLst/>
          </a:prstGeom>
          <a:noFill/>
          <a:ln/>
        </p:spPr>
        <p:txBody>
          <a:bodyPr wrap="square" lIns="0" tIns="0" rIns="0" bIns="0" rtlCol="0" anchor="ctr"/>
          <a:lstStyle/>
          <a:p>
            <a:pPr algn="ctr" indent="0" marL="0">
              <a:buNone/>
            </a:pPr>
            <a:r>
              <a:rPr lang="en-US" sz="2600" b="1" dirty="0">
                <a:solidFill>
                  <a:srgbClr val="6B7280"/>
                </a:solidFill>
                <a:latin typeface="Cambria" pitchFamily="34" charset="0"/>
                <a:ea typeface="Cambria" pitchFamily="34" charset="-122"/>
                <a:cs typeface="Cambria" pitchFamily="34" charset="-120"/>
              </a:rPr>
              <a:t>P4</a:t>
            </a:r>
            <a:endParaRPr lang="en-US" sz="2600" dirty="0"/>
          </a:p>
        </p:txBody>
      </p:sp>
      <p:sp>
        <p:nvSpPr>
          <p:cNvPr id="31" name="Shape 29"/>
          <p:cNvSpPr/>
          <p:nvPr/>
        </p:nvSpPr>
        <p:spPr>
          <a:xfrm>
            <a:off x="8366760" y="2148840"/>
            <a:ext cx="3319272" cy="3154680"/>
          </a:xfrm>
          <a:prstGeom prst="roundRect">
            <a:avLst>
              <a:gd name="adj" fmla="val 1739"/>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32" name="Text 30"/>
          <p:cNvSpPr/>
          <p:nvPr/>
        </p:nvSpPr>
        <p:spPr>
          <a:xfrm>
            <a:off x="8567928" y="2267712"/>
            <a:ext cx="2926080" cy="256032"/>
          </a:xfrm>
          <a:prstGeom prst="rect">
            <a:avLst/>
          </a:prstGeom>
          <a:noFill/>
          <a:ln/>
        </p:spPr>
        <p:txBody>
          <a:bodyPr wrap="square" lIns="0" tIns="0" rIns="0" bIns="0" rtlCol="0" anchor="ctr"/>
          <a:lstStyle/>
          <a:p>
            <a:pPr indent="0" marL="0">
              <a:buNone/>
            </a:pPr>
            <a:r>
              <a:rPr lang="en-US" sz="1200" b="1" dirty="0">
                <a:solidFill>
                  <a:srgbClr val="152A4E"/>
                </a:solidFill>
                <a:latin typeface="Calibri" pitchFamily="34" charset="0"/>
                <a:ea typeface="Calibri" pitchFamily="34" charset="-122"/>
                <a:cs typeface="Calibri" pitchFamily="34" charset="-120"/>
              </a:rPr>
              <a:t>How it runs</a:t>
            </a:r>
            <a:endParaRPr lang="en-US" sz="1200" dirty="0"/>
          </a:p>
        </p:txBody>
      </p:sp>
      <p:sp>
        <p:nvSpPr>
          <p:cNvPr id="33" name="Text 31"/>
          <p:cNvSpPr/>
          <p:nvPr/>
        </p:nvSpPr>
        <p:spPr>
          <a:xfrm>
            <a:off x="8567928" y="2560320"/>
            <a:ext cx="2926080" cy="1417320"/>
          </a:xfrm>
          <a:prstGeom prst="rect">
            <a:avLst/>
          </a:prstGeom>
          <a:noFill/>
          <a:ln/>
        </p:spPr>
        <p:txBody>
          <a:bodyPr wrap="square" lIns="0" tIns="0" rIns="0" bIns="0" rtlCol="0" anchor="t"/>
          <a:lstStyle/>
          <a:p>
            <a:pPr marL="342900" indent="-342900">
              <a:lnSpc>
                <a:spcPts val="1300"/>
              </a:lnSpc>
              <a:spcAft>
                <a:spcPts val="500"/>
              </a:spcAft>
              <a:buSzPct val="100000"/>
              <a:buChar char="▪"/>
            </a:pPr>
            <a:r>
              <a:rPr lang="en-US" sz="1000" dirty="0">
                <a:solidFill>
                  <a:srgbClr val="1A1A1A"/>
                </a:solidFill>
                <a:latin typeface="Calibri" pitchFamily="34" charset="0"/>
                <a:ea typeface="Calibri" pitchFamily="34" charset="-122"/>
                <a:cs typeface="Calibri" pitchFamily="34" charset="-120"/>
              </a:rPr>
              <a:t>Impact and Urgency are agent-set selects (High / Medium / Low)</a:t>
            </a:r>
            <a:endParaRPr lang="en-US" sz="1000" dirty="0"/>
          </a:p>
          <a:p>
            <a:pPr marL="342900" indent="-342900">
              <a:lnSpc>
                <a:spcPts val="1300"/>
              </a:lnSpc>
              <a:spcAft>
                <a:spcPts val="500"/>
              </a:spcAft>
              <a:buSzPct val="100000"/>
              <a:buChar char="▪"/>
            </a:pPr>
            <a:r>
              <a:rPr lang="en-US" sz="1000" dirty="0">
                <a:solidFill>
                  <a:srgbClr val="1A1A1A"/>
                </a:solidFill>
                <a:latin typeface="Calibri" pitchFamily="34" charset="0"/>
                <a:ea typeface="Calibri" pitchFamily="34" charset="-122"/>
                <a:cs typeface="Calibri" pitchFamily="34" charset="-120"/>
              </a:rPr>
              <a:t>Automation rule 1 fires on create, and on any edit of either field</a:t>
            </a:r>
            <a:endParaRPr lang="en-US" sz="1000" dirty="0"/>
          </a:p>
          <a:p>
            <a:pPr marL="342900" indent="-342900">
              <a:lnSpc>
                <a:spcPts val="1300"/>
              </a:lnSpc>
              <a:spcAft>
                <a:spcPts val="500"/>
              </a:spcAft>
              <a:buSzPct val="100000"/>
              <a:buChar char="▪"/>
            </a:pPr>
            <a:r>
              <a:rPr lang="en-US" sz="1000" dirty="0">
                <a:solidFill>
                  <a:srgbClr val="1A1A1A"/>
                </a:solidFill>
                <a:latin typeface="Calibri" pitchFamily="34" charset="0"/>
                <a:ea typeface="Calibri" pitchFamily="34" charset="-122"/>
                <a:cs typeface="Calibri" pitchFamily="34" charset="-120"/>
              </a:rPr>
              <a:t>Priority is written by the rule — agents do not choose it</a:t>
            </a:r>
            <a:endParaRPr lang="en-US" sz="1000" dirty="0"/>
          </a:p>
        </p:txBody>
      </p:sp>
      <p:sp>
        <p:nvSpPr>
          <p:cNvPr id="34" name="Text 32"/>
          <p:cNvSpPr/>
          <p:nvPr/>
        </p:nvSpPr>
        <p:spPr>
          <a:xfrm>
            <a:off x="8567928" y="4023360"/>
            <a:ext cx="2926080" cy="256032"/>
          </a:xfrm>
          <a:prstGeom prst="rect">
            <a:avLst/>
          </a:prstGeom>
          <a:noFill/>
          <a:ln/>
        </p:spPr>
        <p:txBody>
          <a:bodyPr wrap="square" lIns="0" tIns="0" rIns="0" bIns="0" rtlCol="0" anchor="ctr"/>
          <a:lstStyle/>
          <a:p>
            <a:pPr indent="0" marL="0">
              <a:buNone/>
            </a:pPr>
            <a:r>
              <a:rPr lang="en-US" sz="1200" b="1" dirty="0">
                <a:solidFill>
                  <a:srgbClr val="152A4E"/>
                </a:solidFill>
                <a:latin typeface="Calibri" pitchFamily="34" charset="0"/>
                <a:ea typeface="Calibri" pitchFamily="34" charset="-122"/>
                <a:cs typeface="Calibri" pitchFamily="34" charset="-120"/>
              </a:rPr>
              <a:t>Why it matters</a:t>
            </a:r>
            <a:endParaRPr lang="en-US" sz="1200" dirty="0"/>
          </a:p>
        </p:txBody>
      </p:sp>
      <p:sp>
        <p:nvSpPr>
          <p:cNvPr id="35" name="Text 33"/>
          <p:cNvSpPr/>
          <p:nvPr/>
        </p:nvSpPr>
        <p:spPr>
          <a:xfrm>
            <a:off x="8567928" y="4315968"/>
            <a:ext cx="2926080" cy="914400"/>
          </a:xfrm>
          <a:prstGeom prst="rect">
            <a:avLst/>
          </a:prstGeom>
          <a:noFill/>
          <a:ln/>
        </p:spPr>
        <p:txBody>
          <a:bodyPr wrap="square" lIns="0" tIns="0" rIns="0" bIns="0" rtlCol="0" anchor="ctr"/>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Agent-picked priority inflates: everything becomes P1, the SLA report stops discriminating, and the P1 war-room queue becomes noise. A fixed matrix makes priority an argument about impact and urgency — which is a conversation you can actually adjudicate.</a:t>
            </a:r>
            <a:endParaRPr lang="en-US" sz="1000" dirty="0"/>
          </a:p>
        </p:txBody>
      </p:sp>
      <p:sp>
        <p:nvSpPr>
          <p:cNvPr id="36" name="Text 34"/>
          <p:cNvSpPr/>
          <p:nvPr/>
        </p:nvSpPr>
        <p:spPr>
          <a:xfrm>
            <a:off x="502920" y="5596128"/>
            <a:ext cx="11183112" cy="457200"/>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SLA targets attach to the derived priority — see A-3. P1 and P2 run on a 24×7 calendar; P3 and P4 on business hours (to be confirmed).</a:t>
            </a:r>
            <a:endParaRPr lang="en-US" sz="1050" dirty="0"/>
          </a:p>
        </p:txBody>
      </p:sp>
      <p:sp>
        <p:nvSpPr>
          <p:cNvPr id="37" name="Text 35"/>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§8 priority matrix; §10 automation rule 1</a:t>
            </a:r>
            <a:endParaRPr lang="en-US" sz="850" dirty="0"/>
          </a:p>
        </p:txBody>
      </p:sp>
      <p:sp>
        <p:nvSpPr>
          <p:cNvPr id="38" name="Text 36"/>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A-3  ·  SLA TARGETS</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Response and resolution targets attach to the derived priority, and pausing on Pending Customer or Pending Vendor is what makes attainment defensible</a:t>
            </a:r>
            <a:endParaRPr lang="en-US" sz="1850" dirty="0"/>
          </a:p>
        </p:txBody>
      </p:sp>
      <p:sp>
        <p:nvSpPr>
          <p:cNvPr id="4" name="Text 2"/>
          <p:cNvSpPr/>
          <p:nvPr/>
        </p:nvSpPr>
        <p:spPr>
          <a:xfrm>
            <a:off x="10222992" y="274320"/>
            <a:ext cx="1463040" cy="219456"/>
          </a:xfrm>
          <a:prstGeom prst="rect">
            <a:avLst/>
          </a:prstGeom>
          <a:noFill/>
          <a:ln/>
        </p:spPr>
        <p:txBody>
          <a:bodyPr wrap="square" lIns="0" tIns="0" rIns="0" bIns="0" rtlCol="0" anchor="ctr"/>
          <a:lstStyle/>
          <a:p>
            <a:pPr algn="r" indent="0" marL="0">
              <a:buNone/>
            </a:pPr>
            <a:r>
              <a:rPr lang="en-US" sz="850" b="1" spc="140" kern="0" dirty="0">
                <a:solidFill>
                  <a:srgbClr val="6B7280"/>
                </a:solidFill>
                <a:latin typeface="Calibri" pitchFamily="34" charset="0"/>
                <a:ea typeface="Calibri" pitchFamily="34" charset="-122"/>
                <a:cs typeface="Calibri" pitchFamily="34" charset="-120"/>
              </a:rPr>
              <a:t>APPENDIX</a:t>
            </a:r>
            <a:endParaRPr lang="en-US" sz="850" dirty="0"/>
          </a:p>
        </p:txBody>
      </p:sp>
      <p:sp>
        <p:nvSpPr>
          <p:cNvPr id="5" name="Shape 3"/>
          <p:cNvSpPr/>
          <p:nvPr/>
        </p:nvSpPr>
        <p:spPr>
          <a:xfrm>
            <a:off x="502920" y="1463040"/>
            <a:ext cx="6858000" cy="365760"/>
          </a:xfrm>
          <a:prstGeom prst="rect">
            <a:avLst/>
          </a:prstGeom>
          <a:solidFill>
            <a:srgbClr val="152A4E"/>
          </a:solidFill>
          <a:ln w="12700">
            <a:solidFill>
              <a:srgbClr val="152A4E"/>
            </a:solidFill>
            <a:prstDash val="solid"/>
          </a:ln>
        </p:spPr>
      </p:sp>
      <p:sp>
        <p:nvSpPr>
          <p:cNvPr id="6" name="Text 4"/>
          <p:cNvSpPr/>
          <p:nvPr/>
        </p:nvSpPr>
        <p:spPr>
          <a:xfrm>
            <a:off x="630936" y="1463040"/>
            <a:ext cx="155448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Priority</a:t>
            </a:r>
            <a:endParaRPr lang="en-US" sz="950" dirty="0"/>
          </a:p>
        </p:txBody>
      </p:sp>
      <p:sp>
        <p:nvSpPr>
          <p:cNvPr id="7" name="Text 5"/>
          <p:cNvSpPr/>
          <p:nvPr/>
        </p:nvSpPr>
        <p:spPr>
          <a:xfrm>
            <a:off x="2368296" y="1463040"/>
            <a:ext cx="237744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Time to first response</a:t>
            </a:r>
            <a:endParaRPr lang="en-US" sz="950" dirty="0"/>
          </a:p>
        </p:txBody>
      </p:sp>
      <p:sp>
        <p:nvSpPr>
          <p:cNvPr id="8" name="Text 6"/>
          <p:cNvSpPr/>
          <p:nvPr/>
        </p:nvSpPr>
        <p:spPr>
          <a:xfrm>
            <a:off x="4928616" y="1463040"/>
            <a:ext cx="237744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Time to resolution</a:t>
            </a:r>
            <a:endParaRPr lang="en-US" sz="950" dirty="0"/>
          </a:p>
        </p:txBody>
      </p:sp>
      <p:sp>
        <p:nvSpPr>
          <p:cNvPr id="9" name="Shape 7"/>
          <p:cNvSpPr/>
          <p:nvPr/>
        </p:nvSpPr>
        <p:spPr>
          <a:xfrm>
            <a:off x="502920" y="1828800"/>
            <a:ext cx="6858000" cy="457200"/>
          </a:xfrm>
          <a:prstGeom prst="rect">
            <a:avLst/>
          </a:prstGeom>
          <a:solidFill>
            <a:srgbClr val="F2F5F9"/>
          </a:solidFill>
          <a:ln w="9525">
            <a:solidFill>
              <a:srgbClr val="D3DBE6"/>
            </a:solidFill>
            <a:prstDash val="solid"/>
          </a:ln>
        </p:spPr>
      </p:sp>
      <p:sp>
        <p:nvSpPr>
          <p:cNvPr id="10" name="Text 8"/>
          <p:cNvSpPr/>
          <p:nvPr/>
        </p:nvSpPr>
        <p:spPr>
          <a:xfrm>
            <a:off x="630936" y="1828800"/>
            <a:ext cx="153619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P1 — Critical</a:t>
            </a:r>
            <a:endParaRPr lang="en-US" sz="1050" dirty="0"/>
          </a:p>
        </p:txBody>
      </p:sp>
      <p:sp>
        <p:nvSpPr>
          <p:cNvPr id="11" name="Text 9"/>
          <p:cNvSpPr/>
          <p:nvPr/>
        </p:nvSpPr>
        <p:spPr>
          <a:xfrm>
            <a:off x="2368296" y="1828800"/>
            <a:ext cx="235915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15 minutes</a:t>
            </a:r>
            <a:endParaRPr lang="en-US" sz="1050" dirty="0"/>
          </a:p>
        </p:txBody>
      </p:sp>
      <p:sp>
        <p:nvSpPr>
          <p:cNvPr id="12" name="Text 10"/>
          <p:cNvSpPr/>
          <p:nvPr/>
        </p:nvSpPr>
        <p:spPr>
          <a:xfrm>
            <a:off x="4928616" y="1828800"/>
            <a:ext cx="235915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4 hours</a:t>
            </a:r>
            <a:endParaRPr lang="en-US" sz="1050" dirty="0"/>
          </a:p>
        </p:txBody>
      </p:sp>
      <p:sp>
        <p:nvSpPr>
          <p:cNvPr id="13" name="Shape 11"/>
          <p:cNvSpPr/>
          <p:nvPr/>
        </p:nvSpPr>
        <p:spPr>
          <a:xfrm>
            <a:off x="502920" y="2286000"/>
            <a:ext cx="6858000" cy="457200"/>
          </a:xfrm>
          <a:prstGeom prst="rect">
            <a:avLst/>
          </a:prstGeom>
          <a:solidFill>
            <a:srgbClr val="FFFFFF"/>
          </a:solidFill>
          <a:ln w="9525">
            <a:solidFill>
              <a:srgbClr val="D3DBE6"/>
            </a:solidFill>
            <a:prstDash val="solid"/>
          </a:ln>
        </p:spPr>
      </p:sp>
      <p:sp>
        <p:nvSpPr>
          <p:cNvPr id="14" name="Text 12"/>
          <p:cNvSpPr/>
          <p:nvPr/>
        </p:nvSpPr>
        <p:spPr>
          <a:xfrm>
            <a:off x="630936" y="2286000"/>
            <a:ext cx="153619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P2 — High</a:t>
            </a:r>
            <a:endParaRPr lang="en-US" sz="1050" dirty="0"/>
          </a:p>
        </p:txBody>
      </p:sp>
      <p:sp>
        <p:nvSpPr>
          <p:cNvPr id="15" name="Text 13"/>
          <p:cNvSpPr/>
          <p:nvPr/>
        </p:nvSpPr>
        <p:spPr>
          <a:xfrm>
            <a:off x="2368296" y="2286000"/>
            <a:ext cx="235915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30 minutes</a:t>
            </a:r>
            <a:endParaRPr lang="en-US" sz="1050" dirty="0"/>
          </a:p>
        </p:txBody>
      </p:sp>
      <p:sp>
        <p:nvSpPr>
          <p:cNvPr id="16" name="Text 14"/>
          <p:cNvSpPr/>
          <p:nvPr/>
        </p:nvSpPr>
        <p:spPr>
          <a:xfrm>
            <a:off x="4928616" y="2286000"/>
            <a:ext cx="235915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8 hours</a:t>
            </a:r>
            <a:endParaRPr lang="en-US" sz="1050" dirty="0"/>
          </a:p>
        </p:txBody>
      </p:sp>
      <p:sp>
        <p:nvSpPr>
          <p:cNvPr id="17" name="Shape 15"/>
          <p:cNvSpPr/>
          <p:nvPr/>
        </p:nvSpPr>
        <p:spPr>
          <a:xfrm>
            <a:off x="502920" y="2743200"/>
            <a:ext cx="6858000" cy="457200"/>
          </a:xfrm>
          <a:prstGeom prst="rect">
            <a:avLst/>
          </a:prstGeom>
          <a:solidFill>
            <a:srgbClr val="F2F5F9"/>
          </a:solidFill>
          <a:ln w="9525">
            <a:solidFill>
              <a:srgbClr val="D3DBE6"/>
            </a:solidFill>
            <a:prstDash val="solid"/>
          </a:ln>
        </p:spPr>
      </p:sp>
      <p:sp>
        <p:nvSpPr>
          <p:cNvPr id="18" name="Text 16"/>
          <p:cNvSpPr/>
          <p:nvPr/>
        </p:nvSpPr>
        <p:spPr>
          <a:xfrm>
            <a:off x="630936" y="2743200"/>
            <a:ext cx="153619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P3 — Medium</a:t>
            </a:r>
            <a:endParaRPr lang="en-US" sz="1050" dirty="0"/>
          </a:p>
        </p:txBody>
      </p:sp>
      <p:sp>
        <p:nvSpPr>
          <p:cNvPr id="19" name="Text 17"/>
          <p:cNvSpPr/>
          <p:nvPr/>
        </p:nvSpPr>
        <p:spPr>
          <a:xfrm>
            <a:off x="2368296" y="2743200"/>
            <a:ext cx="235915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4 hours</a:t>
            </a:r>
            <a:endParaRPr lang="en-US" sz="1050" dirty="0"/>
          </a:p>
        </p:txBody>
      </p:sp>
      <p:sp>
        <p:nvSpPr>
          <p:cNvPr id="20" name="Text 18"/>
          <p:cNvSpPr/>
          <p:nvPr/>
        </p:nvSpPr>
        <p:spPr>
          <a:xfrm>
            <a:off x="4928616" y="2743200"/>
            <a:ext cx="235915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3 business days</a:t>
            </a:r>
            <a:endParaRPr lang="en-US" sz="1050" dirty="0"/>
          </a:p>
        </p:txBody>
      </p:sp>
      <p:sp>
        <p:nvSpPr>
          <p:cNvPr id="21" name="Shape 19"/>
          <p:cNvSpPr/>
          <p:nvPr/>
        </p:nvSpPr>
        <p:spPr>
          <a:xfrm>
            <a:off x="502920" y="3200400"/>
            <a:ext cx="6858000" cy="457200"/>
          </a:xfrm>
          <a:prstGeom prst="rect">
            <a:avLst/>
          </a:prstGeom>
          <a:solidFill>
            <a:srgbClr val="FFFFFF"/>
          </a:solidFill>
          <a:ln w="9525">
            <a:solidFill>
              <a:srgbClr val="D3DBE6"/>
            </a:solidFill>
            <a:prstDash val="solid"/>
          </a:ln>
        </p:spPr>
      </p:sp>
      <p:sp>
        <p:nvSpPr>
          <p:cNvPr id="22" name="Text 20"/>
          <p:cNvSpPr/>
          <p:nvPr/>
        </p:nvSpPr>
        <p:spPr>
          <a:xfrm>
            <a:off x="630936" y="3200400"/>
            <a:ext cx="153619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P4 — Low</a:t>
            </a:r>
            <a:endParaRPr lang="en-US" sz="1050" dirty="0"/>
          </a:p>
        </p:txBody>
      </p:sp>
      <p:sp>
        <p:nvSpPr>
          <p:cNvPr id="23" name="Text 21"/>
          <p:cNvSpPr/>
          <p:nvPr/>
        </p:nvSpPr>
        <p:spPr>
          <a:xfrm>
            <a:off x="2368296" y="3200400"/>
            <a:ext cx="235915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8 hours</a:t>
            </a:r>
            <a:endParaRPr lang="en-US" sz="1050" dirty="0"/>
          </a:p>
        </p:txBody>
      </p:sp>
      <p:sp>
        <p:nvSpPr>
          <p:cNvPr id="24" name="Text 22"/>
          <p:cNvSpPr/>
          <p:nvPr/>
        </p:nvSpPr>
        <p:spPr>
          <a:xfrm>
            <a:off x="4928616" y="3200400"/>
            <a:ext cx="235915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5 business days</a:t>
            </a:r>
            <a:endParaRPr lang="en-US" sz="1050" dirty="0"/>
          </a:p>
        </p:txBody>
      </p:sp>
      <p:sp>
        <p:nvSpPr>
          <p:cNvPr id="25" name="Shape 23"/>
          <p:cNvSpPr/>
          <p:nvPr/>
        </p:nvSpPr>
        <p:spPr>
          <a:xfrm>
            <a:off x="7635240" y="1463040"/>
            <a:ext cx="4050792" cy="2194560"/>
          </a:xfrm>
          <a:prstGeom prst="roundRect">
            <a:avLst>
              <a:gd name="adj" fmla="val 2500"/>
            </a:avLst>
          </a:prstGeom>
          <a:solidFill>
            <a:srgbClr val="FBEEDA"/>
          </a:solidFill>
          <a:ln w="12700">
            <a:solidFill>
              <a:srgbClr val="DFC08A"/>
            </a:solidFill>
            <a:prstDash val="solid"/>
          </a:ln>
          <a:effectLst>
            <a:outerShdw sx="100000" sy="100000" kx="0" ky="0" algn="bl" rotWithShape="0" blurRad="76200" dist="12700" dir="5400000">
              <a:srgbClr val="9AA7BA">
                <a:alpha val="22000"/>
              </a:srgbClr>
            </a:outerShdw>
          </a:effectLst>
        </p:spPr>
      </p:sp>
      <p:sp>
        <p:nvSpPr>
          <p:cNvPr id="26" name="Text 24"/>
          <p:cNvSpPr/>
          <p:nvPr/>
        </p:nvSpPr>
        <p:spPr>
          <a:xfrm>
            <a:off x="7836408" y="1591056"/>
            <a:ext cx="3657600" cy="219456"/>
          </a:xfrm>
          <a:prstGeom prst="rect">
            <a:avLst/>
          </a:prstGeom>
          <a:noFill/>
          <a:ln/>
        </p:spPr>
        <p:txBody>
          <a:bodyPr wrap="square" lIns="0" tIns="0" rIns="0" bIns="0" rtlCol="0" anchor="ctr"/>
          <a:lstStyle/>
          <a:p>
            <a:pPr indent="0" marL="0">
              <a:buNone/>
            </a:pPr>
            <a:r>
              <a:rPr lang="en-US" sz="900" b="1" spc="110" kern="0" dirty="0">
                <a:solidFill>
                  <a:srgbClr val="A86A11"/>
                </a:solidFill>
                <a:latin typeface="Calibri" pitchFamily="34" charset="0"/>
                <a:ea typeface="Calibri" pitchFamily="34" charset="-122"/>
                <a:cs typeface="Calibri" pitchFamily="34" charset="-120"/>
              </a:rPr>
              <a:t>PAUSE CONDITIONS</a:t>
            </a:r>
            <a:endParaRPr lang="en-US" sz="900" dirty="0"/>
          </a:p>
        </p:txBody>
      </p:sp>
      <p:sp>
        <p:nvSpPr>
          <p:cNvPr id="27" name="Text 25"/>
          <p:cNvSpPr/>
          <p:nvPr/>
        </p:nvSpPr>
        <p:spPr>
          <a:xfrm>
            <a:off x="7836408" y="1847088"/>
            <a:ext cx="3657600" cy="457200"/>
          </a:xfrm>
          <a:prstGeom prst="rect">
            <a:avLst/>
          </a:prstGeom>
          <a:noFill/>
          <a:ln/>
        </p:spPr>
        <p:txBody>
          <a:bodyPr wrap="square" lIns="0" tIns="0" rIns="0" bIns="0" rtlCol="0" anchor="ctr"/>
          <a:lstStyle/>
          <a:p>
            <a:pPr indent="0" marL="0">
              <a:lnSpc>
                <a:spcPts val="1700"/>
              </a:lnSpc>
              <a:buNone/>
            </a:pPr>
            <a:r>
              <a:rPr lang="en-US" sz="1250" b="1" dirty="0">
                <a:solidFill>
                  <a:srgbClr val="152A4E"/>
                </a:solidFill>
                <a:latin typeface="Calibri" pitchFamily="34" charset="0"/>
                <a:ea typeface="Calibri" pitchFamily="34" charset="-122"/>
                <a:cs typeface="Calibri" pitchFamily="34" charset="-120"/>
              </a:rPr>
              <a:t>status in (Pending Customer, Pending Vendor)</a:t>
            </a:r>
            <a:endParaRPr lang="en-US" sz="1250" dirty="0"/>
          </a:p>
        </p:txBody>
      </p:sp>
      <p:sp>
        <p:nvSpPr>
          <p:cNvPr id="28" name="Text 26"/>
          <p:cNvSpPr/>
          <p:nvPr/>
        </p:nvSpPr>
        <p:spPr>
          <a:xfrm>
            <a:off x="7836408" y="2340864"/>
            <a:ext cx="3657600" cy="1005840"/>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Getting this right is what makes SLA reports defensible. Without it, every ticket blocked on a user looks like an SLA failure — and leadership stops reading the report.</a:t>
            </a:r>
            <a:endParaRPr lang="en-US" sz="1050" dirty="0"/>
          </a:p>
        </p:txBody>
      </p:sp>
      <p:sp>
        <p:nvSpPr>
          <p:cNvPr id="29" name="Shape 27"/>
          <p:cNvSpPr/>
          <p:nvPr/>
        </p:nvSpPr>
        <p:spPr>
          <a:xfrm>
            <a:off x="7635240" y="3913632"/>
            <a:ext cx="4050792" cy="1298448"/>
          </a:xfrm>
          <a:prstGeom prst="roundRect">
            <a:avLst>
              <a:gd name="adj" fmla="val 4225"/>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30" name="Text 28"/>
          <p:cNvSpPr/>
          <p:nvPr/>
        </p:nvSpPr>
        <p:spPr>
          <a:xfrm>
            <a:off x="7836408" y="4023360"/>
            <a:ext cx="3657600" cy="256032"/>
          </a:xfrm>
          <a:prstGeom prst="rect">
            <a:avLst/>
          </a:prstGeom>
          <a:noFill/>
          <a:ln/>
        </p:spPr>
        <p:txBody>
          <a:bodyPr wrap="square" lIns="0" tIns="0" rIns="0" bIns="0" rtlCol="0" anchor="ctr"/>
          <a:lstStyle/>
          <a:p>
            <a:pPr indent="0" marL="0">
              <a:buNone/>
            </a:pPr>
            <a:r>
              <a:rPr lang="en-US" sz="1200" b="1" dirty="0">
                <a:solidFill>
                  <a:srgbClr val="152A4E"/>
                </a:solidFill>
                <a:latin typeface="Calibri" pitchFamily="34" charset="0"/>
                <a:ea typeface="Calibri" pitchFamily="34" charset="-122"/>
                <a:cs typeface="Calibri" pitchFamily="34" charset="-120"/>
              </a:rPr>
              <a:t>Calendars</a:t>
            </a:r>
            <a:endParaRPr lang="en-US" sz="1200" dirty="0"/>
          </a:p>
        </p:txBody>
      </p:sp>
      <p:sp>
        <p:nvSpPr>
          <p:cNvPr id="31" name="Text 29"/>
          <p:cNvSpPr/>
          <p:nvPr/>
        </p:nvSpPr>
        <p:spPr>
          <a:xfrm>
            <a:off x="7836408" y="4315968"/>
            <a:ext cx="3657600" cy="804672"/>
          </a:xfrm>
          <a:prstGeom prst="rect">
            <a:avLst/>
          </a:prstGeom>
          <a:noFill/>
          <a:ln/>
        </p:spPr>
        <p:txBody>
          <a:bodyPr wrap="square" lIns="0" tIns="0" rIns="0" bIns="0" rtlCol="0" anchor="t"/>
          <a:lstStyle/>
          <a:p>
            <a:pPr marL="342900" indent="-342900">
              <a:lnSpc>
                <a:spcPts val="1350"/>
              </a:lnSpc>
              <a:spcAft>
                <a:spcPts val="200"/>
              </a:spcAft>
              <a:buSzPct val="100000"/>
              <a:buChar char="▪"/>
            </a:pPr>
            <a:r>
              <a:rPr lang="en-US" sz="1050" dirty="0">
                <a:solidFill>
                  <a:srgbClr val="1A1A1A"/>
                </a:solidFill>
                <a:latin typeface="Calibri" pitchFamily="34" charset="0"/>
                <a:ea typeface="Calibri" pitchFamily="34" charset="-122"/>
                <a:cs typeface="Calibri" pitchFamily="34" charset="-120"/>
              </a:rPr>
              <a:t>P1 and P2 on a 24×7 calendar</a:t>
            </a:r>
            <a:endParaRPr lang="en-US" sz="1050" dirty="0"/>
          </a:p>
          <a:p>
            <a:pPr marL="342900" indent="-342900">
              <a:lnSpc>
                <a:spcPts val="1350"/>
              </a:lnSpc>
              <a:spcAft>
                <a:spcPts val="200"/>
              </a:spcAft>
              <a:buSzPct val="100000"/>
              <a:buChar char="▪"/>
            </a:pPr>
            <a:r>
              <a:rPr lang="en-US" sz="1050" dirty="0">
                <a:solidFill>
                  <a:srgbClr val="1A1A1A"/>
                </a:solidFill>
                <a:latin typeface="Calibri" pitchFamily="34" charset="0"/>
                <a:ea typeface="Calibri" pitchFamily="34" charset="-122"/>
                <a:cs typeface="Calibri" pitchFamily="34" charset="-120"/>
              </a:rPr>
              <a:t>P3 and P4 on business hours</a:t>
            </a:r>
            <a:endParaRPr lang="en-US" sz="1050" dirty="0"/>
          </a:p>
          <a:p>
            <a:pPr marL="342900" indent="-342900">
              <a:lnSpc>
                <a:spcPts val="1350"/>
              </a:lnSpc>
              <a:spcAft>
                <a:spcPts val="200"/>
              </a:spcAft>
              <a:buSzPct val="100000"/>
              <a:buChar char="▪"/>
            </a:pPr>
            <a:r>
              <a:rPr lang="en-US" sz="1050" dirty="0">
                <a:solidFill>
                  <a:srgbClr val="1A1A1A"/>
                </a:solidFill>
                <a:latin typeface="Calibri" pitchFamily="34" charset="0"/>
                <a:ea typeface="Calibri" pitchFamily="34" charset="-122"/>
                <a:cs typeface="Calibri" pitchFamily="34" charset="-120"/>
              </a:rPr>
              <a:t>Both to be confirmed against the shift model — see A-8</a:t>
            </a:r>
            <a:endParaRPr lang="en-US" sz="1050" dirty="0"/>
          </a:p>
        </p:txBody>
      </p:sp>
      <p:sp>
        <p:nvSpPr>
          <p:cNvPr id="32" name="Shape 30"/>
          <p:cNvSpPr/>
          <p:nvPr/>
        </p:nvSpPr>
        <p:spPr>
          <a:xfrm>
            <a:off x="502920" y="3913632"/>
            <a:ext cx="6858000" cy="1298448"/>
          </a:xfrm>
          <a:prstGeom prst="roundRect">
            <a:avLst>
              <a:gd name="adj" fmla="val 4225"/>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33" name="Text 31"/>
          <p:cNvSpPr/>
          <p:nvPr/>
        </p:nvSpPr>
        <p:spPr>
          <a:xfrm>
            <a:off x="722376" y="4023360"/>
            <a:ext cx="6400800" cy="256032"/>
          </a:xfrm>
          <a:prstGeom prst="rect">
            <a:avLst/>
          </a:prstGeom>
          <a:noFill/>
          <a:ln/>
        </p:spPr>
        <p:txBody>
          <a:bodyPr wrap="square" lIns="0" tIns="0" rIns="0" bIns="0" rtlCol="0" anchor="ctr"/>
          <a:lstStyle/>
          <a:p>
            <a:pPr indent="0" marL="0">
              <a:buNone/>
            </a:pPr>
            <a:r>
              <a:rPr lang="en-US" sz="1200" b="1" dirty="0">
                <a:solidFill>
                  <a:srgbClr val="152A4E"/>
                </a:solidFill>
                <a:latin typeface="Calibri" pitchFamily="34" charset="0"/>
                <a:ea typeface="Calibri" pitchFamily="34" charset="-122"/>
                <a:cs typeface="Calibri" pitchFamily="34" charset="-120"/>
              </a:rPr>
              <a:t>Requires JSM</a:t>
            </a:r>
            <a:endParaRPr lang="en-US" sz="1200" dirty="0"/>
          </a:p>
        </p:txBody>
      </p:sp>
      <p:sp>
        <p:nvSpPr>
          <p:cNvPr id="34" name="Text 32"/>
          <p:cNvSpPr/>
          <p:nvPr/>
        </p:nvSpPr>
        <p:spPr>
          <a:xfrm>
            <a:off x="722376" y="4315968"/>
            <a:ext cx="6400800" cy="804672"/>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The SLA engine, its pause conditions and its breach clocks are Jira Service Management features. On Jira Software alone these become date fields maintained by automation rules — workable for a demo, brittle for production, and the first thing a sceptical audience will test. See slide 9.</a:t>
            </a:r>
            <a:endParaRPr lang="en-US" sz="1050" dirty="0"/>
          </a:p>
        </p:txBody>
      </p:sp>
      <p:sp>
        <p:nvSpPr>
          <p:cNvPr id="35" name="Shape 33"/>
          <p:cNvSpPr/>
          <p:nvPr/>
        </p:nvSpPr>
        <p:spPr>
          <a:xfrm>
            <a:off x="502920" y="5486400"/>
            <a:ext cx="11183112" cy="640080"/>
          </a:xfrm>
          <a:prstGeom prst="roundRect">
            <a:avLst>
              <a:gd name="adj" fmla="val 8571"/>
            </a:avLst>
          </a:prstGeom>
          <a:solidFill>
            <a:srgbClr val="152A4E"/>
          </a:solidFill>
          <a:ln w="12700">
            <a:solidFill>
              <a:srgbClr val="152A4E"/>
            </a:solidFill>
            <a:prstDash val="solid"/>
          </a:ln>
          <a:effectLst>
            <a:outerShdw sx="100000" sy="100000" kx="0" ky="0" algn="bl" rotWithShape="0" blurRad="76200" dist="12700" dir="5400000">
              <a:srgbClr val="9AA7BA">
                <a:alpha val="22000"/>
              </a:srgbClr>
            </a:outerShdw>
          </a:effectLst>
        </p:spPr>
      </p:sp>
      <p:sp>
        <p:nvSpPr>
          <p:cNvPr id="36" name="Text 34"/>
          <p:cNvSpPr/>
          <p:nvPr/>
        </p:nvSpPr>
        <p:spPr>
          <a:xfrm>
            <a:off x="777240" y="5486400"/>
            <a:ext cx="10607040"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These are design targets to be tuned against real traffic in the two-week pilot — they are not commitments made before any data exists.</a:t>
            </a:r>
            <a:endParaRPr lang="en-US" sz="1150" dirty="0"/>
          </a:p>
        </p:txBody>
      </p:sp>
      <p:sp>
        <p:nvSpPr>
          <p:cNvPr id="37" name="Text 35"/>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§9 SLA targets [JSM]</a:t>
            </a:r>
            <a:endParaRPr lang="en-US" sz="850" dirty="0"/>
          </a:p>
        </p:txBody>
      </p:sp>
      <p:sp>
        <p:nvSpPr>
          <p:cNvPr id="38" name="Text 36"/>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A-4  ·  FIELD SCHEMA</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Ten custom fields carry the whole design, and three of them exist purely to make the escalation gate enforceable and auditable</a:t>
            </a:r>
            <a:endParaRPr lang="en-US" sz="1850" dirty="0"/>
          </a:p>
        </p:txBody>
      </p:sp>
      <p:sp>
        <p:nvSpPr>
          <p:cNvPr id="4" name="Text 2"/>
          <p:cNvSpPr/>
          <p:nvPr/>
        </p:nvSpPr>
        <p:spPr>
          <a:xfrm>
            <a:off x="10222992" y="274320"/>
            <a:ext cx="1463040" cy="219456"/>
          </a:xfrm>
          <a:prstGeom prst="rect">
            <a:avLst/>
          </a:prstGeom>
          <a:noFill/>
          <a:ln/>
        </p:spPr>
        <p:txBody>
          <a:bodyPr wrap="square" lIns="0" tIns="0" rIns="0" bIns="0" rtlCol="0" anchor="ctr"/>
          <a:lstStyle/>
          <a:p>
            <a:pPr algn="r" indent="0" marL="0">
              <a:buNone/>
            </a:pPr>
            <a:r>
              <a:rPr lang="en-US" sz="850" b="1" spc="140" kern="0" dirty="0">
                <a:solidFill>
                  <a:srgbClr val="6B7280"/>
                </a:solidFill>
                <a:latin typeface="Calibri" pitchFamily="34" charset="0"/>
                <a:ea typeface="Calibri" pitchFamily="34" charset="-122"/>
                <a:cs typeface="Calibri" pitchFamily="34" charset="-120"/>
              </a:rPr>
              <a:t>APPENDIX</a:t>
            </a:r>
            <a:endParaRPr lang="en-US" sz="850" dirty="0"/>
          </a:p>
        </p:txBody>
      </p:sp>
      <p:sp>
        <p:nvSpPr>
          <p:cNvPr id="5" name="Shape 3"/>
          <p:cNvSpPr/>
          <p:nvPr/>
        </p:nvSpPr>
        <p:spPr>
          <a:xfrm>
            <a:off x="502920" y="1463040"/>
            <a:ext cx="7863840" cy="365760"/>
          </a:xfrm>
          <a:prstGeom prst="rect">
            <a:avLst/>
          </a:prstGeom>
          <a:solidFill>
            <a:srgbClr val="152A4E"/>
          </a:solidFill>
          <a:ln w="12700">
            <a:solidFill>
              <a:srgbClr val="152A4E"/>
            </a:solidFill>
            <a:prstDash val="solid"/>
          </a:ln>
        </p:spPr>
      </p:sp>
      <p:sp>
        <p:nvSpPr>
          <p:cNvPr id="6" name="Text 4"/>
          <p:cNvSpPr/>
          <p:nvPr/>
        </p:nvSpPr>
        <p:spPr>
          <a:xfrm>
            <a:off x="630936" y="1463040"/>
            <a:ext cx="210312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p>
        </p:txBody>
      </p:sp>
      <p:sp>
        <p:nvSpPr>
          <p:cNvPr id="7" name="Text 5"/>
          <p:cNvSpPr/>
          <p:nvPr/>
        </p:nvSpPr>
        <p:spPr>
          <a:xfrm>
            <a:off x="2916936" y="1463040"/>
            <a:ext cx="118872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Type</a:t>
            </a:r>
            <a:endParaRPr lang="en-US" sz="950" dirty="0"/>
          </a:p>
        </p:txBody>
      </p:sp>
      <p:sp>
        <p:nvSpPr>
          <p:cNvPr id="8" name="Text 6"/>
          <p:cNvSpPr/>
          <p:nvPr/>
        </p:nvSpPr>
        <p:spPr>
          <a:xfrm>
            <a:off x="4288536" y="1463040"/>
            <a:ext cx="402336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Notes</a:t>
            </a:r>
            <a:endParaRPr lang="en-US" sz="950" dirty="0"/>
          </a:p>
        </p:txBody>
      </p:sp>
      <p:sp>
        <p:nvSpPr>
          <p:cNvPr id="9" name="Shape 7"/>
          <p:cNvSpPr/>
          <p:nvPr/>
        </p:nvSpPr>
        <p:spPr>
          <a:xfrm>
            <a:off x="502920" y="1828800"/>
            <a:ext cx="7863840" cy="402336"/>
          </a:xfrm>
          <a:prstGeom prst="rect">
            <a:avLst/>
          </a:prstGeom>
          <a:solidFill>
            <a:srgbClr val="F2F5F9"/>
          </a:solidFill>
          <a:ln w="9525">
            <a:solidFill>
              <a:srgbClr val="D3DBE6"/>
            </a:solidFill>
            <a:prstDash val="solid"/>
          </a:ln>
        </p:spPr>
      </p:sp>
      <p:sp>
        <p:nvSpPr>
          <p:cNvPr id="10" name="Text 8"/>
          <p:cNvSpPr/>
          <p:nvPr/>
        </p:nvSpPr>
        <p:spPr>
          <a:xfrm>
            <a:off x="630936" y="1828800"/>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Tower</a:t>
            </a:r>
            <a:endParaRPr lang="en-US" sz="1000" dirty="0"/>
          </a:p>
        </p:txBody>
      </p:sp>
      <p:sp>
        <p:nvSpPr>
          <p:cNvPr id="11" name="Text 9"/>
          <p:cNvSpPr/>
          <p:nvPr/>
        </p:nvSpPr>
        <p:spPr>
          <a:xfrm>
            <a:off x="2916936" y="1828800"/>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Select</a:t>
            </a:r>
            <a:endParaRPr lang="en-US" sz="1000" dirty="0"/>
          </a:p>
        </p:txBody>
      </p:sp>
      <p:sp>
        <p:nvSpPr>
          <p:cNvPr id="12" name="Text 10"/>
          <p:cNvSpPr/>
          <p:nvPr/>
        </p:nvSpPr>
        <p:spPr>
          <a:xfrm>
            <a:off x="4288536" y="1828800"/>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Drives routing and queues</a:t>
            </a:r>
            <a:endParaRPr lang="en-US" sz="1000" dirty="0"/>
          </a:p>
        </p:txBody>
      </p:sp>
      <p:sp>
        <p:nvSpPr>
          <p:cNvPr id="13" name="Shape 11"/>
          <p:cNvSpPr/>
          <p:nvPr/>
        </p:nvSpPr>
        <p:spPr>
          <a:xfrm>
            <a:off x="502920" y="2231136"/>
            <a:ext cx="7863840" cy="402336"/>
          </a:xfrm>
          <a:prstGeom prst="rect">
            <a:avLst/>
          </a:prstGeom>
          <a:solidFill>
            <a:srgbClr val="FFFFFF"/>
          </a:solidFill>
          <a:ln w="9525">
            <a:solidFill>
              <a:srgbClr val="D3DBE6"/>
            </a:solidFill>
            <a:prstDash val="solid"/>
          </a:ln>
        </p:spPr>
      </p:sp>
      <p:sp>
        <p:nvSpPr>
          <p:cNvPr id="14" name="Text 12"/>
          <p:cNvSpPr/>
          <p:nvPr/>
        </p:nvSpPr>
        <p:spPr>
          <a:xfrm>
            <a:off x="630936" y="2231136"/>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Support Tier</a:t>
            </a:r>
            <a:endParaRPr lang="en-US" sz="1000" dirty="0"/>
          </a:p>
        </p:txBody>
      </p:sp>
      <p:sp>
        <p:nvSpPr>
          <p:cNvPr id="15" name="Text 13"/>
          <p:cNvSpPr/>
          <p:nvPr/>
        </p:nvSpPr>
        <p:spPr>
          <a:xfrm>
            <a:off x="2916936" y="2231136"/>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Select</a:t>
            </a:r>
            <a:endParaRPr lang="en-US" sz="1000" dirty="0"/>
          </a:p>
        </p:txBody>
      </p:sp>
      <p:sp>
        <p:nvSpPr>
          <p:cNvPr id="16" name="Text 14"/>
          <p:cNvSpPr/>
          <p:nvPr/>
        </p:nvSpPr>
        <p:spPr>
          <a:xfrm>
            <a:off x="4288536" y="2231136"/>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L1 / L2 / L3-Vendor — set by workflow, read-only to agents</a:t>
            </a:r>
            <a:endParaRPr lang="en-US" sz="1000" dirty="0"/>
          </a:p>
        </p:txBody>
      </p:sp>
      <p:sp>
        <p:nvSpPr>
          <p:cNvPr id="17" name="Shape 15"/>
          <p:cNvSpPr/>
          <p:nvPr/>
        </p:nvSpPr>
        <p:spPr>
          <a:xfrm>
            <a:off x="502920" y="2633472"/>
            <a:ext cx="7863840" cy="402336"/>
          </a:xfrm>
          <a:prstGeom prst="rect">
            <a:avLst/>
          </a:prstGeom>
          <a:solidFill>
            <a:srgbClr val="F2F5F9"/>
          </a:solidFill>
          <a:ln w="9525">
            <a:solidFill>
              <a:srgbClr val="D3DBE6"/>
            </a:solidFill>
            <a:prstDash val="solid"/>
          </a:ln>
        </p:spPr>
      </p:sp>
      <p:sp>
        <p:nvSpPr>
          <p:cNvPr id="18" name="Text 16"/>
          <p:cNvSpPr/>
          <p:nvPr/>
        </p:nvSpPr>
        <p:spPr>
          <a:xfrm>
            <a:off x="630936" y="2633472"/>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Impact</a:t>
            </a:r>
            <a:endParaRPr lang="en-US" sz="1000" dirty="0"/>
          </a:p>
        </p:txBody>
      </p:sp>
      <p:sp>
        <p:nvSpPr>
          <p:cNvPr id="19" name="Text 17"/>
          <p:cNvSpPr/>
          <p:nvPr/>
        </p:nvSpPr>
        <p:spPr>
          <a:xfrm>
            <a:off x="2916936" y="2633472"/>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Select</a:t>
            </a:r>
            <a:endParaRPr lang="en-US" sz="1000" dirty="0"/>
          </a:p>
        </p:txBody>
      </p:sp>
      <p:sp>
        <p:nvSpPr>
          <p:cNvPr id="20" name="Text 18"/>
          <p:cNvSpPr/>
          <p:nvPr/>
        </p:nvSpPr>
        <p:spPr>
          <a:xfrm>
            <a:off x="4288536" y="2633472"/>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High / Medium / Low</a:t>
            </a:r>
            <a:endParaRPr lang="en-US" sz="1000" dirty="0"/>
          </a:p>
        </p:txBody>
      </p:sp>
      <p:sp>
        <p:nvSpPr>
          <p:cNvPr id="21" name="Shape 19"/>
          <p:cNvSpPr/>
          <p:nvPr/>
        </p:nvSpPr>
        <p:spPr>
          <a:xfrm>
            <a:off x="502920" y="3035808"/>
            <a:ext cx="7863840" cy="402336"/>
          </a:xfrm>
          <a:prstGeom prst="rect">
            <a:avLst/>
          </a:prstGeom>
          <a:solidFill>
            <a:srgbClr val="FFFFFF"/>
          </a:solidFill>
          <a:ln w="9525">
            <a:solidFill>
              <a:srgbClr val="D3DBE6"/>
            </a:solidFill>
            <a:prstDash val="solid"/>
          </a:ln>
        </p:spPr>
      </p:sp>
      <p:sp>
        <p:nvSpPr>
          <p:cNvPr id="22" name="Text 20"/>
          <p:cNvSpPr/>
          <p:nvPr/>
        </p:nvSpPr>
        <p:spPr>
          <a:xfrm>
            <a:off x="630936" y="3035808"/>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Urgency</a:t>
            </a:r>
            <a:endParaRPr lang="en-US" sz="1000" dirty="0"/>
          </a:p>
        </p:txBody>
      </p:sp>
      <p:sp>
        <p:nvSpPr>
          <p:cNvPr id="23" name="Text 21"/>
          <p:cNvSpPr/>
          <p:nvPr/>
        </p:nvSpPr>
        <p:spPr>
          <a:xfrm>
            <a:off x="2916936" y="3035808"/>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Select</a:t>
            </a:r>
            <a:endParaRPr lang="en-US" sz="1000" dirty="0"/>
          </a:p>
        </p:txBody>
      </p:sp>
      <p:sp>
        <p:nvSpPr>
          <p:cNvPr id="24" name="Text 22"/>
          <p:cNvSpPr/>
          <p:nvPr/>
        </p:nvSpPr>
        <p:spPr>
          <a:xfrm>
            <a:off x="4288536" y="3035808"/>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High / Medium / Low</a:t>
            </a:r>
            <a:endParaRPr lang="en-US" sz="1000" dirty="0"/>
          </a:p>
        </p:txBody>
      </p:sp>
      <p:sp>
        <p:nvSpPr>
          <p:cNvPr id="25" name="Shape 23"/>
          <p:cNvSpPr/>
          <p:nvPr/>
        </p:nvSpPr>
        <p:spPr>
          <a:xfrm>
            <a:off x="502920" y="3438144"/>
            <a:ext cx="7863840" cy="402336"/>
          </a:xfrm>
          <a:prstGeom prst="rect">
            <a:avLst/>
          </a:prstGeom>
          <a:solidFill>
            <a:srgbClr val="F2F5F9"/>
          </a:solidFill>
          <a:ln w="9525">
            <a:solidFill>
              <a:srgbClr val="D3DBE6"/>
            </a:solidFill>
            <a:prstDash val="solid"/>
          </a:ln>
        </p:spPr>
      </p:sp>
      <p:sp>
        <p:nvSpPr>
          <p:cNvPr id="26" name="Text 24"/>
          <p:cNvSpPr/>
          <p:nvPr/>
        </p:nvSpPr>
        <p:spPr>
          <a:xfrm>
            <a:off x="630936" y="3438144"/>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Priority</a:t>
            </a:r>
            <a:endParaRPr lang="en-US" sz="1000" dirty="0"/>
          </a:p>
        </p:txBody>
      </p:sp>
      <p:sp>
        <p:nvSpPr>
          <p:cNvPr id="27" name="Text 25"/>
          <p:cNvSpPr/>
          <p:nvPr/>
        </p:nvSpPr>
        <p:spPr>
          <a:xfrm>
            <a:off x="2916936" y="3438144"/>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Select</a:t>
            </a:r>
            <a:endParaRPr lang="en-US" sz="1000" dirty="0"/>
          </a:p>
        </p:txBody>
      </p:sp>
      <p:sp>
        <p:nvSpPr>
          <p:cNvPr id="28" name="Text 26"/>
          <p:cNvSpPr/>
          <p:nvPr/>
        </p:nvSpPr>
        <p:spPr>
          <a:xfrm>
            <a:off x="4288536" y="3438144"/>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Derived from Impact × Urgency by automation — see A-2</a:t>
            </a:r>
            <a:endParaRPr lang="en-US" sz="1000" dirty="0"/>
          </a:p>
        </p:txBody>
      </p:sp>
      <p:sp>
        <p:nvSpPr>
          <p:cNvPr id="29" name="Shape 27"/>
          <p:cNvSpPr/>
          <p:nvPr/>
        </p:nvSpPr>
        <p:spPr>
          <a:xfrm>
            <a:off x="502920" y="3840480"/>
            <a:ext cx="7863840" cy="402336"/>
          </a:xfrm>
          <a:prstGeom prst="rect">
            <a:avLst/>
          </a:prstGeom>
          <a:solidFill>
            <a:srgbClr val="FFFFFF"/>
          </a:solidFill>
          <a:ln w="9525">
            <a:solidFill>
              <a:srgbClr val="D3DBE6"/>
            </a:solidFill>
            <a:prstDash val="solid"/>
          </a:ln>
        </p:spPr>
      </p:sp>
      <p:sp>
        <p:nvSpPr>
          <p:cNvPr id="30" name="Text 28"/>
          <p:cNvSpPr/>
          <p:nvPr/>
        </p:nvSpPr>
        <p:spPr>
          <a:xfrm>
            <a:off x="630936" y="3840480"/>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Escalation Reason</a:t>
            </a:r>
            <a:endParaRPr lang="en-US" sz="1000" dirty="0"/>
          </a:p>
        </p:txBody>
      </p:sp>
      <p:sp>
        <p:nvSpPr>
          <p:cNvPr id="31" name="Text 29"/>
          <p:cNvSpPr/>
          <p:nvPr/>
        </p:nvSpPr>
        <p:spPr>
          <a:xfrm>
            <a:off x="2916936" y="3840480"/>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Select</a:t>
            </a:r>
            <a:endParaRPr lang="en-US" sz="1000" dirty="0"/>
          </a:p>
        </p:txBody>
      </p:sp>
      <p:sp>
        <p:nvSpPr>
          <p:cNvPr id="32" name="Text 30"/>
          <p:cNvSpPr/>
          <p:nvPr/>
        </p:nvSpPr>
        <p:spPr>
          <a:xfrm>
            <a:off x="4288536" y="3840480"/>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Required at escalation</a:t>
            </a:r>
            <a:endParaRPr lang="en-US" sz="1000" dirty="0"/>
          </a:p>
        </p:txBody>
      </p:sp>
      <p:sp>
        <p:nvSpPr>
          <p:cNvPr id="33" name="Shape 31"/>
          <p:cNvSpPr/>
          <p:nvPr/>
        </p:nvSpPr>
        <p:spPr>
          <a:xfrm>
            <a:off x="502920" y="4242816"/>
            <a:ext cx="7863840" cy="402336"/>
          </a:xfrm>
          <a:prstGeom prst="rect">
            <a:avLst/>
          </a:prstGeom>
          <a:solidFill>
            <a:srgbClr val="F2F5F9"/>
          </a:solidFill>
          <a:ln w="9525">
            <a:solidFill>
              <a:srgbClr val="D3DBE6"/>
            </a:solidFill>
            <a:prstDash val="solid"/>
          </a:ln>
        </p:spPr>
      </p:sp>
      <p:sp>
        <p:nvSpPr>
          <p:cNvPr id="34" name="Text 32"/>
          <p:cNvSpPr/>
          <p:nvPr/>
        </p:nvSpPr>
        <p:spPr>
          <a:xfrm>
            <a:off x="630936" y="4242816"/>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Troubleshooting Performed</a:t>
            </a:r>
            <a:endParaRPr lang="en-US" sz="1000" dirty="0"/>
          </a:p>
        </p:txBody>
      </p:sp>
      <p:sp>
        <p:nvSpPr>
          <p:cNvPr id="35" name="Text 33"/>
          <p:cNvSpPr/>
          <p:nvPr/>
        </p:nvSpPr>
        <p:spPr>
          <a:xfrm>
            <a:off x="2916936" y="4242816"/>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Paragraph</a:t>
            </a:r>
            <a:endParaRPr lang="en-US" sz="1000" dirty="0"/>
          </a:p>
        </p:txBody>
      </p:sp>
      <p:sp>
        <p:nvSpPr>
          <p:cNvPr id="36" name="Text 34"/>
          <p:cNvSpPr/>
          <p:nvPr/>
        </p:nvSpPr>
        <p:spPr>
          <a:xfrm>
            <a:off x="4288536" y="4242816"/>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Required at escalation, minimum length enforced</a:t>
            </a:r>
            <a:endParaRPr lang="en-US" sz="1000" dirty="0"/>
          </a:p>
        </p:txBody>
      </p:sp>
      <p:sp>
        <p:nvSpPr>
          <p:cNvPr id="37" name="Shape 35"/>
          <p:cNvSpPr/>
          <p:nvPr/>
        </p:nvSpPr>
        <p:spPr>
          <a:xfrm>
            <a:off x="502920" y="4645152"/>
            <a:ext cx="7863840" cy="402336"/>
          </a:xfrm>
          <a:prstGeom prst="rect">
            <a:avLst/>
          </a:prstGeom>
          <a:solidFill>
            <a:srgbClr val="FFFFFF"/>
          </a:solidFill>
          <a:ln w="9525">
            <a:solidFill>
              <a:srgbClr val="D3DBE6"/>
            </a:solidFill>
            <a:prstDash val="solid"/>
          </a:ln>
        </p:spPr>
      </p:sp>
      <p:sp>
        <p:nvSpPr>
          <p:cNvPr id="38" name="Text 36"/>
          <p:cNvSpPr/>
          <p:nvPr/>
        </p:nvSpPr>
        <p:spPr>
          <a:xfrm>
            <a:off x="630936" y="4645152"/>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Affected Service / CI</a:t>
            </a:r>
            <a:endParaRPr lang="en-US" sz="1000" dirty="0"/>
          </a:p>
        </p:txBody>
      </p:sp>
      <p:sp>
        <p:nvSpPr>
          <p:cNvPr id="39" name="Text 37"/>
          <p:cNvSpPr/>
          <p:nvPr/>
        </p:nvSpPr>
        <p:spPr>
          <a:xfrm>
            <a:off x="2916936" y="4645152"/>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Select or text</a:t>
            </a:r>
            <a:endParaRPr lang="en-US" sz="1000" dirty="0"/>
          </a:p>
        </p:txBody>
      </p:sp>
      <p:sp>
        <p:nvSpPr>
          <p:cNvPr id="40" name="Text 38"/>
          <p:cNvSpPr/>
          <p:nvPr/>
        </p:nvSpPr>
        <p:spPr>
          <a:xfrm>
            <a:off x="4288536" y="4645152"/>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Ties the ticket to the service catalogue</a:t>
            </a:r>
            <a:endParaRPr lang="en-US" sz="1000" dirty="0"/>
          </a:p>
        </p:txBody>
      </p:sp>
      <p:sp>
        <p:nvSpPr>
          <p:cNvPr id="41" name="Shape 39"/>
          <p:cNvSpPr/>
          <p:nvPr/>
        </p:nvSpPr>
        <p:spPr>
          <a:xfrm>
            <a:off x="502920" y="5047488"/>
            <a:ext cx="7863840" cy="402336"/>
          </a:xfrm>
          <a:prstGeom prst="rect">
            <a:avLst/>
          </a:prstGeom>
          <a:solidFill>
            <a:srgbClr val="F2F5F9"/>
          </a:solidFill>
          <a:ln w="9525">
            <a:solidFill>
              <a:srgbClr val="D3DBE6"/>
            </a:solidFill>
            <a:prstDash val="solid"/>
          </a:ln>
        </p:spPr>
      </p:sp>
      <p:sp>
        <p:nvSpPr>
          <p:cNvPr id="42" name="Text 40"/>
          <p:cNvSpPr/>
          <p:nvPr/>
        </p:nvSpPr>
        <p:spPr>
          <a:xfrm>
            <a:off x="630936" y="5047488"/>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Root Cause</a:t>
            </a:r>
            <a:endParaRPr lang="en-US" sz="1000" dirty="0"/>
          </a:p>
        </p:txBody>
      </p:sp>
      <p:sp>
        <p:nvSpPr>
          <p:cNvPr id="43" name="Text 41"/>
          <p:cNvSpPr/>
          <p:nvPr/>
        </p:nvSpPr>
        <p:spPr>
          <a:xfrm>
            <a:off x="2916936" y="5047488"/>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Select</a:t>
            </a:r>
            <a:endParaRPr lang="en-US" sz="1000" dirty="0"/>
          </a:p>
        </p:txBody>
      </p:sp>
      <p:sp>
        <p:nvSpPr>
          <p:cNvPr id="44" name="Text 42"/>
          <p:cNvSpPr/>
          <p:nvPr/>
        </p:nvSpPr>
        <p:spPr>
          <a:xfrm>
            <a:off x="4288536" y="5047488"/>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Set at resolution; L1 cannot set it</a:t>
            </a:r>
            <a:endParaRPr lang="en-US" sz="1000" dirty="0"/>
          </a:p>
        </p:txBody>
      </p:sp>
      <p:sp>
        <p:nvSpPr>
          <p:cNvPr id="45" name="Shape 43"/>
          <p:cNvSpPr/>
          <p:nvPr/>
        </p:nvSpPr>
        <p:spPr>
          <a:xfrm>
            <a:off x="502920" y="5449824"/>
            <a:ext cx="7863840" cy="402336"/>
          </a:xfrm>
          <a:prstGeom prst="rect">
            <a:avLst/>
          </a:prstGeom>
          <a:solidFill>
            <a:srgbClr val="FFFFFF"/>
          </a:solidFill>
          <a:ln w="9525">
            <a:solidFill>
              <a:srgbClr val="D3DBE6"/>
            </a:solidFill>
            <a:prstDash val="solid"/>
          </a:ln>
        </p:spPr>
      </p:sp>
      <p:sp>
        <p:nvSpPr>
          <p:cNvPr id="46" name="Text 44"/>
          <p:cNvSpPr/>
          <p:nvPr/>
        </p:nvSpPr>
        <p:spPr>
          <a:xfrm>
            <a:off x="630936" y="5449824"/>
            <a:ext cx="2084832" cy="402336"/>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Resolution Code</a:t>
            </a:r>
            <a:endParaRPr lang="en-US" sz="1000" dirty="0"/>
          </a:p>
        </p:txBody>
      </p:sp>
      <p:sp>
        <p:nvSpPr>
          <p:cNvPr id="47" name="Text 45"/>
          <p:cNvSpPr/>
          <p:nvPr/>
        </p:nvSpPr>
        <p:spPr>
          <a:xfrm>
            <a:off x="2916936" y="5449824"/>
            <a:ext cx="117043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Select</a:t>
            </a:r>
            <a:endParaRPr lang="en-US" sz="1000" dirty="0"/>
          </a:p>
        </p:txBody>
      </p:sp>
      <p:sp>
        <p:nvSpPr>
          <p:cNvPr id="48" name="Text 46"/>
          <p:cNvSpPr/>
          <p:nvPr/>
        </p:nvSpPr>
        <p:spPr>
          <a:xfrm>
            <a:off x="4288536" y="5449824"/>
            <a:ext cx="4005072" cy="402336"/>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Fixed / Workaround / No Fault Found / Duplicate / Withdrawn</a:t>
            </a:r>
            <a:endParaRPr lang="en-US" sz="1000" dirty="0"/>
          </a:p>
        </p:txBody>
      </p:sp>
      <p:sp>
        <p:nvSpPr>
          <p:cNvPr id="49" name="Shape 47"/>
          <p:cNvSpPr/>
          <p:nvPr/>
        </p:nvSpPr>
        <p:spPr>
          <a:xfrm>
            <a:off x="8595360" y="1463040"/>
            <a:ext cx="3090672" cy="2148840"/>
          </a:xfrm>
          <a:prstGeom prst="roundRect">
            <a:avLst>
              <a:gd name="adj" fmla="val 2553"/>
            </a:avLst>
          </a:prstGeom>
          <a:solidFill>
            <a:srgbClr val="D9EAE9"/>
          </a:solidFill>
          <a:ln w="12700">
            <a:solidFill>
              <a:srgbClr val="A9CFCD"/>
            </a:solidFill>
            <a:prstDash val="solid"/>
          </a:ln>
          <a:effectLst>
            <a:outerShdw sx="100000" sy="100000" kx="0" ky="0" algn="bl" rotWithShape="0" blurRad="76200" dist="12700" dir="5400000">
              <a:srgbClr val="9AA7BA">
                <a:alpha val="22000"/>
              </a:srgbClr>
            </a:outerShdw>
          </a:effectLst>
        </p:spPr>
      </p:sp>
      <p:sp>
        <p:nvSpPr>
          <p:cNvPr id="50" name="Text 48"/>
          <p:cNvSpPr/>
          <p:nvPr/>
        </p:nvSpPr>
        <p:spPr>
          <a:xfrm>
            <a:off x="8796528" y="1591056"/>
            <a:ext cx="2743200" cy="219456"/>
          </a:xfrm>
          <a:prstGeom prst="rect">
            <a:avLst/>
          </a:prstGeom>
          <a:noFill/>
          <a:ln/>
        </p:spPr>
        <p:txBody>
          <a:bodyPr wrap="square" lIns="0" tIns="0" rIns="0" bIns="0" rtlCol="0" anchor="ctr"/>
          <a:lstStyle/>
          <a:p>
            <a:pPr indent="0" marL="0">
              <a:buNone/>
            </a:pPr>
            <a:r>
              <a:rPr lang="en-US" sz="900" b="1" spc="110" kern="0" dirty="0">
                <a:solidFill>
                  <a:srgbClr val="0E7C7B"/>
                </a:solidFill>
                <a:latin typeface="Calibri" pitchFamily="34" charset="0"/>
                <a:ea typeface="Calibri" pitchFamily="34" charset="-122"/>
                <a:cs typeface="Calibri" pitchFamily="34" charset="-120"/>
              </a:rPr>
              <a:t>THE GATE FIELDS</a:t>
            </a:r>
            <a:endParaRPr lang="en-US" sz="900" dirty="0"/>
          </a:p>
        </p:txBody>
      </p:sp>
      <p:sp>
        <p:nvSpPr>
          <p:cNvPr id="51" name="Text 49"/>
          <p:cNvSpPr/>
          <p:nvPr/>
        </p:nvSpPr>
        <p:spPr>
          <a:xfrm>
            <a:off x="8796528" y="1847088"/>
            <a:ext cx="2743200" cy="914400"/>
          </a:xfrm>
          <a:prstGeom prst="rect">
            <a:avLst/>
          </a:prstGeom>
          <a:noFill/>
          <a:ln/>
        </p:spPr>
        <p:txBody>
          <a:bodyPr wrap="square" lIns="0" tIns="0" rIns="0" bIns="0" rtlCol="0" anchor="t"/>
          <a:lstStyle/>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Escalation Reason</a:t>
            </a:r>
            <a:endParaRPr lang="en-US" sz="1050" dirty="0"/>
          </a:p>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Troubleshooting Performed</a:t>
            </a:r>
            <a:endParaRPr lang="en-US" sz="1050" dirty="0"/>
          </a:p>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KB Article Checked</a:t>
            </a:r>
            <a:endParaRPr lang="en-US" sz="1050" dirty="0"/>
          </a:p>
        </p:txBody>
      </p:sp>
      <p:sp>
        <p:nvSpPr>
          <p:cNvPr id="52" name="Text 50"/>
          <p:cNvSpPr/>
          <p:nvPr/>
        </p:nvSpPr>
        <p:spPr>
          <a:xfrm>
            <a:off x="8796528" y="2798064"/>
            <a:ext cx="2743200" cy="731520"/>
          </a:xfrm>
          <a:prstGeom prst="rect">
            <a:avLst/>
          </a:prstGeom>
          <a:noFill/>
          <a:ln/>
        </p:spPr>
        <p:txBody>
          <a:bodyPr wrap="square" lIns="0" tIns="0" rIns="0" bIns="0" rtlCol="0" anchor="ctr"/>
          <a:lstStyle/>
          <a:p>
            <a:pPr indent="0" marL="0">
              <a:lnSpc>
                <a:spcPts val="1250"/>
              </a:lnSpc>
              <a:buNone/>
            </a:pPr>
            <a:r>
              <a:rPr lang="en-US" sz="950" dirty="0">
                <a:solidFill>
                  <a:srgbClr val="1A1A1A"/>
                </a:solidFill>
                <a:latin typeface="Calibri" pitchFamily="34" charset="0"/>
                <a:ea typeface="Calibri" pitchFamily="34" charset="-122"/>
                <a:cs typeface="Calibri" pitchFamily="34" charset="-120"/>
              </a:rPr>
              <a:t>These three are the validator's required set. They exist to be enforced, and they are the raw material for escalation-rate analysis.</a:t>
            </a:r>
            <a:endParaRPr lang="en-US" sz="950" dirty="0"/>
          </a:p>
        </p:txBody>
      </p:sp>
      <p:sp>
        <p:nvSpPr>
          <p:cNvPr id="53" name="Shape 51"/>
          <p:cNvSpPr/>
          <p:nvPr/>
        </p:nvSpPr>
        <p:spPr>
          <a:xfrm>
            <a:off x="8595360" y="3749040"/>
            <a:ext cx="3090672" cy="1828800"/>
          </a:xfrm>
          <a:prstGeom prst="roundRect">
            <a:avLst>
              <a:gd name="adj" fmla="val 300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54" name="Text 52"/>
          <p:cNvSpPr/>
          <p:nvPr/>
        </p:nvSpPr>
        <p:spPr>
          <a:xfrm>
            <a:off x="8796528" y="3867912"/>
            <a:ext cx="2743200" cy="256032"/>
          </a:xfrm>
          <a:prstGeom prst="rect">
            <a:avLst/>
          </a:prstGeom>
          <a:noFill/>
          <a:ln/>
        </p:spPr>
        <p:txBody>
          <a:bodyPr wrap="square" lIns="0" tIns="0" rIns="0" bIns="0" rtlCol="0" anchor="ctr"/>
          <a:lstStyle/>
          <a:p>
            <a:pPr indent="0" marL="0">
              <a:buNone/>
            </a:pPr>
            <a:r>
              <a:rPr lang="en-US" sz="1150" b="1" dirty="0">
                <a:solidFill>
                  <a:srgbClr val="152A4E"/>
                </a:solidFill>
                <a:latin typeface="Calibri" pitchFamily="34" charset="0"/>
                <a:ea typeface="Calibri" pitchFamily="34" charset="-122"/>
                <a:cs typeface="Calibri" pitchFamily="34" charset="-120"/>
              </a:rPr>
              <a:t>Field contexts</a:t>
            </a:r>
            <a:endParaRPr lang="en-US" sz="1150" dirty="0"/>
          </a:p>
        </p:txBody>
      </p:sp>
      <p:sp>
        <p:nvSpPr>
          <p:cNvPr id="55" name="Text 53"/>
          <p:cNvSpPr/>
          <p:nvPr/>
        </p:nvSpPr>
        <p:spPr>
          <a:xfrm>
            <a:off x="8796528" y="4160520"/>
            <a:ext cx="2743200" cy="1280160"/>
          </a:xfrm>
          <a:prstGeom prst="rect">
            <a:avLst/>
          </a:prstGeom>
          <a:noFill/>
          <a:ln/>
        </p:spPr>
        <p:txBody>
          <a:bodyPr wrap="square" lIns="0" tIns="0" rIns="0" bIns="0" rtlCol="0" anchor="ctr"/>
          <a:lstStyle/>
          <a:p>
            <a:pPr indent="0" marL="0">
              <a:lnSpc>
                <a:spcPts val="1250"/>
              </a:lnSpc>
              <a:buNone/>
            </a:pPr>
            <a:r>
              <a:rPr lang="en-US" sz="950" dirty="0">
                <a:solidFill>
                  <a:srgbClr val="1A1A1A"/>
                </a:solidFill>
                <a:latin typeface="Calibri" pitchFamily="34" charset="0"/>
                <a:ea typeface="Calibri" pitchFamily="34" charset="-122"/>
                <a:cs typeface="Calibri" pitchFamily="34" charset="-120"/>
              </a:rPr>
              <a:t>All ten are company-wide custom fields with a single context, so Tower and Support Tier mean the same thing in every report. Screens are split by transition: the escalation screen shows only the gate fields, keeping the create screen short.</a:t>
            </a:r>
            <a:endParaRPr lang="en-US" sz="950" dirty="0"/>
          </a:p>
        </p:txBody>
      </p:sp>
      <p:sp>
        <p:nvSpPr>
          <p:cNvPr id="56" name="Text 54"/>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§8 fields; §7 escalation gate</a:t>
            </a:r>
            <a:endParaRPr lang="en-US" sz="850" dirty="0"/>
          </a:p>
        </p:txBody>
      </p:sp>
      <p:sp>
        <p:nvSpPr>
          <p:cNvPr id="57" name="Text 55"/>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A-5  ·  ISSUE TYPES AND TOWERS</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Four issue types and eight proposed towers keep workflow, screen and report maintenance bounded — every extra type multiplies all three</a:t>
            </a:r>
            <a:endParaRPr lang="en-US" sz="1850" dirty="0"/>
          </a:p>
        </p:txBody>
      </p:sp>
      <p:sp>
        <p:nvSpPr>
          <p:cNvPr id="4" name="Text 2"/>
          <p:cNvSpPr/>
          <p:nvPr/>
        </p:nvSpPr>
        <p:spPr>
          <a:xfrm>
            <a:off x="10222992" y="274320"/>
            <a:ext cx="1463040" cy="219456"/>
          </a:xfrm>
          <a:prstGeom prst="rect">
            <a:avLst/>
          </a:prstGeom>
          <a:noFill/>
          <a:ln/>
        </p:spPr>
        <p:txBody>
          <a:bodyPr wrap="square" lIns="0" tIns="0" rIns="0" bIns="0" rtlCol="0" anchor="ctr"/>
          <a:lstStyle/>
          <a:p>
            <a:pPr algn="r" indent="0" marL="0">
              <a:buNone/>
            </a:pPr>
            <a:r>
              <a:rPr lang="en-US" sz="850" b="1" spc="140" kern="0" dirty="0">
                <a:solidFill>
                  <a:srgbClr val="6B7280"/>
                </a:solidFill>
                <a:latin typeface="Calibri" pitchFamily="34" charset="0"/>
                <a:ea typeface="Calibri" pitchFamily="34" charset="-122"/>
                <a:cs typeface="Calibri" pitchFamily="34" charset="-120"/>
              </a:rPr>
              <a:t>APPENDIX</a:t>
            </a:r>
            <a:endParaRPr lang="en-US" sz="850" dirty="0"/>
          </a:p>
        </p:txBody>
      </p:sp>
      <p:sp>
        <p:nvSpPr>
          <p:cNvPr id="5" name="Shape 3"/>
          <p:cNvSpPr/>
          <p:nvPr/>
        </p:nvSpPr>
        <p:spPr>
          <a:xfrm>
            <a:off x="502920" y="1463040"/>
            <a:ext cx="6675120" cy="365760"/>
          </a:xfrm>
          <a:prstGeom prst="rect">
            <a:avLst/>
          </a:prstGeom>
          <a:solidFill>
            <a:srgbClr val="152A4E"/>
          </a:solidFill>
          <a:ln w="12700">
            <a:solidFill>
              <a:srgbClr val="152A4E"/>
            </a:solidFill>
            <a:prstDash val="solid"/>
          </a:ln>
        </p:spPr>
      </p:sp>
      <p:sp>
        <p:nvSpPr>
          <p:cNvPr id="6" name="Text 4"/>
          <p:cNvSpPr/>
          <p:nvPr/>
        </p:nvSpPr>
        <p:spPr>
          <a:xfrm>
            <a:off x="630936" y="1463040"/>
            <a:ext cx="155448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Issue type</a:t>
            </a:r>
            <a:endParaRPr lang="en-US" sz="950" dirty="0"/>
          </a:p>
        </p:txBody>
      </p:sp>
      <p:sp>
        <p:nvSpPr>
          <p:cNvPr id="7" name="Text 5"/>
          <p:cNvSpPr/>
          <p:nvPr/>
        </p:nvSpPr>
        <p:spPr>
          <a:xfrm>
            <a:off x="2368296" y="1463040"/>
            <a:ext cx="301752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Purpose</a:t>
            </a:r>
            <a:endParaRPr lang="en-US" sz="950" dirty="0"/>
          </a:p>
        </p:txBody>
      </p:sp>
      <p:sp>
        <p:nvSpPr>
          <p:cNvPr id="8" name="Text 6"/>
          <p:cNvSpPr/>
          <p:nvPr/>
        </p:nvSpPr>
        <p:spPr>
          <a:xfrm>
            <a:off x="5568696" y="1463040"/>
            <a:ext cx="155448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SLA-bearing</a:t>
            </a:r>
            <a:endParaRPr lang="en-US" sz="950" dirty="0"/>
          </a:p>
        </p:txBody>
      </p:sp>
      <p:sp>
        <p:nvSpPr>
          <p:cNvPr id="9" name="Shape 7"/>
          <p:cNvSpPr/>
          <p:nvPr/>
        </p:nvSpPr>
        <p:spPr>
          <a:xfrm>
            <a:off x="502920" y="1828800"/>
            <a:ext cx="6675120" cy="457200"/>
          </a:xfrm>
          <a:prstGeom prst="rect">
            <a:avLst/>
          </a:prstGeom>
          <a:solidFill>
            <a:srgbClr val="F2F5F9"/>
          </a:solidFill>
          <a:ln w="9525">
            <a:solidFill>
              <a:srgbClr val="D3DBE6"/>
            </a:solidFill>
            <a:prstDash val="solid"/>
          </a:ln>
        </p:spPr>
      </p:sp>
      <p:sp>
        <p:nvSpPr>
          <p:cNvPr id="10" name="Text 8"/>
          <p:cNvSpPr/>
          <p:nvPr/>
        </p:nvSpPr>
        <p:spPr>
          <a:xfrm>
            <a:off x="630936" y="1828800"/>
            <a:ext cx="153619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Incident</a:t>
            </a:r>
            <a:endParaRPr lang="en-US" sz="1050" dirty="0"/>
          </a:p>
        </p:txBody>
      </p:sp>
      <p:sp>
        <p:nvSpPr>
          <p:cNvPr id="11" name="Text 9"/>
          <p:cNvSpPr/>
          <p:nvPr/>
        </p:nvSpPr>
        <p:spPr>
          <a:xfrm>
            <a:off x="2368296" y="1828800"/>
            <a:ext cx="299923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Something is broken</a:t>
            </a:r>
            <a:endParaRPr lang="en-US" sz="1050" dirty="0"/>
          </a:p>
        </p:txBody>
      </p:sp>
      <p:sp>
        <p:nvSpPr>
          <p:cNvPr id="12" name="Text 10"/>
          <p:cNvSpPr/>
          <p:nvPr/>
        </p:nvSpPr>
        <p:spPr>
          <a:xfrm>
            <a:off x="5568696" y="1828800"/>
            <a:ext cx="15361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Yes — response + resolution</a:t>
            </a:r>
            <a:endParaRPr lang="en-US" sz="1050" dirty="0"/>
          </a:p>
        </p:txBody>
      </p:sp>
      <p:sp>
        <p:nvSpPr>
          <p:cNvPr id="13" name="Shape 11"/>
          <p:cNvSpPr/>
          <p:nvPr/>
        </p:nvSpPr>
        <p:spPr>
          <a:xfrm>
            <a:off x="502920" y="2286000"/>
            <a:ext cx="6675120" cy="457200"/>
          </a:xfrm>
          <a:prstGeom prst="rect">
            <a:avLst/>
          </a:prstGeom>
          <a:solidFill>
            <a:srgbClr val="FFFFFF"/>
          </a:solidFill>
          <a:ln w="9525">
            <a:solidFill>
              <a:srgbClr val="D3DBE6"/>
            </a:solidFill>
            <a:prstDash val="solid"/>
          </a:ln>
        </p:spPr>
      </p:sp>
      <p:sp>
        <p:nvSpPr>
          <p:cNvPr id="14" name="Text 12"/>
          <p:cNvSpPr/>
          <p:nvPr/>
        </p:nvSpPr>
        <p:spPr>
          <a:xfrm>
            <a:off x="630936" y="2286000"/>
            <a:ext cx="153619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Service Request</a:t>
            </a:r>
            <a:endParaRPr lang="en-US" sz="1050" dirty="0"/>
          </a:p>
        </p:txBody>
      </p:sp>
      <p:sp>
        <p:nvSpPr>
          <p:cNvPr id="15" name="Text 13"/>
          <p:cNvSpPr/>
          <p:nvPr/>
        </p:nvSpPr>
        <p:spPr>
          <a:xfrm>
            <a:off x="2368296" y="2286000"/>
            <a:ext cx="299923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Standard, pre-approved ask</a:t>
            </a:r>
            <a:endParaRPr lang="en-US" sz="1050" dirty="0"/>
          </a:p>
        </p:txBody>
      </p:sp>
      <p:sp>
        <p:nvSpPr>
          <p:cNvPr id="16" name="Text 14"/>
          <p:cNvSpPr/>
          <p:nvPr/>
        </p:nvSpPr>
        <p:spPr>
          <a:xfrm>
            <a:off x="5568696" y="2286000"/>
            <a:ext cx="15361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Yes — fulfilment</a:t>
            </a:r>
            <a:endParaRPr lang="en-US" sz="1050" dirty="0"/>
          </a:p>
        </p:txBody>
      </p:sp>
      <p:sp>
        <p:nvSpPr>
          <p:cNvPr id="17" name="Shape 15"/>
          <p:cNvSpPr/>
          <p:nvPr/>
        </p:nvSpPr>
        <p:spPr>
          <a:xfrm>
            <a:off x="502920" y="2743200"/>
            <a:ext cx="6675120" cy="457200"/>
          </a:xfrm>
          <a:prstGeom prst="rect">
            <a:avLst/>
          </a:prstGeom>
          <a:solidFill>
            <a:srgbClr val="F2F5F9"/>
          </a:solidFill>
          <a:ln w="9525">
            <a:solidFill>
              <a:srgbClr val="D3DBE6"/>
            </a:solidFill>
            <a:prstDash val="solid"/>
          </a:ln>
        </p:spPr>
      </p:sp>
      <p:sp>
        <p:nvSpPr>
          <p:cNvPr id="18" name="Text 16"/>
          <p:cNvSpPr/>
          <p:nvPr/>
        </p:nvSpPr>
        <p:spPr>
          <a:xfrm>
            <a:off x="630936" y="2743200"/>
            <a:ext cx="153619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Change</a:t>
            </a:r>
            <a:endParaRPr lang="en-US" sz="1050" dirty="0"/>
          </a:p>
        </p:txBody>
      </p:sp>
      <p:sp>
        <p:nvSpPr>
          <p:cNvPr id="19" name="Text 17"/>
          <p:cNvSpPr/>
          <p:nvPr/>
        </p:nvSpPr>
        <p:spPr>
          <a:xfrm>
            <a:off x="2368296" y="2743200"/>
            <a:ext cx="299923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Modification requiring approval</a:t>
            </a:r>
            <a:endParaRPr lang="en-US" sz="1050" dirty="0"/>
          </a:p>
        </p:txBody>
      </p:sp>
      <p:sp>
        <p:nvSpPr>
          <p:cNvPr id="20" name="Text 18"/>
          <p:cNvSpPr/>
          <p:nvPr/>
        </p:nvSpPr>
        <p:spPr>
          <a:xfrm>
            <a:off x="5568696" y="2743200"/>
            <a:ext cx="15361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Approval-gated</a:t>
            </a:r>
            <a:endParaRPr lang="en-US" sz="1050" dirty="0"/>
          </a:p>
        </p:txBody>
      </p:sp>
      <p:sp>
        <p:nvSpPr>
          <p:cNvPr id="21" name="Shape 19"/>
          <p:cNvSpPr/>
          <p:nvPr/>
        </p:nvSpPr>
        <p:spPr>
          <a:xfrm>
            <a:off x="502920" y="3200400"/>
            <a:ext cx="6675120" cy="457200"/>
          </a:xfrm>
          <a:prstGeom prst="rect">
            <a:avLst/>
          </a:prstGeom>
          <a:solidFill>
            <a:srgbClr val="FFFFFF"/>
          </a:solidFill>
          <a:ln w="9525">
            <a:solidFill>
              <a:srgbClr val="D3DBE6"/>
            </a:solidFill>
            <a:prstDash val="solid"/>
          </a:ln>
        </p:spPr>
      </p:sp>
      <p:sp>
        <p:nvSpPr>
          <p:cNvPr id="22" name="Text 20"/>
          <p:cNvSpPr/>
          <p:nvPr/>
        </p:nvSpPr>
        <p:spPr>
          <a:xfrm>
            <a:off x="630936" y="3200400"/>
            <a:ext cx="1536192" cy="457200"/>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Problem</a:t>
            </a:r>
            <a:endParaRPr lang="en-US" sz="1050" dirty="0"/>
          </a:p>
        </p:txBody>
      </p:sp>
      <p:sp>
        <p:nvSpPr>
          <p:cNvPr id="23" name="Text 21"/>
          <p:cNvSpPr/>
          <p:nvPr/>
        </p:nvSpPr>
        <p:spPr>
          <a:xfrm>
            <a:off x="2368296" y="3200400"/>
            <a:ext cx="299923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Root cause behind repeat incidents</a:t>
            </a:r>
            <a:endParaRPr lang="en-US" sz="1050" dirty="0"/>
          </a:p>
        </p:txBody>
      </p:sp>
      <p:sp>
        <p:nvSpPr>
          <p:cNvPr id="24" name="Text 22"/>
          <p:cNvSpPr/>
          <p:nvPr/>
        </p:nvSpPr>
        <p:spPr>
          <a:xfrm>
            <a:off x="5568696" y="3200400"/>
            <a:ext cx="1536192" cy="45720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No — investigation</a:t>
            </a:r>
            <a:endParaRPr lang="en-US" sz="1050" dirty="0"/>
          </a:p>
        </p:txBody>
      </p:sp>
      <p:sp>
        <p:nvSpPr>
          <p:cNvPr id="25" name="Text 23"/>
          <p:cNvSpPr/>
          <p:nvPr/>
        </p:nvSpPr>
        <p:spPr>
          <a:xfrm>
            <a:off x="502920" y="3657600"/>
            <a:ext cx="6675120" cy="457200"/>
          </a:xfrm>
          <a:prstGeom prst="rect">
            <a:avLst/>
          </a:prstGeom>
          <a:noFill/>
          <a:ln/>
        </p:spPr>
        <p:txBody>
          <a:bodyPr wrap="square" lIns="0" tIns="0" rIns="0" bIns="0" rtlCol="0" anchor="ctr"/>
          <a:lstStyle/>
          <a:p>
            <a:pPr indent="0" marL="0">
              <a:lnSpc>
                <a:spcPts val="1400"/>
              </a:lnSpc>
              <a:buNone/>
            </a:pPr>
            <a:r>
              <a:rPr lang="en-US" sz="1050" i="1" dirty="0">
                <a:solidFill>
                  <a:srgbClr val="1A1A1A"/>
                </a:solidFill>
                <a:latin typeface="Calibri" pitchFamily="34" charset="0"/>
                <a:ea typeface="Calibri" pitchFamily="34" charset="-122"/>
                <a:cs typeface="Calibri" pitchFamily="34" charset="-120"/>
              </a:rPr>
              <a:t>Keep it to these four. Every extra issue type multiplies workflow, screen and report maintenance.</a:t>
            </a:r>
            <a:endParaRPr lang="en-US" sz="1050" dirty="0"/>
          </a:p>
        </p:txBody>
      </p:sp>
      <p:sp>
        <p:nvSpPr>
          <p:cNvPr id="26" name="Shape 24"/>
          <p:cNvSpPr/>
          <p:nvPr/>
        </p:nvSpPr>
        <p:spPr>
          <a:xfrm>
            <a:off x="502920" y="4160520"/>
            <a:ext cx="6675120" cy="1874520"/>
          </a:xfrm>
          <a:prstGeom prst="roundRect">
            <a:avLst>
              <a:gd name="adj" fmla="val 2927"/>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7" name="Text 25"/>
          <p:cNvSpPr/>
          <p:nvPr/>
        </p:nvSpPr>
        <p:spPr>
          <a:xfrm>
            <a:off x="722376" y="4279392"/>
            <a:ext cx="6217920" cy="256032"/>
          </a:xfrm>
          <a:prstGeom prst="rect">
            <a:avLst/>
          </a:prstGeom>
          <a:noFill/>
          <a:ln/>
        </p:spPr>
        <p:txBody>
          <a:bodyPr wrap="square" lIns="0" tIns="0" rIns="0" bIns="0" rtlCol="0" anchor="ctr"/>
          <a:lstStyle/>
          <a:p>
            <a:pPr indent="0" marL="0">
              <a:buNone/>
            </a:pPr>
            <a:r>
              <a:rPr lang="en-US" sz="1150" b="1" dirty="0">
                <a:solidFill>
                  <a:srgbClr val="152A4E"/>
                </a:solidFill>
                <a:latin typeface="Calibri" pitchFamily="34" charset="0"/>
                <a:ea typeface="Calibri" pitchFamily="34" charset="-122"/>
                <a:cs typeface="Calibri" pitchFamily="34" charset="-120"/>
              </a:rPr>
              <a:t>Each tower gets four things</a:t>
            </a:r>
            <a:endParaRPr lang="en-US" sz="1150" dirty="0"/>
          </a:p>
        </p:txBody>
      </p:sp>
      <p:sp>
        <p:nvSpPr>
          <p:cNvPr id="28" name="Text 26"/>
          <p:cNvSpPr/>
          <p:nvPr/>
        </p:nvSpPr>
        <p:spPr>
          <a:xfrm>
            <a:off x="722376" y="4572000"/>
            <a:ext cx="6217920" cy="1325880"/>
          </a:xfrm>
          <a:prstGeom prst="rect">
            <a:avLst/>
          </a:prstGeom>
          <a:noFill/>
          <a:ln/>
        </p:spPr>
        <p:txBody>
          <a:bodyPr wrap="square" lIns="0" tIns="0" rIns="0" bIns="0" rtlCol="0" anchor="t"/>
          <a:lstStyle/>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A queue in the agent view</a:t>
            </a:r>
            <a:endParaRPr lang="en-US" sz="1050" dirty="0"/>
          </a:p>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A Jira group, ops-l2-&lt;tower&gt;</a:t>
            </a:r>
            <a:endParaRPr lang="en-US" sz="1050" dirty="0"/>
          </a:p>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An auto-assignment rule triggered on escalation</a:t>
            </a:r>
            <a:endParaRPr lang="en-US" sz="1050" dirty="0"/>
          </a:p>
          <a:p>
            <a:pPr marL="342900" indent="-342900">
              <a:lnSpc>
                <a:spcPts val="135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A row on the tower dashboard</a:t>
            </a:r>
            <a:endParaRPr lang="en-US" sz="1050" dirty="0"/>
          </a:p>
        </p:txBody>
      </p:sp>
      <p:sp>
        <p:nvSpPr>
          <p:cNvPr id="29" name="Shape 27"/>
          <p:cNvSpPr/>
          <p:nvPr/>
        </p:nvSpPr>
        <p:spPr>
          <a:xfrm>
            <a:off x="7498080" y="1463040"/>
            <a:ext cx="4187952" cy="4572000"/>
          </a:xfrm>
          <a:prstGeom prst="roundRect">
            <a:avLst>
              <a:gd name="adj" fmla="val 131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30" name="Text 28"/>
          <p:cNvSpPr/>
          <p:nvPr/>
        </p:nvSpPr>
        <p:spPr>
          <a:xfrm>
            <a:off x="7699248" y="1609344"/>
            <a:ext cx="3794760" cy="219456"/>
          </a:xfrm>
          <a:prstGeom prst="rect">
            <a:avLst/>
          </a:prstGeom>
          <a:noFill/>
          <a:ln/>
        </p:spPr>
        <p:txBody>
          <a:bodyPr wrap="square" lIns="0" tIns="0" rIns="0" bIns="0" rtlCol="0" anchor="ctr"/>
          <a:lstStyle/>
          <a:p>
            <a:pPr indent="0" marL="0">
              <a:buNone/>
            </a:pPr>
            <a:r>
              <a:rPr lang="en-US" sz="900" b="1" spc="110" kern="0" dirty="0">
                <a:solidFill>
                  <a:srgbClr val="A86A11"/>
                </a:solidFill>
                <a:latin typeface="Calibri" pitchFamily="34" charset="0"/>
                <a:ea typeface="Calibri" pitchFamily="34" charset="-122"/>
                <a:cs typeface="Calibri" pitchFamily="34" charset="-120"/>
              </a:rPr>
              <a:t>PROPOSED TOWERS — NEEDS CONFIRMATION</a:t>
            </a:r>
            <a:endParaRPr lang="en-US" sz="900" dirty="0"/>
          </a:p>
        </p:txBody>
      </p:sp>
      <p:sp>
        <p:nvSpPr>
          <p:cNvPr id="31" name="Shape 29"/>
          <p:cNvSpPr/>
          <p:nvPr/>
        </p:nvSpPr>
        <p:spPr>
          <a:xfrm>
            <a:off x="7699248" y="1984248"/>
            <a:ext cx="274320" cy="274320"/>
          </a:xfrm>
          <a:prstGeom prst="roundRect">
            <a:avLst>
              <a:gd name="adj" fmla="val 16667"/>
            </a:avLst>
          </a:prstGeom>
          <a:solidFill>
            <a:srgbClr val="27436F"/>
          </a:solidFill>
          <a:ln w="12700">
            <a:solidFill>
              <a:srgbClr val="27436F"/>
            </a:solidFill>
            <a:prstDash val="solid"/>
          </a:ln>
        </p:spPr>
      </p:sp>
      <p:sp>
        <p:nvSpPr>
          <p:cNvPr id="32" name="Text 30"/>
          <p:cNvSpPr/>
          <p:nvPr/>
        </p:nvSpPr>
        <p:spPr>
          <a:xfrm>
            <a:off x="7699248" y="19842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3" name="Text 31"/>
          <p:cNvSpPr/>
          <p:nvPr/>
        </p:nvSpPr>
        <p:spPr>
          <a:xfrm>
            <a:off x="8065008" y="1938528"/>
            <a:ext cx="342900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Network &amp; Connectivity</a:t>
            </a:r>
            <a:endParaRPr lang="en-US" sz="1100" dirty="0"/>
          </a:p>
        </p:txBody>
      </p:sp>
      <p:sp>
        <p:nvSpPr>
          <p:cNvPr id="34" name="Shape 32"/>
          <p:cNvSpPr/>
          <p:nvPr/>
        </p:nvSpPr>
        <p:spPr>
          <a:xfrm>
            <a:off x="7699248" y="2441448"/>
            <a:ext cx="274320" cy="274320"/>
          </a:xfrm>
          <a:prstGeom prst="roundRect">
            <a:avLst>
              <a:gd name="adj" fmla="val 16667"/>
            </a:avLst>
          </a:prstGeom>
          <a:solidFill>
            <a:srgbClr val="27436F"/>
          </a:solidFill>
          <a:ln w="12700">
            <a:solidFill>
              <a:srgbClr val="27436F"/>
            </a:solidFill>
            <a:prstDash val="solid"/>
          </a:ln>
        </p:spPr>
      </p:sp>
      <p:sp>
        <p:nvSpPr>
          <p:cNvPr id="35" name="Text 33"/>
          <p:cNvSpPr/>
          <p:nvPr/>
        </p:nvSpPr>
        <p:spPr>
          <a:xfrm>
            <a:off x="7699248" y="24414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6" name="Text 34"/>
          <p:cNvSpPr/>
          <p:nvPr/>
        </p:nvSpPr>
        <p:spPr>
          <a:xfrm>
            <a:off x="8065008" y="2395728"/>
            <a:ext cx="342900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Server / Compute</a:t>
            </a:r>
            <a:endParaRPr lang="en-US" sz="1100" dirty="0"/>
          </a:p>
        </p:txBody>
      </p:sp>
      <p:sp>
        <p:nvSpPr>
          <p:cNvPr id="37" name="Shape 35"/>
          <p:cNvSpPr/>
          <p:nvPr/>
        </p:nvSpPr>
        <p:spPr>
          <a:xfrm>
            <a:off x="7699248" y="2898648"/>
            <a:ext cx="274320" cy="274320"/>
          </a:xfrm>
          <a:prstGeom prst="roundRect">
            <a:avLst>
              <a:gd name="adj" fmla="val 16667"/>
            </a:avLst>
          </a:prstGeom>
          <a:solidFill>
            <a:srgbClr val="27436F"/>
          </a:solidFill>
          <a:ln w="12700">
            <a:solidFill>
              <a:srgbClr val="27436F"/>
            </a:solidFill>
            <a:prstDash val="solid"/>
          </a:ln>
        </p:spPr>
      </p:sp>
      <p:sp>
        <p:nvSpPr>
          <p:cNvPr id="38" name="Text 36"/>
          <p:cNvSpPr/>
          <p:nvPr/>
        </p:nvSpPr>
        <p:spPr>
          <a:xfrm>
            <a:off x="7699248" y="28986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9" name="Text 37"/>
          <p:cNvSpPr/>
          <p:nvPr/>
        </p:nvSpPr>
        <p:spPr>
          <a:xfrm>
            <a:off x="8065008" y="2852928"/>
            <a:ext cx="342900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Database</a:t>
            </a:r>
            <a:endParaRPr lang="en-US" sz="1100" dirty="0"/>
          </a:p>
        </p:txBody>
      </p:sp>
      <p:sp>
        <p:nvSpPr>
          <p:cNvPr id="40" name="Shape 38"/>
          <p:cNvSpPr/>
          <p:nvPr/>
        </p:nvSpPr>
        <p:spPr>
          <a:xfrm>
            <a:off x="7699248" y="3355848"/>
            <a:ext cx="274320" cy="274320"/>
          </a:xfrm>
          <a:prstGeom prst="roundRect">
            <a:avLst>
              <a:gd name="adj" fmla="val 16667"/>
            </a:avLst>
          </a:prstGeom>
          <a:solidFill>
            <a:srgbClr val="27436F"/>
          </a:solidFill>
          <a:ln w="12700">
            <a:solidFill>
              <a:srgbClr val="27436F"/>
            </a:solidFill>
            <a:prstDash val="solid"/>
          </a:ln>
        </p:spPr>
      </p:sp>
      <p:sp>
        <p:nvSpPr>
          <p:cNvPr id="41" name="Text 39"/>
          <p:cNvSpPr/>
          <p:nvPr/>
        </p:nvSpPr>
        <p:spPr>
          <a:xfrm>
            <a:off x="7699248" y="3355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2" name="Text 40"/>
          <p:cNvSpPr/>
          <p:nvPr/>
        </p:nvSpPr>
        <p:spPr>
          <a:xfrm>
            <a:off x="8065008" y="3310128"/>
            <a:ext cx="342900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Storage &amp; Backup</a:t>
            </a:r>
            <a:endParaRPr lang="en-US" sz="1100" dirty="0"/>
          </a:p>
        </p:txBody>
      </p:sp>
      <p:sp>
        <p:nvSpPr>
          <p:cNvPr id="43" name="Shape 41"/>
          <p:cNvSpPr/>
          <p:nvPr/>
        </p:nvSpPr>
        <p:spPr>
          <a:xfrm>
            <a:off x="7699248" y="3813048"/>
            <a:ext cx="274320" cy="274320"/>
          </a:xfrm>
          <a:prstGeom prst="roundRect">
            <a:avLst>
              <a:gd name="adj" fmla="val 16667"/>
            </a:avLst>
          </a:prstGeom>
          <a:solidFill>
            <a:srgbClr val="27436F"/>
          </a:solidFill>
          <a:ln w="12700">
            <a:solidFill>
              <a:srgbClr val="27436F"/>
            </a:solidFill>
            <a:prstDash val="solid"/>
          </a:ln>
        </p:spPr>
      </p:sp>
      <p:sp>
        <p:nvSpPr>
          <p:cNvPr id="44" name="Text 42"/>
          <p:cNvSpPr/>
          <p:nvPr/>
        </p:nvSpPr>
        <p:spPr>
          <a:xfrm>
            <a:off x="7699248" y="38130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5" name="Text 43"/>
          <p:cNvSpPr/>
          <p:nvPr/>
        </p:nvSpPr>
        <p:spPr>
          <a:xfrm>
            <a:off x="8065008" y="3767328"/>
            <a:ext cx="342900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End User Computing (EUC)</a:t>
            </a:r>
            <a:endParaRPr lang="en-US" sz="1100" dirty="0"/>
          </a:p>
        </p:txBody>
      </p:sp>
      <p:sp>
        <p:nvSpPr>
          <p:cNvPr id="46" name="Shape 44"/>
          <p:cNvSpPr/>
          <p:nvPr/>
        </p:nvSpPr>
        <p:spPr>
          <a:xfrm>
            <a:off x="7699248" y="4270248"/>
            <a:ext cx="274320" cy="274320"/>
          </a:xfrm>
          <a:prstGeom prst="roundRect">
            <a:avLst>
              <a:gd name="adj" fmla="val 16667"/>
            </a:avLst>
          </a:prstGeom>
          <a:solidFill>
            <a:srgbClr val="27436F"/>
          </a:solidFill>
          <a:ln w="12700">
            <a:solidFill>
              <a:srgbClr val="27436F"/>
            </a:solidFill>
            <a:prstDash val="solid"/>
          </a:ln>
        </p:spPr>
      </p:sp>
      <p:sp>
        <p:nvSpPr>
          <p:cNvPr id="47" name="Text 45"/>
          <p:cNvSpPr/>
          <p:nvPr/>
        </p:nvSpPr>
        <p:spPr>
          <a:xfrm>
            <a:off x="7699248" y="42702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8" name="Text 46"/>
          <p:cNvSpPr/>
          <p:nvPr/>
        </p:nvSpPr>
        <p:spPr>
          <a:xfrm>
            <a:off x="8065008" y="4224528"/>
            <a:ext cx="342900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Applications</a:t>
            </a:r>
            <a:endParaRPr lang="en-US" sz="1100" dirty="0"/>
          </a:p>
        </p:txBody>
      </p:sp>
      <p:sp>
        <p:nvSpPr>
          <p:cNvPr id="49" name="Shape 47"/>
          <p:cNvSpPr/>
          <p:nvPr/>
        </p:nvSpPr>
        <p:spPr>
          <a:xfrm>
            <a:off x="7699248" y="4727448"/>
            <a:ext cx="274320" cy="274320"/>
          </a:xfrm>
          <a:prstGeom prst="roundRect">
            <a:avLst>
              <a:gd name="adj" fmla="val 16667"/>
            </a:avLst>
          </a:prstGeom>
          <a:solidFill>
            <a:srgbClr val="27436F"/>
          </a:solidFill>
          <a:ln w="12700">
            <a:solidFill>
              <a:srgbClr val="27436F"/>
            </a:solidFill>
            <a:prstDash val="solid"/>
          </a:ln>
        </p:spPr>
      </p:sp>
      <p:sp>
        <p:nvSpPr>
          <p:cNvPr id="50" name="Text 48"/>
          <p:cNvSpPr/>
          <p:nvPr/>
        </p:nvSpPr>
        <p:spPr>
          <a:xfrm>
            <a:off x="7699248" y="47274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51" name="Text 49"/>
          <p:cNvSpPr/>
          <p:nvPr/>
        </p:nvSpPr>
        <p:spPr>
          <a:xfrm>
            <a:off x="8065008" y="4681728"/>
            <a:ext cx="342900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Cloud &amp; Platform</a:t>
            </a:r>
            <a:endParaRPr lang="en-US" sz="1100" dirty="0"/>
          </a:p>
        </p:txBody>
      </p:sp>
      <p:sp>
        <p:nvSpPr>
          <p:cNvPr id="52" name="Shape 50"/>
          <p:cNvSpPr/>
          <p:nvPr/>
        </p:nvSpPr>
        <p:spPr>
          <a:xfrm>
            <a:off x="7699248" y="5184648"/>
            <a:ext cx="274320" cy="274320"/>
          </a:xfrm>
          <a:prstGeom prst="roundRect">
            <a:avLst>
              <a:gd name="adj" fmla="val 16667"/>
            </a:avLst>
          </a:prstGeom>
          <a:solidFill>
            <a:srgbClr val="27436F"/>
          </a:solidFill>
          <a:ln w="12700">
            <a:solidFill>
              <a:srgbClr val="27436F"/>
            </a:solidFill>
            <a:prstDash val="solid"/>
          </a:ln>
        </p:spPr>
      </p:sp>
      <p:sp>
        <p:nvSpPr>
          <p:cNvPr id="53" name="Text 51"/>
          <p:cNvSpPr/>
          <p:nvPr/>
        </p:nvSpPr>
        <p:spPr>
          <a:xfrm>
            <a:off x="7699248" y="51846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54" name="Text 52"/>
          <p:cNvSpPr/>
          <p:nvPr/>
        </p:nvSpPr>
        <p:spPr>
          <a:xfrm>
            <a:off x="8065008" y="5138928"/>
            <a:ext cx="342900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Security &amp; IAM</a:t>
            </a:r>
            <a:endParaRPr lang="en-US" sz="1100" dirty="0"/>
          </a:p>
        </p:txBody>
      </p:sp>
      <p:sp>
        <p:nvSpPr>
          <p:cNvPr id="55" name="Text 53"/>
          <p:cNvSpPr/>
          <p:nvPr/>
        </p:nvSpPr>
        <p:spPr>
          <a:xfrm>
            <a:off x="7699248" y="5596128"/>
            <a:ext cx="3794760" cy="329184"/>
          </a:xfrm>
          <a:prstGeom prst="rect">
            <a:avLst/>
          </a:prstGeom>
          <a:noFill/>
          <a:ln/>
        </p:spPr>
        <p:txBody>
          <a:bodyPr wrap="square" lIns="0" tIns="0" rIns="0" bIns="0" rtlCol="0" anchor="ctr"/>
          <a:lstStyle/>
          <a:p>
            <a:pPr indent="0" marL="0">
              <a:lnSpc>
                <a:spcPts val="1200"/>
              </a:lnSpc>
              <a:buNone/>
            </a:pPr>
            <a:r>
              <a:rPr lang="en-US" sz="950" i="1" dirty="0">
                <a:solidFill>
                  <a:srgbClr val="6B7280"/>
                </a:solidFill>
                <a:latin typeface="Calibri" pitchFamily="34" charset="0"/>
                <a:ea typeface="Calibri" pitchFamily="34" charset="-122"/>
                <a:cs typeface="Calibri" pitchFamily="34" charset="-120"/>
              </a:rPr>
              <a:t>This is a generic starting set. Real domain names are needed before the build — see A-8.</a:t>
            </a:r>
            <a:endParaRPr lang="en-US" sz="950" dirty="0"/>
          </a:p>
        </p:txBody>
      </p:sp>
      <p:sp>
        <p:nvSpPr>
          <p:cNvPr id="56" name="Text 54"/>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§5 towers; §6 issue types</a:t>
            </a:r>
            <a:endParaRPr lang="en-US" sz="850" dirty="0"/>
          </a:p>
        </p:txBody>
      </p:sp>
      <p:sp>
        <p:nvSpPr>
          <p:cNvPr id="57" name="Text 55"/>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A-6  ·  QUEUES AND AUTOMATION</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Five queues and seven automation rules turn the schema into a working desk — nobody has to remember to do any of it</a:t>
            </a:r>
            <a:endParaRPr lang="en-US" sz="1850" dirty="0"/>
          </a:p>
        </p:txBody>
      </p:sp>
      <p:sp>
        <p:nvSpPr>
          <p:cNvPr id="4" name="Text 2"/>
          <p:cNvSpPr/>
          <p:nvPr/>
        </p:nvSpPr>
        <p:spPr>
          <a:xfrm>
            <a:off x="10222992" y="274320"/>
            <a:ext cx="1463040" cy="219456"/>
          </a:xfrm>
          <a:prstGeom prst="rect">
            <a:avLst/>
          </a:prstGeom>
          <a:noFill/>
          <a:ln/>
        </p:spPr>
        <p:txBody>
          <a:bodyPr wrap="square" lIns="0" tIns="0" rIns="0" bIns="0" rtlCol="0" anchor="ctr"/>
          <a:lstStyle/>
          <a:p>
            <a:pPr algn="r" indent="0" marL="0">
              <a:buNone/>
            </a:pPr>
            <a:r>
              <a:rPr lang="en-US" sz="850" b="1" spc="140" kern="0" dirty="0">
                <a:solidFill>
                  <a:srgbClr val="6B7280"/>
                </a:solidFill>
                <a:latin typeface="Calibri" pitchFamily="34" charset="0"/>
                <a:ea typeface="Calibri" pitchFamily="34" charset="-122"/>
                <a:cs typeface="Calibri" pitchFamily="34" charset="-120"/>
              </a:rPr>
              <a:t>APPENDIX</a:t>
            </a:r>
            <a:endParaRPr lang="en-US" sz="850" dirty="0"/>
          </a:p>
        </p:txBody>
      </p:sp>
      <p:sp>
        <p:nvSpPr>
          <p:cNvPr id="5" name="Shape 3"/>
          <p:cNvSpPr/>
          <p:nvPr/>
        </p:nvSpPr>
        <p:spPr>
          <a:xfrm>
            <a:off x="502920" y="1444752"/>
            <a:ext cx="4160520" cy="3200400"/>
          </a:xfrm>
          <a:prstGeom prst="roundRect">
            <a:avLst>
              <a:gd name="adj" fmla="val 1714"/>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6" name="Text 4"/>
          <p:cNvSpPr/>
          <p:nvPr/>
        </p:nvSpPr>
        <p:spPr>
          <a:xfrm>
            <a:off x="722376" y="1572768"/>
            <a:ext cx="3749040" cy="219456"/>
          </a:xfrm>
          <a:prstGeom prst="rect">
            <a:avLst/>
          </a:prstGeom>
          <a:noFill/>
          <a:ln/>
        </p:spPr>
        <p:txBody>
          <a:bodyPr wrap="square" lIns="0" tIns="0" rIns="0" bIns="0" rtlCol="0" anchor="ctr"/>
          <a:lstStyle/>
          <a:p>
            <a:pPr indent="0" marL="0">
              <a:buNone/>
            </a:pPr>
            <a:r>
              <a:rPr lang="en-US" sz="900" b="1" spc="110" kern="0" dirty="0">
                <a:solidFill>
                  <a:srgbClr val="0E7C7B"/>
                </a:solidFill>
                <a:latin typeface="Calibri" pitchFamily="34" charset="0"/>
                <a:ea typeface="Calibri" pitchFamily="34" charset="-122"/>
                <a:cs typeface="Calibri" pitchFamily="34" charset="-120"/>
              </a:rPr>
              <a:t>QUEUES  [REQUIRES JSM]</a:t>
            </a:r>
            <a:endParaRPr lang="en-US" sz="900" dirty="0"/>
          </a:p>
        </p:txBody>
      </p:sp>
      <p:sp>
        <p:nvSpPr>
          <p:cNvPr id="7" name="Text 5"/>
          <p:cNvSpPr/>
          <p:nvPr/>
        </p:nvSpPr>
        <p:spPr>
          <a:xfrm>
            <a:off x="722376" y="1847088"/>
            <a:ext cx="3749040" cy="219456"/>
          </a:xfrm>
          <a:prstGeom prst="rect">
            <a:avLst/>
          </a:prstGeom>
          <a:noFill/>
          <a:ln/>
        </p:spPr>
        <p:txBody>
          <a:bodyPr wrap="square" lIns="0" tIns="0" rIns="0" bIns="0" rtlCol="0" anchor="ctr"/>
          <a:lstStyle/>
          <a:p>
            <a:pPr indent="0" marL="0">
              <a:buNone/>
            </a:pPr>
            <a:r>
              <a:rPr lang="en-US" sz="1050" b="1" dirty="0">
                <a:solidFill>
                  <a:srgbClr val="152A4E"/>
                </a:solidFill>
                <a:latin typeface="Calibri" pitchFamily="34" charset="0"/>
                <a:ea typeface="Calibri" pitchFamily="34" charset="-122"/>
                <a:cs typeface="Calibri" pitchFamily="34" charset="-120"/>
              </a:rPr>
              <a:t>L1 — Unassigned</a:t>
            </a:r>
            <a:endParaRPr lang="en-US" sz="1050" dirty="0"/>
          </a:p>
        </p:txBody>
      </p:sp>
      <p:sp>
        <p:nvSpPr>
          <p:cNvPr id="8" name="Text 6"/>
          <p:cNvSpPr/>
          <p:nvPr/>
        </p:nvSpPr>
        <p:spPr>
          <a:xfrm>
            <a:off x="722376" y="2048256"/>
            <a:ext cx="3749040" cy="292608"/>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Tier = L1, assignee empty — the primary L1 work pool</a:t>
            </a:r>
            <a:endParaRPr lang="en-US" sz="950" dirty="0"/>
          </a:p>
        </p:txBody>
      </p:sp>
      <p:sp>
        <p:nvSpPr>
          <p:cNvPr id="9" name="Text 7"/>
          <p:cNvSpPr/>
          <p:nvPr/>
        </p:nvSpPr>
        <p:spPr>
          <a:xfrm>
            <a:off x="722376" y="2377440"/>
            <a:ext cx="3749040" cy="219456"/>
          </a:xfrm>
          <a:prstGeom prst="rect">
            <a:avLst/>
          </a:prstGeom>
          <a:noFill/>
          <a:ln/>
        </p:spPr>
        <p:txBody>
          <a:bodyPr wrap="square" lIns="0" tIns="0" rIns="0" bIns="0" rtlCol="0" anchor="ctr"/>
          <a:lstStyle/>
          <a:p>
            <a:pPr indent="0" marL="0">
              <a:buNone/>
            </a:pPr>
            <a:r>
              <a:rPr lang="en-US" sz="1050" b="1" dirty="0">
                <a:solidFill>
                  <a:srgbClr val="152A4E"/>
                </a:solidFill>
                <a:latin typeface="Calibri" pitchFamily="34" charset="0"/>
                <a:ea typeface="Calibri" pitchFamily="34" charset="-122"/>
                <a:cs typeface="Calibri" pitchFamily="34" charset="-120"/>
              </a:rPr>
              <a:t>L1 — My Open</a:t>
            </a:r>
            <a:endParaRPr lang="en-US" sz="1050" dirty="0"/>
          </a:p>
        </p:txBody>
      </p:sp>
      <p:sp>
        <p:nvSpPr>
          <p:cNvPr id="10" name="Text 8"/>
          <p:cNvSpPr/>
          <p:nvPr/>
        </p:nvSpPr>
        <p:spPr>
          <a:xfrm>
            <a:off x="722376" y="2578608"/>
            <a:ext cx="3749040" cy="292608"/>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Personal working list</a:t>
            </a:r>
            <a:endParaRPr lang="en-US" sz="950" dirty="0"/>
          </a:p>
        </p:txBody>
      </p:sp>
      <p:sp>
        <p:nvSpPr>
          <p:cNvPr id="11" name="Text 9"/>
          <p:cNvSpPr/>
          <p:nvPr/>
        </p:nvSpPr>
        <p:spPr>
          <a:xfrm>
            <a:off x="722376" y="2907792"/>
            <a:ext cx="3749040" cy="219456"/>
          </a:xfrm>
          <a:prstGeom prst="rect">
            <a:avLst/>
          </a:prstGeom>
          <a:noFill/>
          <a:ln/>
        </p:spPr>
        <p:txBody>
          <a:bodyPr wrap="square" lIns="0" tIns="0" rIns="0" bIns="0" rtlCol="0" anchor="ctr"/>
          <a:lstStyle/>
          <a:p>
            <a:pPr indent="0" marL="0">
              <a:buNone/>
            </a:pPr>
            <a:r>
              <a:rPr lang="en-US" sz="1050" b="1" dirty="0">
                <a:solidFill>
                  <a:srgbClr val="152A4E"/>
                </a:solidFill>
                <a:latin typeface="Calibri" pitchFamily="34" charset="0"/>
                <a:ea typeface="Calibri" pitchFamily="34" charset="-122"/>
                <a:cs typeface="Calibri" pitchFamily="34" charset="-120"/>
              </a:rPr>
              <a:t>L2 — &lt;Tower&gt;</a:t>
            </a:r>
            <a:endParaRPr lang="en-US" sz="1050" dirty="0"/>
          </a:p>
        </p:txBody>
      </p:sp>
      <p:sp>
        <p:nvSpPr>
          <p:cNvPr id="12" name="Text 10"/>
          <p:cNvSpPr/>
          <p:nvPr/>
        </p:nvSpPr>
        <p:spPr>
          <a:xfrm>
            <a:off x="722376" y="3108960"/>
            <a:ext cx="3749040" cy="292608"/>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One per tower, Tier = L2</a:t>
            </a:r>
            <a:endParaRPr lang="en-US" sz="950" dirty="0"/>
          </a:p>
        </p:txBody>
      </p:sp>
      <p:sp>
        <p:nvSpPr>
          <p:cNvPr id="13" name="Text 11"/>
          <p:cNvSpPr/>
          <p:nvPr/>
        </p:nvSpPr>
        <p:spPr>
          <a:xfrm>
            <a:off x="722376" y="3438144"/>
            <a:ext cx="3749040" cy="219456"/>
          </a:xfrm>
          <a:prstGeom prst="rect">
            <a:avLst/>
          </a:prstGeom>
          <a:noFill/>
          <a:ln/>
        </p:spPr>
        <p:txBody>
          <a:bodyPr wrap="square" lIns="0" tIns="0" rIns="0" bIns="0" rtlCol="0" anchor="ctr"/>
          <a:lstStyle/>
          <a:p>
            <a:pPr indent="0" marL="0">
              <a:buNone/>
            </a:pPr>
            <a:r>
              <a:rPr lang="en-US" sz="1050" b="1" dirty="0">
                <a:solidFill>
                  <a:srgbClr val="152A4E"/>
                </a:solidFill>
                <a:latin typeface="Calibri" pitchFamily="34" charset="0"/>
                <a:ea typeface="Calibri" pitchFamily="34" charset="-122"/>
                <a:cs typeface="Calibri" pitchFamily="34" charset="-120"/>
              </a:rPr>
              <a:t>Breaching in &lt; 1h</a:t>
            </a:r>
            <a:endParaRPr lang="en-US" sz="1050" dirty="0"/>
          </a:p>
        </p:txBody>
      </p:sp>
      <p:sp>
        <p:nvSpPr>
          <p:cNvPr id="14" name="Text 12"/>
          <p:cNvSpPr/>
          <p:nvPr/>
        </p:nvSpPr>
        <p:spPr>
          <a:xfrm>
            <a:off x="722376" y="3639312"/>
            <a:ext cx="3749040" cy="292608"/>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Across all tiers — escalation of last resort</a:t>
            </a:r>
            <a:endParaRPr lang="en-US" sz="950" dirty="0"/>
          </a:p>
        </p:txBody>
      </p:sp>
      <p:sp>
        <p:nvSpPr>
          <p:cNvPr id="15" name="Text 13"/>
          <p:cNvSpPr/>
          <p:nvPr/>
        </p:nvSpPr>
        <p:spPr>
          <a:xfrm>
            <a:off x="722376" y="3968496"/>
            <a:ext cx="3749040" cy="219456"/>
          </a:xfrm>
          <a:prstGeom prst="rect">
            <a:avLst/>
          </a:prstGeom>
          <a:noFill/>
          <a:ln/>
        </p:spPr>
        <p:txBody>
          <a:bodyPr wrap="square" lIns="0" tIns="0" rIns="0" bIns="0" rtlCol="0" anchor="ctr"/>
          <a:lstStyle/>
          <a:p>
            <a:pPr indent="0" marL="0">
              <a:buNone/>
            </a:pPr>
            <a:r>
              <a:rPr lang="en-US" sz="1050" b="1" dirty="0">
                <a:solidFill>
                  <a:srgbClr val="152A4E"/>
                </a:solidFill>
                <a:latin typeface="Calibri" pitchFamily="34" charset="0"/>
                <a:ea typeface="Calibri" pitchFamily="34" charset="-122"/>
                <a:cs typeface="Calibri" pitchFamily="34" charset="-120"/>
              </a:rPr>
              <a:t>P1 War Room</a:t>
            </a:r>
            <a:endParaRPr lang="en-US" sz="1050" dirty="0"/>
          </a:p>
        </p:txBody>
      </p:sp>
      <p:sp>
        <p:nvSpPr>
          <p:cNvPr id="16" name="Text 14"/>
          <p:cNvSpPr/>
          <p:nvPr/>
        </p:nvSpPr>
        <p:spPr>
          <a:xfrm>
            <a:off x="722376" y="4169664"/>
            <a:ext cx="3749040" cy="292608"/>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All P1s, all tiers</a:t>
            </a:r>
            <a:endParaRPr lang="en-US" sz="950" dirty="0"/>
          </a:p>
        </p:txBody>
      </p:sp>
      <p:sp>
        <p:nvSpPr>
          <p:cNvPr id="17" name="Shape 15"/>
          <p:cNvSpPr/>
          <p:nvPr/>
        </p:nvSpPr>
        <p:spPr>
          <a:xfrm>
            <a:off x="502920" y="4773168"/>
            <a:ext cx="4160520" cy="1280160"/>
          </a:xfrm>
          <a:prstGeom prst="roundRect">
            <a:avLst>
              <a:gd name="adj" fmla="val 4286"/>
            </a:avLst>
          </a:prstGeom>
          <a:solidFill>
            <a:srgbClr val="D9EAE9"/>
          </a:solidFill>
          <a:ln w="12700">
            <a:solidFill>
              <a:srgbClr val="A9CFCD"/>
            </a:solidFill>
            <a:prstDash val="solid"/>
          </a:ln>
          <a:effectLst>
            <a:outerShdw sx="100000" sy="100000" kx="0" ky="0" algn="bl" rotWithShape="0" blurRad="76200" dist="12700" dir="5400000">
              <a:srgbClr val="9AA7BA">
                <a:alpha val="22000"/>
              </a:srgbClr>
            </a:outerShdw>
          </a:effectLst>
        </p:spPr>
      </p:sp>
      <p:sp>
        <p:nvSpPr>
          <p:cNvPr id="18" name="Text 16"/>
          <p:cNvSpPr/>
          <p:nvPr/>
        </p:nvSpPr>
        <p:spPr>
          <a:xfrm>
            <a:off x="722376" y="4882896"/>
            <a:ext cx="3749040" cy="237744"/>
          </a:xfrm>
          <a:prstGeom prst="rect">
            <a:avLst/>
          </a:prstGeom>
          <a:noFill/>
          <a:ln/>
        </p:spPr>
        <p:txBody>
          <a:bodyPr wrap="square" lIns="0" tIns="0" rIns="0" bIns="0" rtlCol="0" anchor="ctr"/>
          <a:lstStyle/>
          <a:p>
            <a:pPr indent="0" marL="0">
              <a:buNone/>
            </a:pPr>
            <a:r>
              <a:rPr lang="en-US" sz="1100" b="1" dirty="0">
                <a:solidFill>
                  <a:srgbClr val="152A4E"/>
                </a:solidFill>
                <a:latin typeface="Calibri" pitchFamily="34" charset="0"/>
                <a:ea typeface="Calibri" pitchFamily="34" charset="-122"/>
                <a:cs typeface="Calibri" pitchFamily="34" charset="-120"/>
              </a:rPr>
              <a:t>Why queues, not personal inboxes</a:t>
            </a:r>
            <a:endParaRPr lang="en-US" sz="1100" dirty="0"/>
          </a:p>
        </p:txBody>
      </p:sp>
      <p:sp>
        <p:nvSpPr>
          <p:cNvPr id="19" name="Text 17"/>
          <p:cNvSpPr/>
          <p:nvPr/>
        </p:nvSpPr>
        <p:spPr>
          <a:xfrm>
            <a:off x="722376" y="5138928"/>
            <a:ext cx="3749040" cy="822960"/>
          </a:xfrm>
          <a:prstGeom prst="rect">
            <a:avLst/>
          </a:prstGeom>
          <a:noFill/>
          <a:ln/>
        </p:spPr>
        <p:txBody>
          <a:bodyPr wrap="square" lIns="0" tIns="0" rIns="0" bIns="0" rtlCol="0" anchor="ctr"/>
          <a:lstStyle/>
          <a:p>
            <a:pPr indent="0" marL="0">
              <a:lnSpc>
                <a:spcPts val="1250"/>
              </a:lnSpc>
              <a:buNone/>
            </a:pPr>
            <a:r>
              <a:rPr lang="en-US" sz="950" dirty="0">
                <a:solidFill>
                  <a:srgbClr val="1A1A1A"/>
                </a:solidFill>
                <a:latin typeface="Calibri" pitchFamily="34" charset="0"/>
                <a:ea typeface="Calibri" pitchFamily="34" charset="-122"/>
                <a:cs typeface="Calibri" pitchFamily="34" charset="-120"/>
              </a:rPr>
              <a:t>The escalation post-function clears the assignee deliberately. Work that lands on a named person disappears when that person is on leave; work that lands in a pool is visible.</a:t>
            </a:r>
            <a:endParaRPr lang="en-US" sz="950" dirty="0"/>
          </a:p>
        </p:txBody>
      </p:sp>
      <p:sp>
        <p:nvSpPr>
          <p:cNvPr id="20" name="Shape 18"/>
          <p:cNvSpPr/>
          <p:nvPr/>
        </p:nvSpPr>
        <p:spPr>
          <a:xfrm>
            <a:off x="4937760" y="1444752"/>
            <a:ext cx="6748272" cy="4608576"/>
          </a:xfrm>
          <a:prstGeom prst="roundRect">
            <a:avLst>
              <a:gd name="adj" fmla="val 119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1" name="Text 19"/>
          <p:cNvSpPr/>
          <p:nvPr/>
        </p:nvSpPr>
        <p:spPr>
          <a:xfrm>
            <a:off x="5157216" y="1572768"/>
            <a:ext cx="6309360" cy="219456"/>
          </a:xfrm>
          <a:prstGeom prst="rect">
            <a:avLst/>
          </a:prstGeom>
          <a:noFill/>
          <a:ln/>
        </p:spPr>
        <p:txBody>
          <a:bodyPr wrap="square" lIns="0" tIns="0" rIns="0" bIns="0" rtlCol="0" anchor="ctr"/>
          <a:lstStyle/>
          <a:p>
            <a:pPr indent="0" marL="0">
              <a:buNone/>
            </a:pPr>
            <a:r>
              <a:rPr lang="en-US" sz="900" b="1" spc="110" kern="0" dirty="0">
                <a:solidFill>
                  <a:srgbClr val="0E7C7B"/>
                </a:solidFill>
                <a:latin typeface="Calibri" pitchFamily="34" charset="0"/>
                <a:ea typeface="Calibri" pitchFamily="34" charset="-122"/>
                <a:cs typeface="Calibri" pitchFamily="34" charset="-120"/>
              </a:rPr>
              <a:t>AUTOMATION RULES</a:t>
            </a:r>
            <a:endParaRPr lang="en-US" sz="900" dirty="0"/>
          </a:p>
        </p:txBody>
      </p:sp>
      <p:sp>
        <p:nvSpPr>
          <p:cNvPr id="22" name="Shape 20"/>
          <p:cNvSpPr/>
          <p:nvPr/>
        </p:nvSpPr>
        <p:spPr>
          <a:xfrm>
            <a:off x="5157216" y="1929384"/>
            <a:ext cx="274320" cy="274320"/>
          </a:xfrm>
          <a:prstGeom prst="roundRect">
            <a:avLst>
              <a:gd name="adj" fmla="val 16667"/>
            </a:avLst>
          </a:prstGeom>
          <a:solidFill>
            <a:srgbClr val="27436F"/>
          </a:solidFill>
          <a:ln w="12700">
            <a:solidFill>
              <a:srgbClr val="27436F"/>
            </a:solidFill>
            <a:prstDash val="solid"/>
          </a:ln>
        </p:spPr>
      </p:sp>
      <p:sp>
        <p:nvSpPr>
          <p:cNvPr id="23" name="Text 21"/>
          <p:cNvSpPr/>
          <p:nvPr/>
        </p:nvSpPr>
        <p:spPr>
          <a:xfrm>
            <a:off x="5157216" y="19293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4" name="Text 22"/>
          <p:cNvSpPr/>
          <p:nvPr/>
        </p:nvSpPr>
        <p:spPr>
          <a:xfrm>
            <a:off x="5522976" y="1874520"/>
            <a:ext cx="2103120" cy="384048"/>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Priority derivation</a:t>
            </a:r>
            <a:endParaRPr lang="en-US" sz="1050" dirty="0"/>
          </a:p>
        </p:txBody>
      </p:sp>
      <p:sp>
        <p:nvSpPr>
          <p:cNvPr id="25" name="Text 23"/>
          <p:cNvSpPr/>
          <p:nvPr/>
        </p:nvSpPr>
        <p:spPr>
          <a:xfrm>
            <a:off x="7680960" y="1874520"/>
            <a:ext cx="3794760" cy="457200"/>
          </a:xfrm>
          <a:prstGeom prst="rect">
            <a:avLst/>
          </a:prstGeom>
          <a:noFill/>
          <a:ln/>
        </p:spPr>
        <p:txBody>
          <a:bodyPr wrap="square" lIns="0" tIns="0" rIns="0" bIns="0" rtlCol="0" anchor="ctr"/>
          <a:lstStyle/>
          <a:p>
            <a:pPr indent="0" marL="0">
              <a:lnSpc>
                <a:spcPts val="1200"/>
              </a:lnSpc>
              <a:buNone/>
            </a:pPr>
            <a:r>
              <a:rPr lang="en-US" sz="950" dirty="0">
                <a:solidFill>
                  <a:srgbClr val="1A1A1A"/>
                </a:solidFill>
                <a:latin typeface="Calibri" pitchFamily="34" charset="0"/>
                <a:ea typeface="Calibri" pitchFamily="34" charset="-122"/>
                <a:cs typeface="Calibri" pitchFamily="34" charset="-120"/>
              </a:rPr>
              <a:t>On create, or on edit of Impact or Urgency → set Priority from the matrix</a:t>
            </a:r>
            <a:endParaRPr lang="en-US" sz="950" dirty="0"/>
          </a:p>
        </p:txBody>
      </p:sp>
      <p:sp>
        <p:nvSpPr>
          <p:cNvPr id="26" name="Shape 24"/>
          <p:cNvSpPr/>
          <p:nvPr/>
        </p:nvSpPr>
        <p:spPr>
          <a:xfrm>
            <a:off x="5157216" y="2523744"/>
            <a:ext cx="274320" cy="274320"/>
          </a:xfrm>
          <a:prstGeom prst="roundRect">
            <a:avLst>
              <a:gd name="adj" fmla="val 16667"/>
            </a:avLst>
          </a:prstGeom>
          <a:solidFill>
            <a:srgbClr val="27436F"/>
          </a:solidFill>
          <a:ln w="12700">
            <a:solidFill>
              <a:srgbClr val="27436F"/>
            </a:solidFill>
            <a:prstDash val="solid"/>
          </a:ln>
        </p:spPr>
      </p:sp>
      <p:sp>
        <p:nvSpPr>
          <p:cNvPr id="27" name="Text 25"/>
          <p:cNvSpPr/>
          <p:nvPr/>
        </p:nvSpPr>
        <p:spPr>
          <a:xfrm>
            <a:off x="5157216" y="25237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8" name="Text 26"/>
          <p:cNvSpPr/>
          <p:nvPr/>
        </p:nvSpPr>
        <p:spPr>
          <a:xfrm>
            <a:off x="5522976" y="2468880"/>
            <a:ext cx="2103120" cy="384048"/>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Tower auto-assignment</a:t>
            </a:r>
            <a:endParaRPr lang="en-US" sz="1050" dirty="0"/>
          </a:p>
        </p:txBody>
      </p:sp>
      <p:sp>
        <p:nvSpPr>
          <p:cNvPr id="29" name="Text 27"/>
          <p:cNvSpPr/>
          <p:nvPr/>
        </p:nvSpPr>
        <p:spPr>
          <a:xfrm>
            <a:off x="7680960" y="2468880"/>
            <a:ext cx="3794760" cy="457200"/>
          </a:xfrm>
          <a:prstGeom prst="rect">
            <a:avLst/>
          </a:prstGeom>
          <a:noFill/>
          <a:ln/>
        </p:spPr>
        <p:txBody>
          <a:bodyPr wrap="square" lIns="0" tIns="0" rIns="0" bIns="0" rtlCol="0" anchor="ctr"/>
          <a:lstStyle/>
          <a:p>
            <a:pPr indent="0" marL="0">
              <a:lnSpc>
                <a:spcPts val="1200"/>
              </a:lnSpc>
              <a:buNone/>
            </a:pPr>
            <a:r>
              <a:rPr lang="en-US" sz="950" dirty="0">
                <a:solidFill>
                  <a:srgbClr val="1A1A1A"/>
                </a:solidFill>
                <a:latin typeface="Calibri" pitchFamily="34" charset="0"/>
                <a:ea typeface="Calibri" pitchFamily="34" charset="-122"/>
                <a:cs typeface="Calibri" pitchFamily="34" charset="-120"/>
              </a:rPr>
              <a:t>On escalation → assign to the ops-l2-&lt;tower&gt; group</a:t>
            </a:r>
            <a:endParaRPr lang="en-US" sz="950" dirty="0"/>
          </a:p>
        </p:txBody>
      </p:sp>
      <p:sp>
        <p:nvSpPr>
          <p:cNvPr id="30" name="Shape 28"/>
          <p:cNvSpPr/>
          <p:nvPr/>
        </p:nvSpPr>
        <p:spPr>
          <a:xfrm>
            <a:off x="5157216" y="3118104"/>
            <a:ext cx="274320" cy="274320"/>
          </a:xfrm>
          <a:prstGeom prst="roundRect">
            <a:avLst>
              <a:gd name="adj" fmla="val 16667"/>
            </a:avLst>
          </a:prstGeom>
          <a:solidFill>
            <a:srgbClr val="27436F"/>
          </a:solidFill>
          <a:ln w="12700">
            <a:solidFill>
              <a:srgbClr val="27436F"/>
            </a:solidFill>
            <a:prstDash val="solid"/>
          </a:ln>
        </p:spPr>
      </p:sp>
      <p:sp>
        <p:nvSpPr>
          <p:cNvPr id="31" name="Text 29"/>
          <p:cNvSpPr/>
          <p:nvPr/>
        </p:nvSpPr>
        <p:spPr>
          <a:xfrm>
            <a:off x="5157216" y="31181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5522976" y="3063240"/>
            <a:ext cx="2103120" cy="384048"/>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P1 alert</a:t>
            </a:r>
            <a:endParaRPr lang="en-US" sz="1050" dirty="0"/>
          </a:p>
        </p:txBody>
      </p:sp>
      <p:sp>
        <p:nvSpPr>
          <p:cNvPr id="33" name="Text 31"/>
          <p:cNvSpPr/>
          <p:nvPr/>
        </p:nvSpPr>
        <p:spPr>
          <a:xfrm>
            <a:off x="7680960" y="3063240"/>
            <a:ext cx="3794760" cy="457200"/>
          </a:xfrm>
          <a:prstGeom prst="rect">
            <a:avLst/>
          </a:prstGeom>
          <a:noFill/>
          <a:ln/>
        </p:spPr>
        <p:txBody>
          <a:bodyPr wrap="square" lIns="0" tIns="0" rIns="0" bIns="0" rtlCol="0" anchor="ctr"/>
          <a:lstStyle/>
          <a:p>
            <a:pPr indent="0" marL="0">
              <a:lnSpc>
                <a:spcPts val="1200"/>
              </a:lnSpc>
              <a:buNone/>
            </a:pPr>
            <a:r>
              <a:rPr lang="en-US" sz="950" dirty="0">
                <a:solidFill>
                  <a:srgbClr val="1A1A1A"/>
                </a:solidFill>
                <a:latin typeface="Calibri" pitchFamily="34" charset="0"/>
                <a:ea typeface="Calibri" pitchFamily="34" charset="-122"/>
                <a:cs typeface="Calibri" pitchFamily="34" charset="-120"/>
              </a:rPr>
              <a:t>On P1 create → notify the tower lead and the on-call channel</a:t>
            </a:r>
            <a:endParaRPr lang="en-US" sz="950" dirty="0"/>
          </a:p>
        </p:txBody>
      </p:sp>
      <p:sp>
        <p:nvSpPr>
          <p:cNvPr id="34" name="Shape 32"/>
          <p:cNvSpPr/>
          <p:nvPr/>
        </p:nvSpPr>
        <p:spPr>
          <a:xfrm>
            <a:off x="5157216" y="3712464"/>
            <a:ext cx="274320" cy="274320"/>
          </a:xfrm>
          <a:prstGeom prst="roundRect">
            <a:avLst>
              <a:gd name="adj" fmla="val 16667"/>
            </a:avLst>
          </a:prstGeom>
          <a:solidFill>
            <a:srgbClr val="27436F"/>
          </a:solidFill>
          <a:ln w="12700">
            <a:solidFill>
              <a:srgbClr val="27436F"/>
            </a:solidFill>
            <a:prstDash val="solid"/>
          </a:ln>
        </p:spPr>
      </p:sp>
      <p:sp>
        <p:nvSpPr>
          <p:cNvPr id="35" name="Text 33"/>
          <p:cNvSpPr/>
          <p:nvPr/>
        </p:nvSpPr>
        <p:spPr>
          <a:xfrm>
            <a:off x="5157216" y="37124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Text 34"/>
          <p:cNvSpPr/>
          <p:nvPr/>
        </p:nvSpPr>
        <p:spPr>
          <a:xfrm>
            <a:off x="5522976" y="3657600"/>
            <a:ext cx="2103120" cy="384048"/>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SLA breach warning</a:t>
            </a:r>
            <a:endParaRPr lang="en-US" sz="1050" dirty="0"/>
          </a:p>
        </p:txBody>
      </p:sp>
      <p:sp>
        <p:nvSpPr>
          <p:cNvPr id="37" name="Text 35"/>
          <p:cNvSpPr/>
          <p:nvPr/>
        </p:nvSpPr>
        <p:spPr>
          <a:xfrm>
            <a:off x="7680960" y="3657600"/>
            <a:ext cx="3794760" cy="457200"/>
          </a:xfrm>
          <a:prstGeom prst="rect">
            <a:avLst/>
          </a:prstGeom>
          <a:noFill/>
          <a:ln/>
        </p:spPr>
        <p:txBody>
          <a:bodyPr wrap="square" lIns="0" tIns="0" rIns="0" bIns="0" rtlCol="0" anchor="ctr"/>
          <a:lstStyle/>
          <a:p>
            <a:pPr indent="0" marL="0">
              <a:lnSpc>
                <a:spcPts val="1200"/>
              </a:lnSpc>
              <a:buNone/>
            </a:pPr>
            <a:r>
              <a:rPr lang="en-US" sz="950" dirty="0">
                <a:solidFill>
                  <a:srgbClr val="1A1A1A"/>
                </a:solidFill>
                <a:latin typeface="Calibri" pitchFamily="34" charset="0"/>
                <a:ea typeface="Calibri" pitchFamily="34" charset="-122"/>
                <a:cs typeface="Calibri" pitchFamily="34" charset="-120"/>
              </a:rPr>
              <a:t>At 75% of target → comment, and notify assignee and lead</a:t>
            </a:r>
            <a:endParaRPr lang="en-US" sz="950" dirty="0"/>
          </a:p>
        </p:txBody>
      </p:sp>
      <p:sp>
        <p:nvSpPr>
          <p:cNvPr id="38" name="Shape 36"/>
          <p:cNvSpPr/>
          <p:nvPr/>
        </p:nvSpPr>
        <p:spPr>
          <a:xfrm>
            <a:off x="5157216" y="4306824"/>
            <a:ext cx="274320" cy="274320"/>
          </a:xfrm>
          <a:prstGeom prst="roundRect">
            <a:avLst>
              <a:gd name="adj" fmla="val 16667"/>
            </a:avLst>
          </a:prstGeom>
          <a:solidFill>
            <a:srgbClr val="27436F"/>
          </a:solidFill>
          <a:ln w="12700">
            <a:solidFill>
              <a:srgbClr val="27436F"/>
            </a:solidFill>
            <a:prstDash val="solid"/>
          </a:ln>
        </p:spPr>
      </p:sp>
      <p:sp>
        <p:nvSpPr>
          <p:cNvPr id="39" name="Text 37"/>
          <p:cNvSpPr/>
          <p:nvPr/>
        </p:nvSpPr>
        <p:spPr>
          <a:xfrm>
            <a:off x="5157216" y="43068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0" name="Text 38"/>
          <p:cNvSpPr/>
          <p:nvPr/>
        </p:nvSpPr>
        <p:spPr>
          <a:xfrm>
            <a:off x="5522976" y="4251960"/>
            <a:ext cx="2103120" cy="384048"/>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Reopen handling</a:t>
            </a:r>
            <a:endParaRPr lang="en-US" sz="1050" dirty="0"/>
          </a:p>
        </p:txBody>
      </p:sp>
      <p:sp>
        <p:nvSpPr>
          <p:cNvPr id="41" name="Text 39"/>
          <p:cNvSpPr/>
          <p:nvPr/>
        </p:nvSpPr>
        <p:spPr>
          <a:xfrm>
            <a:off x="7680960" y="4251960"/>
            <a:ext cx="3794760" cy="457200"/>
          </a:xfrm>
          <a:prstGeom prst="rect">
            <a:avLst/>
          </a:prstGeom>
          <a:noFill/>
          <a:ln/>
        </p:spPr>
        <p:txBody>
          <a:bodyPr wrap="square" lIns="0" tIns="0" rIns="0" bIns="0" rtlCol="0" anchor="ctr"/>
          <a:lstStyle/>
          <a:p>
            <a:pPr indent="0" marL="0">
              <a:lnSpc>
                <a:spcPts val="1200"/>
              </a:lnSpc>
              <a:buNone/>
            </a:pPr>
            <a:r>
              <a:rPr lang="en-US" sz="950" dirty="0">
                <a:solidFill>
                  <a:srgbClr val="1A1A1A"/>
                </a:solidFill>
                <a:latin typeface="Calibri" pitchFamily="34" charset="0"/>
                <a:ea typeface="Calibri" pitchFamily="34" charset="-122"/>
                <a:cs typeface="Calibri" pitchFamily="34" charset="-120"/>
              </a:rPr>
              <a:t>Reopened within 7 days → back to Triage, set Reopened = true</a:t>
            </a:r>
            <a:endParaRPr lang="en-US" sz="950" dirty="0"/>
          </a:p>
        </p:txBody>
      </p:sp>
      <p:sp>
        <p:nvSpPr>
          <p:cNvPr id="42" name="Shape 40"/>
          <p:cNvSpPr/>
          <p:nvPr/>
        </p:nvSpPr>
        <p:spPr>
          <a:xfrm>
            <a:off x="5157216" y="4901184"/>
            <a:ext cx="274320" cy="274320"/>
          </a:xfrm>
          <a:prstGeom prst="roundRect">
            <a:avLst>
              <a:gd name="adj" fmla="val 16667"/>
            </a:avLst>
          </a:prstGeom>
          <a:solidFill>
            <a:srgbClr val="27436F"/>
          </a:solidFill>
          <a:ln w="12700">
            <a:solidFill>
              <a:srgbClr val="27436F"/>
            </a:solidFill>
            <a:prstDash val="solid"/>
          </a:ln>
        </p:spPr>
      </p:sp>
      <p:sp>
        <p:nvSpPr>
          <p:cNvPr id="43" name="Text 41"/>
          <p:cNvSpPr/>
          <p:nvPr/>
        </p:nvSpPr>
        <p:spPr>
          <a:xfrm>
            <a:off x="5157216" y="49011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4" name="Text 42"/>
          <p:cNvSpPr/>
          <p:nvPr/>
        </p:nvSpPr>
        <p:spPr>
          <a:xfrm>
            <a:off x="5522976" y="4846320"/>
            <a:ext cx="2103120" cy="384048"/>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Auto-close</a:t>
            </a:r>
            <a:endParaRPr lang="en-US" sz="1050" dirty="0"/>
          </a:p>
        </p:txBody>
      </p:sp>
      <p:sp>
        <p:nvSpPr>
          <p:cNvPr id="45" name="Text 43"/>
          <p:cNvSpPr/>
          <p:nvPr/>
        </p:nvSpPr>
        <p:spPr>
          <a:xfrm>
            <a:off x="7680960" y="4846320"/>
            <a:ext cx="3794760" cy="457200"/>
          </a:xfrm>
          <a:prstGeom prst="rect">
            <a:avLst/>
          </a:prstGeom>
          <a:noFill/>
          <a:ln/>
        </p:spPr>
        <p:txBody>
          <a:bodyPr wrap="square" lIns="0" tIns="0" rIns="0" bIns="0" rtlCol="0" anchor="ctr"/>
          <a:lstStyle/>
          <a:p>
            <a:pPr indent="0" marL="0">
              <a:lnSpc>
                <a:spcPts val="1200"/>
              </a:lnSpc>
              <a:buNone/>
            </a:pPr>
            <a:r>
              <a:rPr lang="en-US" sz="950" dirty="0">
                <a:solidFill>
                  <a:srgbClr val="1A1A1A"/>
                </a:solidFill>
                <a:latin typeface="Calibri" pitchFamily="34" charset="0"/>
                <a:ea typeface="Calibri" pitchFamily="34" charset="-122"/>
                <a:cs typeface="Calibri" pitchFamily="34" charset="-120"/>
              </a:rPr>
              <a:t>Resolved with no customer response for 5 days → Closed</a:t>
            </a:r>
            <a:endParaRPr lang="en-US" sz="950" dirty="0"/>
          </a:p>
        </p:txBody>
      </p:sp>
      <p:sp>
        <p:nvSpPr>
          <p:cNvPr id="46" name="Shape 44"/>
          <p:cNvSpPr/>
          <p:nvPr/>
        </p:nvSpPr>
        <p:spPr>
          <a:xfrm>
            <a:off x="5157216" y="5495544"/>
            <a:ext cx="274320" cy="274320"/>
          </a:xfrm>
          <a:prstGeom prst="roundRect">
            <a:avLst>
              <a:gd name="adj" fmla="val 16667"/>
            </a:avLst>
          </a:prstGeom>
          <a:solidFill>
            <a:srgbClr val="27436F"/>
          </a:solidFill>
          <a:ln w="12700">
            <a:solidFill>
              <a:srgbClr val="27436F"/>
            </a:solidFill>
            <a:prstDash val="solid"/>
          </a:ln>
        </p:spPr>
      </p:sp>
      <p:sp>
        <p:nvSpPr>
          <p:cNvPr id="47" name="Text 45"/>
          <p:cNvSpPr/>
          <p:nvPr/>
        </p:nvSpPr>
        <p:spPr>
          <a:xfrm>
            <a:off x="5157216" y="54955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8" name="Text 46"/>
          <p:cNvSpPr/>
          <p:nvPr/>
        </p:nvSpPr>
        <p:spPr>
          <a:xfrm>
            <a:off x="5522976" y="5440680"/>
            <a:ext cx="2103120" cy="384048"/>
          </a:xfrm>
          <a:prstGeom prst="rect">
            <a:avLst/>
          </a:prstGeom>
          <a:noFill/>
          <a:ln/>
        </p:spPr>
        <p:txBody>
          <a:bodyPr wrap="square" lIns="0" tIns="0" rIns="0" bIns="0" rtlCol="0" anchor="ctr"/>
          <a:lstStyle/>
          <a:p>
            <a:pPr indent="0" marL="0">
              <a:lnSpc>
                <a:spcPts val="1250"/>
              </a:lnSpc>
              <a:buNone/>
            </a:pPr>
            <a:r>
              <a:rPr lang="en-US" sz="1050" b="1" dirty="0">
                <a:solidFill>
                  <a:srgbClr val="152A4E"/>
                </a:solidFill>
                <a:latin typeface="Calibri" pitchFamily="34" charset="0"/>
                <a:ea typeface="Calibri" pitchFamily="34" charset="-122"/>
                <a:cs typeface="Calibri" pitchFamily="34" charset="-120"/>
              </a:rPr>
              <a:t>Stale ticket nudge</a:t>
            </a:r>
            <a:endParaRPr lang="en-US" sz="1050" dirty="0"/>
          </a:p>
        </p:txBody>
      </p:sp>
      <p:sp>
        <p:nvSpPr>
          <p:cNvPr id="49" name="Text 47"/>
          <p:cNvSpPr/>
          <p:nvPr/>
        </p:nvSpPr>
        <p:spPr>
          <a:xfrm>
            <a:off x="7680960" y="5440680"/>
            <a:ext cx="3794760" cy="457200"/>
          </a:xfrm>
          <a:prstGeom prst="rect">
            <a:avLst/>
          </a:prstGeom>
          <a:noFill/>
          <a:ln/>
        </p:spPr>
        <p:txBody>
          <a:bodyPr wrap="square" lIns="0" tIns="0" rIns="0" bIns="0" rtlCol="0" anchor="ctr"/>
          <a:lstStyle/>
          <a:p>
            <a:pPr indent="0" marL="0">
              <a:lnSpc>
                <a:spcPts val="1200"/>
              </a:lnSpc>
              <a:buNone/>
            </a:pPr>
            <a:r>
              <a:rPr lang="en-US" sz="950" dirty="0">
                <a:solidFill>
                  <a:srgbClr val="1A1A1A"/>
                </a:solidFill>
                <a:latin typeface="Calibri" pitchFamily="34" charset="0"/>
                <a:ea typeface="Calibri" pitchFamily="34" charset="-122"/>
                <a:cs typeface="Calibri" pitchFamily="34" charset="-120"/>
              </a:rPr>
              <a:t>No update in 3 business days → notify the assignee</a:t>
            </a:r>
            <a:endParaRPr lang="en-US" sz="950" dirty="0"/>
          </a:p>
        </p:txBody>
      </p:sp>
      <p:sp>
        <p:nvSpPr>
          <p:cNvPr id="50" name="Text 48"/>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§10 queues and automation rules</a:t>
            </a:r>
            <a:endParaRPr lang="en-US" sz="850" dirty="0"/>
          </a:p>
        </p:txBody>
      </p:sp>
      <p:sp>
        <p:nvSpPr>
          <p:cNvPr id="51" name="Text 49"/>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A-7  ·  PERMISSIONS AND REPORTING</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The permission scheme stops L1 closing P1s or setting root cause, and seven standing views make the six metrics observable</a:t>
            </a:r>
            <a:endParaRPr lang="en-US" sz="1850" dirty="0"/>
          </a:p>
        </p:txBody>
      </p:sp>
      <p:sp>
        <p:nvSpPr>
          <p:cNvPr id="4" name="Text 2"/>
          <p:cNvSpPr/>
          <p:nvPr/>
        </p:nvSpPr>
        <p:spPr>
          <a:xfrm>
            <a:off x="10222992" y="274320"/>
            <a:ext cx="1463040" cy="219456"/>
          </a:xfrm>
          <a:prstGeom prst="rect">
            <a:avLst/>
          </a:prstGeom>
          <a:noFill/>
          <a:ln/>
        </p:spPr>
        <p:txBody>
          <a:bodyPr wrap="square" lIns="0" tIns="0" rIns="0" bIns="0" rtlCol="0" anchor="ctr"/>
          <a:lstStyle/>
          <a:p>
            <a:pPr algn="r" indent="0" marL="0">
              <a:buNone/>
            </a:pPr>
            <a:r>
              <a:rPr lang="en-US" sz="850" b="1" spc="140" kern="0" dirty="0">
                <a:solidFill>
                  <a:srgbClr val="6B7280"/>
                </a:solidFill>
                <a:latin typeface="Calibri" pitchFamily="34" charset="0"/>
                <a:ea typeface="Calibri" pitchFamily="34" charset="-122"/>
                <a:cs typeface="Calibri" pitchFamily="34" charset="-120"/>
              </a:rPr>
              <a:t>APPENDIX</a:t>
            </a:r>
            <a:endParaRPr lang="en-US" sz="850" dirty="0"/>
          </a:p>
        </p:txBody>
      </p:sp>
      <p:sp>
        <p:nvSpPr>
          <p:cNvPr id="5" name="Shape 3"/>
          <p:cNvSpPr/>
          <p:nvPr/>
        </p:nvSpPr>
        <p:spPr>
          <a:xfrm>
            <a:off x="502920" y="1444752"/>
            <a:ext cx="6400800" cy="365760"/>
          </a:xfrm>
          <a:prstGeom prst="rect">
            <a:avLst/>
          </a:prstGeom>
          <a:solidFill>
            <a:srgbClr val="152A4E"/>
          </a:solidFill>
          <a:ln w="12700">
            <a:solidFill>
              <a:srgbClr val="152A4E"/>
            </a:solidFill>
            <a:prstDash val="solid"/>
          </a:ln>
        </p:spPr>
      </p:sp>
      <p:sp>
        <p:nvSpPr>
          <p:cNvPr id="6" name="Text 4"/>
          <p:cNvSpPr/>
          <p:nvPr/>
        </p:nvSpPr>
        <p:spPr>
          <a:xfrm>
            <a:off x="630936" y="1444752"/>
            <a:ext cx="192024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Role</a:t>
            </a:r>
            <a:endParaRPr lang="en-US" sz="950" dirty="0"/>
          </a:p>
        </p:txBody>
      </p:sp>
      <p:sp>
        <p:nvSpPr>
          <p:cNvPr id="7" name="Text 5"/>
          <p:cNvSpPr/>
          <p:nvPr/>
        </p:nvSpPr>
        <p:spPr>
          <a:xfrm>
            <a:off x="2734056" y="1444752"/>
            <a:ext cx="411480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Rights</a:t>
            </a:r>
            <a:endParaRPr lang="en-US" sz="950" dirty="0"/>
          </a:p>
        </p:txBody>
      </p:sp>
      <p:sp>
        <p:nvSpPr>
          <p:cNvPr id="8" name="Shape 6"/>
          <p:cNvSpPr/>
          <p:nvPr/>
        </p:nvSpPr>
        <p:spPr>
          <a:xfrm>
            <a:off x="502920" y="1810512"/>
            <a:ext cx="6400800" cy="457200"/>
          </a:xfrm>
          <a:prstGeom prst="rect">
            <a:avLst/>
          </a:prstGeom>
          <a:solidFill>
            <a:srgbClr val="F2F5F9"/>
          </a:solidFill>
          <a:ln w="9525">
            <a:solidFill>
              <a:srgbClr val="D3DBE6"/>
            </a:solidFill>
            <a:prstDash val="solid"/>
          </a:ln>
        </p:spPr>
      </p:sp>
      <p:sp>
        <p:nvSpPr>
          <p:cNvPr id="9" name="Text 7"/>
          <p:cNvSpPr/>
          <p:nvPr/>
        </p:nvSpPr>
        <p:spPr>
          <a:xfrm>
            <a:off x="630936" y="1810512"/>
            <a:ext cx="1901952" cy="457200"/>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L1 Agent</a:t>
            </a:r>
            <a:endParaRPr lang="en-US" sz="1000" dirty="0"/>
          </a:p>
        </p:txBody>
      </p:sp>
      <p:sp>
        <p:nvSpPr>
          <p:cNvPr id="10" name="Text 8"/>
          <p:cNvSpPr/>
          <p:nvPr/>
        </p:nvSpPr>
        <p:spPr>
          <a:xfrm>
            <a:off x="2734056" y="1810512"/>
            <a:ext cx="4096512" cy="457200"/>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Create, transition to L2, comment; cannot close P1 or set Root Cause</a:t>
            </a:r>
            <a:endParaRPr lang="en-US" sz="1000" dirty="0"/>
          </a:p>
        </p:txBody>
      </p:sp>
      <p:sp>
        <p:nvSpPr>
          <p:cNvPr id="11" name="Shape 9"/>
          <p:cNvSpPr/>
          <p:nvPr/>
        </p:nvSpPr>
        <p:spPr>
          <a:xfrm>
            <a:off x="502920" y="2267712"/>
            <a:ext cx="6400800" cy="457200"/>
          </a:xfrm>
          <a:prstGeom prst="rect">
            <a:avLst/>
          </a:prstGeom>
          <a:solidFill>
            <a:srgbClr val="FFFFFF"/>
          </a:solidFill>
          <a:ln w="9525">
            <a:solidFill>
              <a:srgbClr val="D3DBE6"/>
            </a:solidFill>
            <a:prstDash val="solid"/>
          </a:ln>
        </p:spPr>
      </p:sp>
      <p:sp>
        <p:nvSpPr>
          <p:cNvPr id="12" name="Text 10"/>
          <p:cNvSpPr/>
          <p:nvPr/>
        </p:nvSpPr>
        <p:spPr>
          <a:xfrm>
            <a:off x="630936" y="2267712"/>
            <a:ext cx="1901952" cy="457200"/>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L2 Agent</a:t>
            </a:r>
            <a:endParaRPr lang="en-US" sz="1000" dirty="0"/>
          </a:p>
        </p:txBody>
      </p:sp>
      <p:sp>
        <p:nvSpPr>
          <p:cNvPr id="13" name="Text 11"/>
          <p:cNvSpPr/>
          <p:nvPr/>
        </p:nvSpPr>
        <p:spPr>
          <a:xfrm>
            <a:off x="2734056" y="2267712"/>
            <a:ext cx="4096512" cy="457200"/>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Full transition rights within own tower; sets Root Cause</a:t>
            </a:r>
            <a:endParaRPr lang="en-US" sz="1000" dirty="0"/>
          </a:p>
        </p:txBody>
      </p:sp>
      <p:sp>
        <p:nvSpPr>
          <p:cNvPr id="14" name="Shape 12"/>
          <p:cNvSpPr/>
          <p:nvPr/>
        </p:nvSpPr>
        <p:spPr>
          <a:xfrm>
            <a:off x="502920" y="2724912"/>
            <a:ext cx="6400800" cy="457200"/>
          </a:xfrm>
          <a:prstGeom prst="rect">
            <a:avLst/>
          </a:prstGeom>
          <a:solidFill>
            <a:srgbClr val="F2F5F9"/>
          </a:solidFill>
          <a:ln w="9525">
            <a:solidFill>
              <a:srgbClr val="D3DBE6"/>
            </a:solidFill>
            <a:prstDash val="solid"/>
          </a:ln>
        </p:spPr>
      </p:sp>
      <p:sp>
        <p:nvSpPr>
          <p:cNvPr id="15" name="Text 13"/>
          <p:cNvSpPr/>
          <p:nvPr/>
        </p:nvSpPr>
        <p:spPr>
          <a:xfrm>
            <a:off x="630936" y="2724912"/>
            <a:ext cx="1901952" cy="457200"/>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Tower Lead</a:t>
            </a:r>
            <a:endParaRPr lang="en-US" sz="1000" dirty="0"/>
          </a:p>
        </p:txBody>
      </p:sp>
      <p:sp>
        <p:nvSpPr>
          <p:cNvPr id="16" name="Text 14"/>
          <p:cNvSpPr/>
          <p:nvPr/>
        </p:nvSpPr>
        <p:spPr>
          <a:xfrm>
            <a:off x="2734056" y="2724912"/>
            <a:ext cx="4096512" cy="457200"/>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Reassign across towers, override priority, close P1</a:t>
            </a:r>
            <a:endParaRPr lang="en-US" sz="1000" dirty="0"/>
          </a:p>
        </p:txBody>
      </p:sp>
      <p:sp>
        <p:nvSpPr>
          <p:cNvPr id="17" name="Shape 15"/>
          <p:cNvSpPr/>
          <p:nvPr/>
        </p:nvSpPr>
        <p:spPr>
          <a:xfrm>
            <a:off x="502920" y="3182112"/>
            <a:ext cx="6400800" cy="457200"/>
          </a:xfrm>
          <a:prstGeom prst="rect">
            <a:avLst/>
          </a:prstGeom>
          <a:solidFill>
            <a:srgbClr val="FFFFFF"/>
          </a:solidFill>
          <a:ln w="9525">
            <a:solidFill>
              <a:srgbClr val="D3DBE6"/>
            </a:solidFill>
            <a:prstDash val="solid"/>
          </a:ln>
        </p:spPr>
      </p:sp>
      <p:sp>
        <p:nvSpPr>
          <p:cNvPr id="18" name="Text 16"/>
          <p:cNvSpPr/>
          <p:nvPr/>
        </p:nvSpPr>
        <p:spPr>
          <a:xfrm>
            <a:off x="630936" y="3182112"/>
            <a:ext cx="1901952" cy="457200"/>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Service Desk Manager</a:t>
            </a:r>
            <a:endParaRPr lang="en-US" sz="1000" dirty="0"/>
          </a:p>
        </p:txBody>
      </p:sp>
      <p:sp>
        <p:nvSpPr>
          <p:cNvPr id="19" name="Text 17"/>
          <p:cNvSpPr/>
          <p:nvPr/>
        </p:nvSpPr>
        <p:spPr>
          <a:xfrm>
            <a:off x="2734056" y="3182112"/>
            <a:ext cx="4096512" cy="457200"/>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Full project admin, SLA configuration</a:t>
            </a:r>
            <a:endParaRPr lang="en-US" sz="1000" dirty="0"/>
          </a:p>
        </p:txBody>
      </p:sp>
      <p:sp>
        <p:nvSpPr>
          <p:cNvPr id="20" name="Shape 18"/>
          <p:cNvSpPr/>
          <p:nvPr/>
        </p:nvSpPr>
        <p:spPr>
          <a:xfrm>
            <a:off x="502920" y="3639312"/>
            <a:ext cx="6400800" cy="457200"/>
          </a:xfrm>
          <a:prstGeom prst="rect">
            <a:avLst/>
          </a:prstGeom>
          <a:solidFill>
            <a:srgbClr val="F2F5F9"/>
          </a:solidFill>
          <a:ln w="9525">
            <a:solidFill>
              <a:srgbClr val="D3DBE6"/>
            </a:solidFill>
            <a:prstDash val="solid"/>
          </a:ln>
        </p:spPr>
      </p:sp>
      <p:sp>
        <p:nvSpPr>
          <p:cNvPr id="21" name="Text 19"/>
          <p:cNvSpPr/>
          <p:nvPr/>
        </p:nvSpPr>
        <p:spPr>
          <a:xfrm>
            <a:off x="630936" y="3639312"/>
            <a:ext cx="1901952" cy="457200"/>
          </a:xfrm>
          <a:prstGeom prst="rect">
            <a:avLst/>
          </a:prstGeom>
          <a:noFill/>
          <a:ln/>
        </p:spPr>
        <p:txBody>
          <a:bodyPr wrap="square" lIns="0" tIns="0" rIns="0" bIns="0" rtlCol="0" anchor="ctr"/>
          <a:lstStyle/>
          <a:p>
            <a:pPr indent="0" marL="0">
              <a:lnSpc>
                <a:spcPts val="1250"/>
              </a:lnSpc>
              <a:buNone/>
            </a:pPr>
            <a:r>
              <a:rPr lang="en-US" sz="1000" b="1" dirty="0">
                <a:solidFill>
                  <a:srgbClr val="152A4E"/>
                </a:solidFill>
                <a:latin typeface="Calibri" pitchFamily="34" charset="0"/>
                <a:ea typeface="Calibri" pitchFamily="34" charset="-122"/>
                <a:cs typeface="Calibri" pitchFamily="34" charset="-120"/>
              </a:rPr>
              <a:t>Customer</a:t>
            </a:r>
            <a:endParaRPr lang="en-US" sz="1000" dirty="0"/>
          </a:p>
        </p:txBody>
      </p:sp>
      <p:sp>
        <p:nvSpPr>
          <p:cNvPr id="22" name="Text 20"/>
          <p:cNvSpPr/>
          <p:nvPr/>
        </p:nvSpPr>
        <p:spPr>
          <a:xfrm>
            <a:off x="2734056" y="3639312"/>
            <a:ext cx="4096512" cy="457200"/>
          </a:xfrm>
          <a:prstGeom prst="rect">
            <a:avLst/>
          </a:prstGeom>
          <a:noFill/>
          <a:ln/>
        </p:spPr>
        <p:txBody>
          <a:bodyPr wrap="square" lIns="0" tIns="0" rIns="0" bIns="0" rtlCol="0" anchor="ctr"/>
          <a:lstStyle/>
          <a:p>
            <a:pPr indent="0" marL="0">
              <a:lnSpc>
                <a:spcPts val="1250"/>
              </a:lnSpc>
              <a:buNone/>
            </a:pPr>
            <a:r>
              <a:rPr lang="en-US" sz="1000" dirty="0">
                <a:solidFill>
                  <a:srgbClr val="1A1A1A"/>
                </a:solidFill>
                <a:latin typeface="Calibri" pitchFamily="34" charset="0"/>
                <a:ea typeface="Calibri" pitchFamily="34" charset="-122"/>
                <a:cs typeface="Calibri" pitchFamily="34" charset="-120"/>
              </a:rPr>
              <a:t>Portal only: raise, comment, view own tickets  [requires JSM]</a:t>
            </a:r>
            <a:endParaRPr lang="en-US" sz="1000" dirty="0"/>
          </a:p>
        </p:txBody>
      </p:sp>
      <p:sp>
        <p:nvSpPr>
          <p:cNvPr id="23" name="Shape 21"/>
          <p:cNvSpPr/>
          <p:nvPr/>
        </p:nvSpPr>
        <p:spPr>
          <a:xfrm>
            <a:off x="502920" y="4160520"/>
            <a:ext cx="6400800" cy="1874520"/>
          </a:xfrm>
          <a:prstGeom prst="roundRect">
            <a:avLst>
              <a:gd name="adj" fmla="val 2927"/>
            </a:avLst>
          </a:prstGeom>
          <a:solidFill>
            <a:srgbClr val="FBEEDA"/>
          </a:solidFill>
          <a:ln w="12700">
            <a:solidFill>
              <a:srgbClr val="DFC08A"/>
            </a:solidFill>
            <a:prstDash val="solid"/>
          </a:ln>
          <a:effectLst>
            <a:outerShdw sx="100000" sy="100000" kx="0" ky="0" algn="bl" rotWithShape="0" blurRad="76200" dist="12700" dir="5400000">
              <a:srgbClr val="9AA7BA">
                <a:alpha val="22000"/>
              </a:srgbClr>
            </a:outerShdw>
          </a:effectLst>
        </p:spPr>
      </p:sp>
      <p:sp>
        <p:nvSpPr>
          <p:cNvPr id="24" name="Text 22"/>
          <p:cNvSpPr/>
          <p:nvPr/>
        </p:nvSpPr>
        <p:spPr>
          <a:xfrm>
            <a:off x="722376" y="4279392"/>
            <a:ext cx="5943600" cy="256032"/>
          </a:xfrm>
          <a:prstGeom prst="rect">
            <a:avLst/>
          </a:prstGeom>
          <a:noFill/>
          <a:ln/>
        </p:spPr>
        <p:txBody>
          <a:bodyPr wrap="square" lIns="0" tIns="0" rIns="0" bIns="0" rtlCol="0" anchor="ctr"/>
          <a:lstStyle/>
          <a:p>
            <a:pPr indent="0" marL="0">
              <a:buNone/>
            </a:pPr>
            <a:r>
              <a:rPr lang="en-US" sz="1150" b="1" dirty="0">
                <a:solidFill>
                  <a:srgbClr val="A86A11"/>
                </a:solidFill>
                <a:latin typeface="Calibri" pitchFamily="34" charset="0"/>
                <a:ea typeface="Calibri" pitchFamily="34" charset="-122"/>
                <a:cs typeface="Calibri" pitchFamily="34" charset="-120"/>
              </a:rPr>
              <a:t>Permission hardening is scope-dependent</a:t>
            </a:r>
            <a:endParaRPr lang="en-US" sz="1150" dirty="0"/>
          </a:p>
        </p:txBody>
      </p:sp>
      <p:sp>
        <p:nvSpPr>
          <p:cNvPr id="25" name="Text 23"/>
          <p:cNvSpPr/>
          <p:nvPr/>
        </p:nvSpPr>
        <p:spPr>
          <a:xfrm>
            <a:off x="722376" y="4572000"/>
            <a:ext cx="5943600" cy="1298448"/>
          </a:xfrm>
          <a:prstGeom prst="rect">
            <a:avLst/>
          </a:prstGeom>
          <a:noFill/>
          <a:ln/>
        </p:spPr>
        <p:txBody>
          <a:bodyPr wrap="square" lIns="0" tIns="0" rIns="0" bIns="0" rtlCol="0" anchor="ctr"/>
          <a:lstStyle/>
          <a:p>
            <a:pPr indent="0" marL="0">
              <a:lnSpc>
                <a:spcPts val="1350"/>
              </a:lnSpc>
              <a:buNone/>
            </a:pPr>
            <a:r>
              <a:rPr lang="en-US" sz="1000" dirty="0">
                <a:solidFill>
                  <a:srgbClr val="1A1A1A"/>
                </a:solidFill>
                <a:latin typeface="Calibri" pitchFamily="34" charset="0"/>
                <a:ea typeface="Calibri" pitchFamily="34" charset="-122"/>
                <a:cs typeface="Calibri" pitchFamily="34" charset="-120"/>
              </a:rPr>
              <a:t>A demo can run on the JSM free tier and skip the full scheme. A production rollout needs this table implemented in full, plus a licence count. Which of the two this is remains an open question — see A-8. Note that tightening transition permissions is also the mitigation for the escalation-gate bypass risk on slide 10.</a:t>
            </a:r>
            <a:endParaRPr lang="en-US" sz="1000" dirty="0"/>
          </a:p>
        </p:txBody>
      </p:sp>
      <p:sp>
        <p:nvSpPr>
          <p:cNvPr id="26" name="Shape 24"/>
          <p:cNvSpPr/>
          <p:nvPr/>
        </p:nvSpPr>
        <p:spPr>
          <a:xfrm>
            <a:off x="7223760" y="1444752"/>
            <a:ext cx="4462272" cy="4590288"/>
          </a:xfrm>
          <a:prstGeom prst="roundRect">
            <a:avLst>
              <a:gd name="adj" fmla="val 1230"/>
            </a:avLst>
          </a:prstGeom>
          <a:solidFill>
            <a:srgbClr val="F2F5F9"/>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7" name="Text 25"/>
          <p:cNvSpPr/>
          <p:nvPr/>
        </p:nvSpPr>
        <p:spPr>
          <a:xfrm>
            <a:off x="7424928" y="1572768"/>
            <a:ext cx="4069080" cy="219456"/>
          </a:xfrm>
          <a:prstGeom prst="rect">
            <a:avLst/>
          </a:prstGeom>
          <a:noFill/>
          <a:ln/>
        </p:spPr>
        <p:txBody>
          <a:bodyPr wrap="square" lIns="0" tIns="0" rIns="0" bIns="0" rtlCol="0" anchor="ctr"/>
          <a:lstStyle/>
          <a:p>
            <a:pPr indent="0" marL="0">
              <a:buNone/>
            </a:pPr>
            <a:r>
              <a:rPr lang="en-US" sz="900" b="1" spc="110" kern="0" dirty="0">
                <a:solidFill>
                  <a:srgbClr val="0E7C7B"/>
                </a:solidFill>
                <a:latin typeface="Calibri" pitchFamily="34" charset="0"/>
                <a:ea typeface="Calibri" pitchFamily="34" charset="-122"/>
                <a:cs typeface="Calibri" pitchFamily="34" charset="-120"/>
              </a:rPr>
              <a:t>REPORTING VIEWS</a:t>
            </a:r>
            <a:endParaRPr lang="en-US" sz="900" dirty="0"/>
          </a:p>
        </p:txBody>
      </p:sp>
      <p:sp>
        <p:nvSpPr>
          <p:cNvPr id="28" name="Shape 26"/>
          <p:cNvSpPr/>
          <p:nvPr/>
        </p:nvSpPr>
        <p:spPr>
          <a:xfrm>
            <a:off x="7424928" y="1911096"/>
            <a:ext cx="256032" cy="256032"/>
          </a:xfrm>
          <a:prstGeom prst="roundRect">
            <a:avLst>
              <a:gd name="adj" fmla="val 17857"/>
            </a:avLst>
          </a:prstGeom>
          <a:solidFill>
            <a:srgbClr val="0E7C7B"/>
          </a:solidFill>
          <a:ln w="12700">
            <a:solidFill>
              <a:srgbClr val="0E7C7B"/>
            </a:solidFill>
            <a:prstDash val="solid"/>
          </a:ln>
        </p:spPr>
      </p:sp>
      <p:sp>
        <p:nvSpPr>
          <p:cNvPr id="29" name="Text 27"/>
          <p:cNvSpPr/>
          <p:nvPr/>
        </p:nvSpPr>
        <p:spPr>
          <a:xfrm>
            <a:off x="7424928" y="1911096"/>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30" name="Text 28"/>
          <p:cNvSpPr/>
          <p:nvPr/>
        </p:nvSpPr>
        <p:spPr>
          <a:xfrm>
            <a:off x="7772400" y="1874520"/>
            <a:ext cx="3703320" cy="36576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First-time resolution at L1 — target ≥ 65%</a:t>
            </a:r>
            <a:endParaRPr lang="en-US" sz="1050" dirty="0"/>
          </a:p>
        </p:txBody>
      </p:sp>
      <p:sp>
        <p:nvSpPr>
          <p:cNvPr id="31" name="Shape 29"/>
          <p:cNvSpPr/>
          <p:nvPr/>
        </p:nvSpPr>
        <p:spPr>
          <a:xfrm>
            <a:off x="7424928" y="2386584"/>
            <a:ext cx="256032" cy="256032"/>
          </a:xfrm>
          <a:prstGeom prst="roundRect">
            <a:avLst>
              <a:gd name="adj" fmla="val 17857"/>
            </a:avLst>
          </a:prstGeom>
          <a:solidFill>
            <a:srgbClr val="0E7C7B"/>
          </a:solidFill>
          <a:ln w="12700">
            <a:solidFill>
              <a:srgbClr val="0E7C7B"/>
            </a:solidFill>
            <a:prstDash val="solid"/>
          </a:ln>
        </p:spPr>
      </p:sp>
      <p:sp>
        <p:nvSpPr>
          <p:cNvPr id="32" name="Text 30"/>
          <p:cNvSpPr/>
          <p:nvPr/>
        </p:nvSpPr>
        <p:spPr>
          <a:xfrm>
            <a:off x="7424928" y="2386584"/>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33" name="Text 31"/>
          <p:cNvSpPr/>
          <p:nvPr/>
        </p:nvSpPr>
        <p:spPr>
          <a:xfrm>
            <a:off x="7772400" y="2350008"/>
            <a:ext cx="3703320" cy="36576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Escalation rate by tower and by analyst</a:t>
            </a:r>
            <a:endParaRPr lang="en-US" sz="1050" dirty="0"/>
          </a:p>
        </p:txBody>
      </p:sp>
      <p:sp>
        <p:nvSpPr>
          <p:cNvPr id="34" name="Shape 32"/>
          <p:cNvSpPr/>
          <p:nvPr/>
        </p:nvSpPr>
        <p:spPr>
          <a:xfrm>
            <a:off x="7424928" y="2862072"/>
            <a:ext cx="256032" cy="256032"/>
          </a:xfrm>
          <a:prstGeom prst="roundRect">
            <a:avLst>
              <a:gd name="adj" fmla="val 17857"/>
            </a:avLst>
          </a:prstGeom>
          <a:solidFill>
            <a:srgbClr val="0E7C7B"/>
          </a:solidFill>
          <a:ln w="12700">
            <a:solidFill>
              <a:srgbClr val="0E7C7B"/>
            </a:solidFill>
            <a:prstDash val="solid"/>
          </a:ln>
        </p:spPr>
      </p:sp>
      <p:sp>
        <p:nvSpPr>
          <p:cNvPr id="35" name="Text 33"/>
          <p:cNvSpPr/>
          <p:nvPr/>
        </p:nvSpPr>
        <p:spPr>
          <a:xfrm>
            <a:off x="7424928" y="2862072"/>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36" name="Text 34"/>
          <p:cNvSpPr/>
          <p:nvPr/>
        </p:nvSpPr>
        <p:spPr>
          <a:xfrm>
            <a:off x="7772400" y="2825496"/>
            <a:ext cx="3703320" cy="36576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SLA attainment by priority and by tower</a:t>
            </a:r>
            <a:endParaRPr lang="en-US" sz="1050" dirty="0"/>
          </a:p>
        </p:txBody>
      </p:sp>
      <p:sp>
        <p:nvSpPr>
          <p:cNvPr id="37" name="Shape 35"/>
          <p:cNvSpPr/>
          <p:nvPr/>
        </p:nvSpPr>
        <p:spPr>
          <a:xfrm>
            <a:off x="7424928" y="3337560"/>
            <a:ext cx="256032" cy="256032"/>
          </a:xfrm>
          <a:prstGeom prst="roundRect">
            <a:avLst>
              <a:gd name="adj" fmla="val 17857"/>
            </a:avLst>
          </a:prstGeom>
          <a:solidFill>
            <a:srgbClr val="0E7C7B"/>
          </a:solidFill>
          <a:ln w="12700">
            <a:solidFill>
              <a:srgbClr val="0E7C7B"/>
            </a:solidFill>
            <a:prstDash val="solid"/>
          </a:ln>
        </p:spPr>
      </p:sp>
      <p:sp>
        <p:nvSpPr>
          <p:cNvPr id="38" name="Text 36"/>
          <p:cNvSpPr/>
          <p:nvPr/>
        </p:nvSpPr>
        <p:spPr>
          <a:xfrm>
            <a:off x="7424928" y="3337560"/>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39" name="Text 37"/>
          <p:cNvSpPr/>
          <p:nvPr/>
        </p:nvSpPr>
        <p:spPr>
          <a:xfrm>
            <a:off x="7772400" y="3300984"/>
            <a:ext cx="3703320" cy="36576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MTTR by tower, split L1-resolved vs L2-resolved</a:t>
            </a:r>
            <a:endParaRPr lang="en-US" sz="1050" dirty="0"/>
          </a:p>
        </p:txBody>
      </p:sp>
      <p:sp>
        <p:nvSpPr>
          <p:cNvPr id="40" name="Shape 38"/>
          <p:cNvSpPr/>
          <p:nvPr/>
        </p:nvSpPr>
        <p:spPr>
          <a:xfrm>
            <a:off x="7424928" y="3813048"/>
            <a:ext cx="256032" cy="256032"/>
          </a:xfrm>
          <a:prstGeom prst="roundRect">
            <a:avLst>
              <a:gd name="adj" fmla="val 17857"/>
            </a:avLst>
          </a:prstGeom>
          <a:solidFill>
            <a:srgbClr val="0E7C7B"/>
          </a:solidFill>
          <a:ln w="12700">
            <a:solidFill>
              <a:srgbClr val="0E7C7B"/>
            </a:solidFill>
            <a:prstDash val="solid"/>
          </a:ln>
        </p:spPr>
      </p:sp>
      <p:sp>
        <p:nvSpPr>
          <p:cNvPr id="41" name="Text 39"/>
          <p:cNvSpPr/>
          <p:nvPr/>
        </p:nvSpPr>
        <p:spPr>
          <a:xfrm>
            <a:off x="7424928" y="3813048"/>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42" name="Text 40"/>
          <p:cNvSpPr/>
          <p:nvPr/>
        </p:nvSpPr>
        <p:spPr>
          <a:xfrm>
            <a:off x="7772400" y="3776472"/>
            <a:ext cx="3703320" cy="36576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Backlog aging — over 7, 14 and 30 days</a:t>
            </a:r>
            <a:endParaRPr lang="en-US" sz="1050" dirty="0"/>
          </a:p>
        </p:txBody>
      </p:sp>
      <p:sp>
        <p:nvSpPr>
          <p:cNvPr id="43" name="Shape 41"/>
          <p:cNvSpPr/>
          <p:nvPr/>
        </p:nvSpPr>
        <p:spPr>
          <a:xfrm>
            <a:off x="7424928" y="4288536"/>
            <a:ext cx="256032" cy="256032"/>
          </a:xfrm>
          <a:prstGeom prst="roundRect">
            <a:avLst>
              <a:gd name="adj" fmla="val 17857"/>
            </a:avLst>
          </a:prstGeom>
          <a:solidFill>
            <a:srgbClr val="0E7C7B"/>
          </a:solidFill>
          <a:ln w="12700">
            <a:solidFill>
              <a:srgbClr val="0E7C7B"/>
            </a:solidFill>
            <a:prstDash val="solid"/>
          </a:ln>
        </p:spPr>
      </p:sp>
      <p:sp>
        <p:nvSpPr>
          <p:cNvPr id="44" name="Text 42"/>
          <p:cNvSpPr/>
          <p:nvPr/>
        </p:nvSpPr>
        <p:spPr>
          <a:xfrm>
            <a:off x="7424928" y="4288536"/>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45" name="Text 43"/>
          <p:cNvSpPr/>
          <p:nvPr/>
        </p:nvSpPr>
        <p:spPr>
          <a:xfrm>
            <a:off x="7772400" y="4251960"/>
            <a:ext cx="3703320" cy="36576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Reopen rate — target &lt; 5%</a:t>
            </a:r>
            <a:endParaRPr lang="en-US" sz="1050" dirty="0"/>
          </a:p>
        </p:txBody>
      </p:sp>
      <p:sp>
        <p:nvSpPr>
          <p:cNvPr id="46" name="Shape 44"/>
          <p:cNvSpPr/>
          <p:nvPr/>
        </p:nvSpPr>
        <p:spPr>
          <a:xfrm>
            <a:off x="7424928" y="4764024"/>
            <a:ext cx="256032" cy="256032"/>
          </a:xfrm>
          <a:prstGeom prst="roundRect">
            <a:avLst>
              <a:gd name="adj" fmla="val 17857"/>
            </a:avLst>
          </a:prstGeom>
          <a:solidFill>
            <a:srgbClr val="0E7C7B"/>
          </a:solidFill>
          <a:ln w="12700">
            <a:solidFill>
              <a:srgbClr val="0E7C7B"/>
            </a:solidFill>
            <a:prstDash val="solid"/>
          </a:ln>
        </p:spPr>
      </p:sp>
      <p:sp>
        <p:nvSpPr>
          <p:cNvPr id="47" name="Text 45"/>
          <p:cNvSpPr/>
          <p:nvPr/>
        </p:nvSpPr>
        <p:spPr>
          <a:xfrm>
            <a:off x="7424928" y="4764024"/>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a:t>
            </a:r>
            <a:endParaRPr lang="en-US" sz="950" dirty="0"/>
          </a:p>
        </p:txBody>
      </p:sp>
      <p:sp>
        <p:nvSpPr>
          <p:cNvPr id="48" name="Text 46"/>
          <p:cNvSpPr/>
          <p:nvPr/>
        </p:nvSpPr>
        <p:spPr>
          <a:xfrm>
            <a:off x="7772400" y="4727448"/>
            <a:ext cx="3703320" cy="365760"/>
          </a:xfrm>
          <a:prstGeom prst="rect">
            <a:avLst/>
          </a:prstGeom>
          <a:noFill/>
          <a:ln/>
        </p:spPr>
        <p:txBody>
          <a:bodyPr wrap="square" lIns="0" tIns="0" rIns="0" bIns="0" rtlCol="0" anchor="ctr"/>
          <a:lstStyle/>
          <a:p>
            <a:pPr indent="0" marL="0">
              <a:lnSpc>
                <a:spcPts val="1250"/>
              </a:lnSpc>
              <a:buNone/>
            </a:pPr>
            <a:r>
              <a:rPr lang="en-US" sz="1050" dirty="0">
                <a:solidFill>
                  <a:srgbClr val="1A1A1A"/>
                </a:solidFill>
                <a:latin typeface="Calibri" pitchFamily="34" charset="0"/>
                <a:ea typeface="Calibri" pitchFamily="34" charset="-122"/>
                <a:cs typeface="Calibri" pitchFamily="34" charset="-120"/>
              </a:rPr>
              <a:t>Top 10 recurring issues</a:t>
            </a:r>
            <a:endParaRPr lang="en-US" sz="1050" dirty="0"/>
          </a:p>
        </p:txBody>
      </p:sp>
      <p:sp>
        <p:nvSpPr>
          <p:cNvPr id="49" name="Text 47"/>
          <p:cNvSpPr/>
          <p:nvPr/>
        </p:nvSpPr>
        <p:spPr>
          <a:xfrm>
            <a:off x="7424928" y="5285232"/>
            <a:ext cx="4069080" cy="658368"/>
          </a:xfrm>
          <a:prstGeom prst="rect">
            <a:avLst/>
          </a:prstGeom>
          <a:noFill/>
          <a:ln/>
        </p:spPr>
        <p:txBody>
          <a:bodyPr wrap="square" lIns="0" tIns="0" rIns="0" bIns="0" rtlCol="0" anchor="ctr"/>
          <a:lstStyle/>
          <a:p>
            <a:pPr indent="0" marL="0">
              <a:lnSpc>
                <a:spcPts val="1250"/>
              </a:lnSpc>
              <a:buNone/>
            </a:pPr>
            <a:r>
              <a:rPr lang="en-US" sz="950" i="1" dirty="0">
                <a:solidFill>
                  <a:srgbClr val="152A4E"/>
                </a:solidFill>
                <a:latin typeface="Calibri" pitchFamily="34" charset="0"/>
                <a:ea typeface="Calibri" pitchFamily="34" charset="-122"/>
                <a:cs typeface="Calibri" pitchFamily="34" charset="-120"/>
              </a:rPr>
              <a:t>The last one is the flywheel: top recurring issues become Problem records, Problem records become KB articles, and KB articles drive L1 deflection in every tower that follows.</a:t>
            </a:r>
            <a:endParaRPr lang="en-US" sz="950" dirty="0"/>
          </a:p>
        </p:txBody>
      </p:sp>
      <p:sp>
        <p:nvSpPr>
          <p:cNvPr id="50" name="Text 48"/>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§10 permissions and reporting</a:t>
            </a:r>
            <a:endParaRPr lang="en-US" sz="850" dirty="0"/>
          </a:p>
        </p:txBody>
      </p:sp>
      <p:sp>
        <p:nvSpPr>
          <p:cNvPr id="51" name="Text 49"/>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74320"/>
            <a:ext cx="8686800" cy="219456"/>
          </a:xfrm>
          <a:prstGeom prst="rect">
            <a:avLst/>
          </a:prstGeom>
          <a:noFill/>
          <a:ln/>
        </p:spPr>
        <p:txBody>
          <a:bodyPr wrap="square" lIns="0" tIns="0" rIns="0" bIns="0" rtlCol="0" anchor="ctr"/>
          <a:lstStyle/>
          <a:p>
            <a:pPr indent="0" marL="0">
              <a:buNone/>
            </a:pPr>
            <a:r>
              <a:rPr lang="en-US" sz="900" b="1" spc="160" kern="0" dirty="0">
                <a:solidFill>
                  <a:srgbClr val="0E7C7B"/>
                </a:solidFill>
                <a:latin typeface="Calibri" pitchFamily="34" charset="0"/>
                <a:ea typeface="Calibri" pitchFamily="34" charset="-122"/>
                <a:cs typeface="Calibri" pitchFamily="34" charset="-120"/>
              </a:rPr>
              <a:t>A-8  ·  OPEN QUESTIONS</a:t>
            </a:r>
            <a:endParaRPr lang="en-US" sz="900" dirty="0"/>
          </a:p>
        </p:txBody>
      </p:sp>
      <p:sp>
        <p:nvSpPr>
          <p:cNvPr id="3" name="Text 1"/>
          <p:cNvSpPr/>
          <p:nvPr/>
        </p:nvSpPr>
        <p:spPr>
          <a:xfrm>
            <a:off x="502920" y="530352"/>
            <a:ext cx="11183112" cy="658368"/>
          </a:xfrm>
          <a:prstGeom prst="rect">
            <a:avLst/>
          </a:prstGeom>
          <a:noFill/>
          <a:ln/>
        </p:spPr>
        <p:txBody>
          <a:bodyPr wrap="square" lIns="0" tIns="0" rIns="0" bIns="0" rtlCol="0" anchor="t"/>
          <a:lstStyle/>
          <a:p>
            <a:pPr indent="0" marL="0">
              <a:lnSpc>
                <a:spcPts val="2400"/>
              </a:lnSpc>
              <a:buNone/>
            </a:pPr>
            <a:r>
              <a:rPr lang="en-US" sz="1850" b="1" dirty="0">
                <a:solidFill>
                  <a:srgbClr val="152A4E"/>
                </a:solidFill>
                <a:latin typeface="Cambria" pitchFamily="34" charset="0"/>
                <a:ea typeface="Cambria" pitchFamily="34" charset="-122"/>
                <a:cs typeface="Cambria" pitchFamily="34" charset="-120"/>
              </a:rPr>
              <a:t>Six questions gate the full build, and the first three are the fork in the road — everything downstream is sequencing</a:t>
            </a:r>
            <a:endParaRPr lang="en-US" sz="1850" dirty="0"/>
          </a:p>
        </p:txBody>
      </p:sp>
      <p:sp>
        <p:nvSpPr>
          <p:cNvPr id="4" name="Text 2"/>
          <p:cNvSpPr/>
          <p:nvPr/>
        </p:nvSpPr>
        <p:spPr>
          <a:xfrm>
            <a:off x="10222992" y="274320"/>
            <a:ext cx="1463040" cy="219456"/>
          </a:xfrm>
          <a:prstGeom prst="rect">
            <a:avLst/>
          </a:prstGeom>
          <a:noFill/>
          <a:ln/>
        </p:spPr>
        <p:txBody>
          <a:bodyPr wrap="square" lIns="0" tIns="0" rIns="0" bIns="0" rtlCol="0" anchor="ctr"/>
          <a:lstStyle/>
          <a:p>
            <a:pPr algn="r" indent="0" marL="0">
              <a:buNone/>
            </a:pPr>
            <a:r>
              <a:rPr lang="en-US" sz="850" b="1" spc="140" kern="0" dirty="0">
                <a:solidFill>
                  <a:srgbClr val="6B7280"/>
                </a:solidFill>
                <a:latin typeface="Calibri" pitchFamily="34" charset="0"/>
                <a:ea typeface="Calibri" pitchFamily="34" charset="-122"/>
                <a:cs typeface="Calibri" pitchFamily="34" charset="-120"/>
              </a:rPr>
              <a:t>APPENDIX</a:t>
            </a:r>
            <a:endParaRPr lang="en-US" sz="850" dirty="0"/>
          </a:p>
        </p:txBody>
      </p:sp>
      <p:sp>
        <p:nvSpPr>
          <p:cNvPr id="5" name="Shape 3"/>
          <p:cNvSpPr/>
          <p:nvPr/>
        </p:nvSpPr>
        <p:spPr>
          <a:xfrm>
            <a:off x="502920" y="1417320"/>
            <a:ext cx="5477256" cy="1143000"/>
          </a:xfrm>
          <a:prstGeom prst="roundRect">
            <a:avLst>
              <a:gd name="adj" fmla="val 4800"/>
            </a:avLst>
          </a:prstGeom>
          <a:solidFill>
            <a:srgbClr val="FBEEDA"/>
          </a:solidFill>
          <a:ln w="12700">
            <a:solidFill>
              <a:srgbClr val="DFC08A"/>
            </a:solidFill>
            <a:prstDash val="solid"/>
          </a:ln>
          <a:effectLst>
            <a:outerShdw sx="100000" sy="100000" kx="0" ky="0" algn="bl" rotWithShape="0" blurRad="76200" dist="12700" dir="5400000">
              <a:srgbClr val="9AA7BA">
                <a:alpha val="22000"/>
              </a:srgbClr>
            </a:outerShdw>
          </a:effectLst>
        </p:spPr>
      </p:sp>
      <p:sp>
        <p:nvSpPr>
          <p:cNvPr id="6" name="Shape 4"/>
          <p:cNvSpPr/>
          <p:nvPr/>
        </p:nvSpPr>
        <p:spPr>
          <a:xfrm>
            <a:off x="704088" y="1563624"/>
            <a:ext cx="292608" cy="292608"/>
          </a:xfrm>
          <a:prstGeom prst="roundRect">
            <a:avLst>
              <a:gd name="adj" fmla="val 15625"/>
            </a:avLst>
          </a:prstGeom>
          <a:solidFill>
            <a:srgbClr val="A86A11"/>
          </a:solidFill>
          <a:ln w="12700">
            <a:solidFill>
              <a:srgbClr val="A86A11"/>
            </a:solidFill>
            <a:prstDash val="solid"/>
          </a:ln>
        </p:spPr>
      </p:sp>
      <p:sp>
        <p:nvSpPr>
          <p:cNvPr id="7" name="Text 5"/>
          <p:cNvSpPr/>
          <p:nvPr/>
        </p:nvSpPr>
        <p:spPr>
          <a:xfrm>
            <a:off x="704088" y="15636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106424" y="1536192"/>
            <a:ext cx="3694176" cy="347472"/>
          </a:xfrm>
          <a:prstGeom prst="rect">
            <a:avLst/>
          </a:prstGeom>
          <a:noFill/>
          <a:ln/>
        </p:spPr>
        <p:txBody>
          <a:bodyPr wrap="square" lIns="0" tIns="0" rIns="0" bIns="0" rtlCol="0" anchor="t"/>
          <a:lstStyle/>
          <a:p>
            <a:pPr indent="0" marL="0">
              <a:lnSpc>
                <a:spcPts val="1500"/>
              </a:lnSpc>
              <a:buNone/>
            </a:pPr>
            <a:r>
              <a:rPr lang="en-US" sz="1200" b="1" dirty="0">
                <a:solidFill>
                  <a:srgbClr val="152A4E"/>
                </a:solidFill>
                <a:latin typeface="Calibri" pitchFamily="34" charset="0"/>
                <a:ea typeface="Calibri" pitchFamily="34" charset="-122"/>
                <a:cs typeface="Calibri" pitchFamily="34" charset="-120"/>
              </a:rPr>
              <a:t>Provision JSM, or build on Jira Software?</a:t>
            </a:r>
            <a:endParaRPr lang="en-US" sz="1200" dirty="0"/>
          </a:p>
        </p:txBody>
      </p:sp>
      <p:sp>
        <p:nvSpPr>
          <p:cNvPr id="9" name="Text 7"/>
          <p:cNvSpPr/>
          <p:nvPr/>
        </p:nvSpPr>
        <p:spPr>
          <a:xfrm>
            <a:off x="1106424" y="1920240"/>
            <a:ext cx="4654296"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The fork in the road. Without JSM there is no SLA engine, no queues, no portal. Recommendation on slide 9.</a:t>
            </a:r>
            <a:endParaRPr lang="en-US" sz="1000" dirty="0"/>
          </a:p>
        </p:txBody>
      </p:sp>
      <p:sp>
        <p:nvSpPr>
          <p:cNvPr id="10" name="Shape 8"/>
          <p:cNvSpPr/>
          <p:nvPr/>
        </p:nvSpPr>
        <p:spPr>
          <a:xfrm>
            <a:off x="4928616" y="1572768"/>
            <a:ext cx="850392" cy="237744"/>
          </a:xfrm>
          <a:prstGeom prst="roundRect">
            <a:avLst>
              <a:gd name="adj" fmla="val 19231"/>
            </a:avLst>
          </a:prstGeom>
          <a:solidFill>
            <a:srgbClr val="A86A11"/>
          </a:solidFill>
          <a:ln w="12700">
            <a:solidFill>
              <a:srgbClr val="A86A11"/>
            </a:solidFill>
            <a:prstDash val="solid"/>
          </a:ln>
        </p:spPr>
      </p:sp>
      <p:sp>
        <p:nvSpPr>
          <p:cNvPr id="11" name="Text 9"/>
          <p:cNvSpPr/>
          <p:nvPr/>
        </p:nvSpPr>
        <p:spPr>
          <a:xfrm>
            <a:off x="4928616" y="1572768"/>
            <a:ext cx="850392"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BLOCKING</a:t>
            </a:r>
            <a:endParaRPr lang="en-US" sz="750" dirty="0"/>
          </a:p>
        </p:txBody>
      </p:sp>
      <p:sp>
        <p:nvSpPr>
          <p:cNvPr id="12" name="Shape 10"/>
          <p:cNvSpPr/>
          <p:nvPr/>
        </p:nvSpPr>
        <p:spPr>
          <a:xfrm>
            <a:off x="6208776" y="1417320"/>
            <a:ext cx="5477256" cy="1143000"/>
          </a:xfrm>
          <a:prstGeom prst="roundRect">
            <a:avLst>
              <a:gd name="adj" fmla="val 4800"/>
            </a:avLst>
          </a:prstGeom>
          <a:solidFill>
            <a:srgbClr val="FBEEDA"/>
          </a:solidFill>
          <a:ln w="12700">
            <a:solidFill>
              <a:srgbClr val="DFC08A"/>
            </a:solidFill>
            <a:prstDash val="solid"/>
          </a:ln>
          <a:effectLst>
            <a:outerShdw sx="100000" sy="100000" kx="0" ky="0" algn="bl" rotWithShape="0" blurRad="76200" dist="12700" dir="5400000">
              <a:srgbClr val="9AA7BA">
                <a:alpha val="22000"/>
              </a:srgbClr>
            </a:outerShdw>
          </a:effectLst>
        </p:spPr>
      </p:sp>
      <p:sp>
        <p:nvSpPr>
          <p:cNvPr id="13" name="Shape 11"/>
          <p:cNvSpPr/>
          <p:nvPr/>
        </p:nvSpPr>
        <p:spPr>
          <a:xfrm>
            <a:off x="6409944" y="1563624"/>
            <a:ext cx="292608" cy="292608"/>
          </a:xfrm>
          <a:prstGeom prst="roundRect">
            <a:avLst>
              <a:gd name="adj" fmla="val 15625"/>
            </a:avLst>
          </a:prstGeom>
          <a:solidFill>
            <a:srgbClr val="A86A11"/>
          </a:solidFill>
          <a:ln w="12700">
            <a:solidFill>
              <a:srgbClr val="A86A11"/>
            </a:solidFill>
            <a:prstDash val="solid"/>
          </a:ln>
        </p:spPr>
      </p:sp>
      <p:sp>
        <p:nvSpPr>
          <p:cNvPr id="14" name="Text 12"/>
          <p:cNvSpPr/>
          <p:nvPr/>
        </p:nvSpPr>
        <p:spPr>
          <a:xfrm>
            <a:off x="6409944" y="15636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6812280" y="1536192"/>
            <a:ext cx="3694176" cy="347472"/>
          </a:xfrm>
          <a:prstGeom prst="rect">
            <a:avLst/>
          </a:prstGeom>
          <a:noFill/>
          <a:ln/>
        </p:spPr>
        <p:txBody>
          <a:bodyPr wrap="square" lIns="0" tIns="0" rIns="0" bIns="0" rtlCol="0" anchor="t"/>
          <a:lstStyle/>
          <a:p>
            <a:pPr indent="0" marL="0">
              <a:lnSpc>
                <a:spcPts val="1500"/>
              </a:lnSpc>
              <a:buNone/>
            </a:pPr>
            <a:r>
              <a:rPr lang="en-US" sz="1200" b="1" dirty="0">
                <a:solidFill>
                  <a:srgbClr val="152A4E"/>
                </a:solidFill>
                <a:latin typeface="Calibri" pitchFamily="34" charset="0"/>
                <a:ea typeface="Calibri" pitchFamily="34" charset="-122"/>
                <a:cs typeface="Calibri" pitchFamily="34" charset="-120"/>
              </a:rPr>
              <a:t>What are the actual towers?</a:t>
            </a:r>
            <a:endParaRPr lang="en-US" sz="1200" dirty="0"/>
          </a:p>
        </p:txBody>
      </p:sp>
      <p:sp>
        <p:nvSpPr>
          <p:cNvPr id="16" name="Text 14"/>
          <p:cNvSpPr/>
          <p:nvPr/>
        </p:nvSpPr>
        <p:spPr>
          <a:xfrm>
            <a:off x="6812280" y="1920240"/>
            <a:ext cx="4654296"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The eight in A-5 are a generic guess. Real domain names are needed before groups and queues are created.</a:t>
            </a:r>
            <a:endParaRPr lang="en-US" sz="1000" dirty="0"/>
          </a:p>
        </p:txBody>
      </p:sp>
      <p:sp>
        <p:nvSpPr>
          <p:cNvPr id="17" name="Shape 15"/>
          <p:cNvSpPr/>
          <p:nvPr/>
        </p:nvSpPr>
        <p:spPr>
          <a:xfrm>
            <a:off x="10634472" y="1572768"/>
            <a:ext cx="850392" cy="237744"/>
          </a:xfrm>
          <a:prstGeom prst="roundRect">
            <a:avLst>
              <a:gd name="adj" fmla="val 19231"/>
            </a:avLst>
          </a:prstGeom>
          <a:solidFill>
            <a:srgbClr val="A86A11"/>
          </a:solidFill>
          <a:ln w="12700">
            <a:solidFill>
              <a:srgbClr val="A86A11"/>
            </a:solidFill>
            <a:prstDash val="solid"/>
          </a:ln>
        </p:spPr>
      </p:sp>
      <p:sp>
        <p:nvSpPr>
          <p:cNvPr id="18" name="Text 16"/>
          <p:cNvSpPr/>
          <p:nvPr/>
        </p:nvSpPr>
        <p:spPr>
          <a:xfrm>
            <a:off x="10634472" y="1572768"/>
            <a:ext cx="850392"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BLOCKING</a:t>
            </a:r>
            <a:endParaRPr lang="en-US" sz="750" dirty="0"/>
          </a:p>
        </p:txBody>
      </p:sp>
      <p:sp>
        <p:nvSpPr>
          <p:cNvPr id="19" name="Shape 17"/>
          <p:cNvSpPr/>
          <p:nvPr/>
        </p:nvSpPr>
        <p:spPr>
          <a:xfrm>
            <a:off x="502920" y="2697480"/>
            <a:ext cx="5477256" cy="1143000"/>
          </a:xfrm>
          <a:prstGeom prst="roundRect">
            <a:avLst>
              <a:gd name="adj" fmla="val 4800"/>
            </a:avLst>
          </a:prstGeom>
          <a:solidFill>
            <a:srgbClr val="FBEEDA"/>
          </a:solidFill>
          <a:ln w="12700">
            <a:solidFill>
              <a:srgbClr val="DFC08A"/>
            </a:solidFill>
            <a:prstDash val="solid"/>
          </a:ln>
          <a:effectLst>
            <a:outerShdw sx="100000" sy="100000" kx="0" ky="0" algn="bl" rotWithShape="0" blurRad="76200" dist="12700" dir="5400000">
              <a:srgbClr val="9AA7BA">
                <a:alpha val="22000"/>
              </a:srgbClr>
            </a:outerShdw>
          </a:effectLst>
        </p:spPr>
      </p:sp>
      <p:sp>
        <p:nvSpPr>
          <p:cNvPr id="20" name="Shape 18"/>
          <p:cNvSpPr/>
          <p:nvPr/>
        </p:nvSpPr>
        <p:spPr>
          <a:xfrm>
            <a:off x="704088" y="2843784"/>
            <a:ext cx="292608" cy="292608"/>
          </a:xfrm>
          <a:prstGeom prst="roundRect">
            <a:avLst>
              <a:gd name="adj" fmla="val 15625"/>
            </a:avLst>
          </a:prstGeom>
          <a:solidFill>
            <a:srgbClr val="A86A11"/>
          </a:solidFill>
          <a:ln w="12700">
            <a:solidFill>
              <a:srgbClr val="A86A11"/>
            </a:solidFill>
            <a:prstDash val="solid"/>
          </a:ln>
        </p:spPr>
      </p:sp>
      <p:sp>
        <p:nvSpPr>
          <p:cNvPr id="21" name="Text 19"/>
          <p:cNvSpPr/>
          <p:nvPr/>
        </p:nvSpPr>
        <p:spPr>
          <a:xfrm>
            <a:off x="704088" y="284378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1106424" y="2816352"/>
            <a:ext cx="3694176" cy="347472"/>
          </a:xfrm>
          <a:prstGeom prst="rect">
            <a:avLst/>
          </a:prstGeom>
          <a:noFill/>
          <a:ln/>
        </p:spPr>
        <p:txBody>
          <a:bodyPr wrap="square" lIns="0" tIns="0" rIns="0" bIns="0" rtlCol="0" anchor="t"/>
          <a:lstStyle/>
          <a:p>
            <a:pPr indent="0" marL="0">
              <a:lnSpc>
                <a:spcPts val="1500"/>
              </a:lnSpc>
              <a:buNone/>
            </a:pPr>
            <a:r>
              <a:rPr lang="en-US" sz="1200" b="1" dirty="0">
                <a:solidFill>
                  <a:srgbClr val="152A4E"/>
                </a:solidFill>
                <a:latin typeface="Calibri" pitchFamily="34" charset="0"/>
                <a:ea typeface="Calibri" pitchFamily="34" charset="-122"/>
                <a:cs typeface="Calibri" pitchFamily="34" charset="-120"/>
              </a:rPr>
              <a:t>One project, or one per tower?</a:t>
            </a:r>
            <a:endParaRPr lang="en-US" sz="1200" dirty="0"/>
          </a:p>
        </p:txBody>
      </p:sp>
      <p:sp>
        <p:nvSpPr>
          <p:cNvPr id="23" name="Text 21"/>
          <p:cNvSpPr/>
          <p:nvPr/>
        </p:nvSpPr>
        <p:spPr>
          <a:xfrm>
            <a:off x="1106424" y="3200400"/>
            <a:ext cx="4654296"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Only split if towers are separate vendors with data-isolation requirements. Otherwise one project — slide 4.</a:t>
            </a:r>
            <a:endParaRPr lang="en-US" sz="1000" dirty="0"/>
          </a:p>
        </p:txBody>
      </p:sp>
      <p:sp>
        <p:nvSpPr>
          <p:cNvPr id="24" name="Shape 22"/>
          <p:cNvSpPr/>
          <p:nvPr/>
        </p:nvSpPr>
        <p:spPr>
          <a:xfrm>
            <a:off x="4928616" y="2852928"/>
            <a:ext cx="850392" cy="237744"/>
          </a:xfrm>
          <a:prstGeom prst="roundRect">
            <a:avLst>
              <a:gd name="adj" fmla="val 19231"/>
            </a:avLst>
          </a:prstGeom>
          <a:solidFill>
            <a:srgbClr val="A86A11"/>
          </a:solidFill>
          <a:ln w="12700">
            <a:solidFill>
              <a:srgbClr val="A86A11"/>
            </a:solidFill>
            <a:prstDash val="solid"/>
          </a:ln>
        </p:spPr>
      </p:sp>
      <p:sp>
        <p:nvSpPr>
          <p:cNvPr id="25" name="Text 23"/>
          <p:cNvSpPr/>
          <p:nvPr/>
        </p:nvSpPr>
        <p:spPr>
          <a:xfrm>
            <a:off x="4928616" y="2852928"/>
            <a:ext cx="850392"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BLOCKING</a:t>
            </a:r>
            <a:endParaRPr lang="en-US" sz="750" dirty="0"/>
          </a:p>
        </p:txBody>
      </p:sp>
      <p:sp>
        <p:nvSpPr>
          <p:cNvPr id="26" name="Shape 24"/>
          <p:cNvSpPr/>
          <p:nvPr/>
        </p:nvSpPr>
        <p:spPr>
          <a:xfrm>
            <a:off x="6208776" y="2697480"/>
            <a:ext cx="5477256" cy="1143000"/>
          </a:xfrm>
          <a:prstGeom prst="roundRect">
            <a:avLst>
              <a:gd name="adj" fmla="val 480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27" name="Shape 25"/>
          <p:cNvSpPr/>
          <p:nvPr/>
        </p:nvSpPr>
        <p:spPr>
          <a:xfrm>
            <a:off x="6409944" y="2843784"/>
            <a:ext cx="292608" cy="292608"/>
          </a:xfrm>
          <a:prstGeom prst="roundRect">
            <a:avLst>
              <a:gd name="adj" fmla="val 15625"/>
            </a:avLst>
          </a:prstGeom>
          <a:solidFill>
            <a:srgbClr val="27436F"/>
          </a:solidFill>
          <a:ln w="12700">
            <a:solidFill>
              <a:srgbClr val="27436F"/>
            </a:solidFill>
            <a:prstDash val="solid"/>
          </a:ln>
        </p:spPr>
      </p:sp>
      <p:sp>
        <p:nvSpPr>
          <p:cNvPr id="28" name="Text 26"/>
          <p:cNvSpPr/>
          <p:nvPr/>
        </p:nvSpPr>
        <p:spPr>
          <a:xfrm>
            <a:off x="6409944" y="284378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7"/>
          <p:cNvSpPr/>
          <p:nvPr/>
        </p:nvSpPr>
        <p:spPr>
          <a:xfrm>
            <a:off x="6812280" y="2816352"/>
            <a:ext cx="4654296" cy="347472"/>
          </a:xfrm>
          <a:prstGeom prst="rect">
            <a:avLst/>
          </a:prstGeom>
          <a:noFill/>
          <a:ln/>
        </p:spPr>
        <p:txBody>
          <a:bodyPr wrap="square" lIns="0" tIns="0" rIns="0" bIns="0" rtlCol="0" anchor="t"/>
          <a:lstStyle/>
          <a:p>
            <a:pPr indent="0" marL="0">
              <a:lnSpc>
                <a:spcPts val="1500"/>
              </a:lnSpc>
              <a:buNone/>
            </a:pPr>
            <a:r>
              <a:rPr lang="en-US" sz="1200" b="1" dirty="0">
                <a:solidFill>
                  <a:srgbClr val="152A4E"/>
                </a:solidFill>
                <a:latin typeface="Calibri" pitchFamily="34" charset="0"/>
                <a:ea typeface="Calibri" pitchFamily="34" charset="-122"/>
                <a:cs typeface="Calibri" pitchFamily="34" charset="-120"/>
              </a:rPr>
              <a:t>Team size and shift model?</a:t>
            </a:r>
            <a:endParaRPr lang="en-US" sz="1200" dirty="0"/>
          </a:p>
        </p:txBody>
      </p:sp>
      <p:sp>
        <p:nvSpPr>
          <p:cNvPr id="30" name="Text 28"/>
          <p:cNvSpPr/>
          <p:nvPr/>
        </p:nvSpPr>
        <p:spPr>
          <a:xfrm>
            <a:off x="6812280" y="3200400"/>
            <a:ext cx="4654296"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Decides 24×7 versus business-hours SLA calendars, and whether on-call routing is needed.</a:t>
            </a:r>
            <a:endParaRPr lang="en-US" sz="1000" dirty="0"/>
          </a:p>
        </p:txBody>
      </p:sp>
      <p:sp>
        <p:nvSpPr>
          <p:cNvPr id="31" name="Shape 29"/>
          <p:cNvSpPr/>
          <p:nvPr/>
        </p:nvSpPr>
        <p:spPr>
          <a:xfrm>
            <a:off x="502920" y="3977640"/>
            <a:ext cx="5477256" cy="1143000"/>
          </a:xfrm>
          <a:prstGeom prst="roundRect">
            <a:avLst>
              <a:gd name="adj" fmla="val 480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32" name="Shape 30"/>
          <p:cNvSpPr/>
          <p:nvPr/>
        </p:nvSpPr>
        <p:spPr>
          <a:xfrm>
            <a:off x="704088" y="4123944"/>
            <a:ext cx="292608" cy="292608"/>
          </a:xfrm>
          <a:prstGeom prst="roundRect">
            <a:avLst>
              <a:gd name="adj" fmla="val 15625"/>
            </a:avLst>
          </a:prstGeom>
          <a:solidFill>
            <a:srgbClr val="27436F"/>
          </a:solidFill>
          <a:ln w="12700">
            <a:solidFill>
              <a:srgbClr val="27436F"/>
            </a:solidFill>
            <a:prstDash val="solid"/>
          </a:ln>
        </p:spPr>
      </p:sp>
      <p:sp>
        <p:nvSpPr>
          <p:cNvPr id="33" name="Text 31"/>
          <p:cNvSpPr/>
          <p:nvPr/>
        </p:nvSpPr>
        <p:spPr>
          <a:xfrm>
            <a:off x="704088" y="41239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4" name="Text 32"/>
          <p:cNvSpPr/>
          <p:nvPr/>
        </p:nvSpPr>
        <p:spPr>
          <a:xfrm>
            <a:off x="1106424" y="4096512"/>
            <a:ext cx="4654296" cy="347472"/>
          </a:xfrm>
          <a:prstGeom prst="rect">
            <a:avLst/>
          </a:prstGeom>
          <a:noFill/>
          <a:ln/>
        </p:spPr>
        <p:txBody>
          <a:bodyPr wrap="square" lIns="0" tIns="0" rIns="0" bIns="0" rtlCol="0" anchor="t"/>
          <a:lstStyle/>
          <a:p>
            <a:pPr indent="0" marL="0">
              <a:lnSpc>
                <a:spcPts val="1500"/>
              </a:lnSpc>
              <a:buNone/>
            </a:pPr>
            <a:r>
              <a:rPr lang="en-US" sz="1200" b="1" dirty="0">
                <a:solidFill>
                  <a:srgbClr val="152A4E"/>
                </a:solidFill>
                <a:latin typeface="Calibri" pitchFamily="34" charset="0"/>
                <a:ea typeface="Calibri" pitchFamily="34" charset="-122"/>
                <a:cs typeface="Calibri" pitchFamily="34" charset="-120"/>
              </a:rPr>
              <a:t>Intake channels?</a:t>
            </a:r>
            <a:endParaRPr lang="en-US" sz="1200" dirty="0"/>
          </a:p>
        </p:txBody>
      </p:sp>
      <p:sp>
        <p:nvSpPr>
          <p:cNvPr id="35" name="Text 33"/>
          <p:cNvSpPr/>
          <p:nvPr/>
        </p:nvSpPr>
        <p:spPr>
          <a:xfrm>
            <a:off x="1106424" y="4480560"/>
            <a:ext cx="4654296"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Portal only, or email, Slack, Teams and monitoring-tool webhooks as well?</a:t>
            </a:r>
            <a:endParaRPr lang="en-US" sz="1000" dirty="0"/>
          </a:p>
        </p:txBody>
      </p:sp>
      <p:sp>
        <p:nvSpPr>
          <p:cNvPr id="36" name="Shape 34"/>
          <p:cNvSpPr/>
          <p:nvPr/>
        </p:nvSpPr>
        <p:spPr>
          <a:xfrm>
            <a:off x="6208776" y="3977640"/>
            <a:ext cx="5477256" cy="1143000"/>
          </a:xfrm>
          <a:prstGeom prst="roundRect">
            <a:avLst>
              <a:gd name="adj" fmla="val 4800"/>
            </a:avLst>
          </a:prstGeom>
          <a:solidFill>
            <a:srgbClr val="FFFFFF"/>
          </a:solidFill>
          <a:ln w="12700">
            <a:solidFill>
              <a:srgbClr val="D3DBE6"/>
            </a:solidFill>
            <a:prstDash val="solid"/>
          </a:ln>
          <a:effectLst>
            <a:outerShdw sx="100000" sy="100000" kx="0" ky="0" algn="bl" rotWithShape="0" blurRad="76200" dist="12700" dir="5400000">
              <a:srgbClr val="9AA7BA">
                <a:alpha val="22000"/>
              </a:srgbClr>
            </a:outerShdw>
          </a:effectLst>
        </p:spPr>
      </p:sp>
      <p:sp>
        <p:nvSpPr>
          <p:cNvPr id="37" name="Shape 35"/>
          <p:cNvSpPr/>
          <p:nvPr/>
        </p:nvSpPr>
        <p:spPr>
          <a:xfrm>
            <a:off x="6409944" y="4123944"/>
            <a:ext cx="292608" cy="292608"/>
          </a:xfrm>
          <a:prstGeom prst="roundRect">
            <a:avLst>
              <a:gd name="adj" fmla="val 15625"/>
            </a:avLst>
          </a:prstGeom>
          <a:solidFill>
            <a:srgbClr val="27436F"/>
          </a:solidFill>
          <a:ln w="12700">
            <a:solidFill>
              <a:srgbClr val="27436F"/>
            </a:solidFill>
            <a:prstDash val="solid"/>
          </a:ln>
        </p:spPr>
      </p:sp>
      <p:sp>
        <p:nvSpPr>
          <p:cNvPr id="38" name="Text 36"/>
          <p:cNvSpPr/>
          <p:nvPr/>
        </p:nvSpPr>
        <p:spPr>
          <a:xfrm>
            <a:off x="6409944" y="41239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Text 37"/>
          <p:cNvSpPr/>
          <p:nvPr/>
        </p:nvSpPr>
        <p:spPr>
          <a:xfrm>
            <a:off x="6812280" y="4096512"/>
            <a:ext cx="4654296" cy="347472"/>
          </a:xfrm>
          <a:prstGeom prst="rect">
            <a:avLst/>
          </a:prstGeom>
          <a:noFill/>
          <a:ln/>
        </p:spPr>
        <p:txBody>
          <a:bodyPr wrap="square" lIns="0" tIns="0" rIns="0" bIns="0" rtlCol="0" anchor="t"/>
          <a:lstStyle/>
          <a:p>
            <a:pPr indent="0" marL="0">
              <a:lnSpc>
                <a:spcPts val="1500"/>
              </a:lnSpc>
              <a:buNone/>
            </a:pPr>
            <a:r>
              <a:rPr lang="en-US" sz="1200" b="1" dirty="0">
                <a:solidFill>
                  <a:srgbClr val="152A4E"/>
                </a:solidFill>
                <a:latin typeface="Calibri" pitchFamily="34" charset="0"/>
                <a:ea typeface="Calibri" pitchFamily="34" charset="-122"/>
                <a:cs typeface="Calibri" pitchFamily="34" charset="-120"/>
              </a:rPr>
              <a:t>Is this a demo or a production rollout?</a:t>
            </a:r>
            <a:endParaRPr lang="en-US" sz="1200" dirty="0"/>
          </a:p>
        </p:txBody>
      </p:sp>
      <p:sp>
        <p:nvSpPr>
          <p:cNvPr id="40" name="Text 38"/>
          <p:cNvSpPr/>
          <p:nvPr/>
        </p:nvSpPr>
        <p:spPr>
          <a:xfrm>
            <a:off x="6812280" y="4480560"/>
            <a:ext cx="4654296" cy="566928"/>
          </a:xfrm>
          <a:prstGeom prst="rect">
            <a:avLst/>
          </a:prstGeom>
          <a:noFill/>
          <a:ln/>
        </p:spPr>
        <p:txBody>
          <a:bodyPr wrap="square" lIns="0" tIns="0" rIns="0" bIns="0" rtlCol="0" anchor="t"/>
          <a:lstStyle/>
          <a:p>
            <a:pPr indent="0" marL="0">
              <a:lnSpc>
                <a:spcPts val="1300"/>
              </a:lnSpc>
              <a:buNone/>
            </a:pPr>
            <a:r>
              <a:rPr lang="en-US" sz="1000" dirty="0">
                <a:solidFill>
                  <a:srgbClr val="1A1A1A"/>
                </a:solidFill>
                <a:latin typeface="Calibri" pitchFamily="34" charset="0"/>
                <a:ea typeface="Calibri" pitchFamily="34" charset="-122"/>
                <a:cs typeface="Calibri" pitchFamily="34" charset="-120"/>
              </a:rPr>
              <a:t>A demo can run on the JSM free tier and skip permission hardening; production needs the full scheme plus a licence count.</a:t>
            </a:r>
            <a:endParaRPr lang="en-US" sz="1000" dirty="0"/>
          </a:p>
        </p:txBody>
      </p:sp>
      <p:sp>
        <p:nvSpPr>
          <p:cNvPr id="41" name="Shape 39"/>
          <p:cNvSpPr/>
          <p:nvPr/>
        </p:nvSpPr>
        <p:spPr>
          <a:xfrm>
            <a:off x="502920" y="5303520"/>
            <a:ext cx="11183112" cy="868680"/>
          </a:xfrm>
          <a:prstGeom prst="roundRect">
            <a:avLst>
              <a:gd name="adj" fmla="val 6316"/>
            </a:avLst>
          </a:prstGeom>
          <a:solidFill>
            <a:srgbClr val="152A4E"/>
          </a:solidFill>
          <a:ln w="12700">
            <a:solidFill>
              <a:srgbClr val="152A4E"/>
            </a:solidFill>
            <a:prstDash val="solid"/>
          </a:ln>
          <a:effectLst>
            <a:outerShdw sx="100000" sy="100000" kx="0" ky="0" algn="bl" rotWithShape="0" blurRad="76200" dist="12700" dir="5400000">
              <a:srgbClr val="9AA7BA">
                <a:alpha val="22000"/>
              </a:srgbClr>
            </a:outerShdw>
          </a:effectLst>
        </p:spPr>
      </p:sp>
      <p:sp>
        <p:nvSpPr>
          <p:cNvPr id="42" name="Text 40"/>
          <p:cNvSpPr/>
          <p:nvPr/>
        </p:nvSpPr>
        <p:spPr>
          <a:xfrm>
            <a:off x="777240" y="5394960"/>
            <a:ext cx="1060704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Nothing here blocks starting</a:t>
            </a:r>
            <a:endParaRPr lang="en-US" sz="1300" dirty="0"/>
          </a:p>
        </p:txBody>
      </p:sp>
      <p:sp>
        <p:nvSpPr>
          <p:cNvPr id="43" name="Text 41"/>
          <p:cNvSpPr/>
          <p:nvPr/>
        </p:nvSpPr>
        <p:spPr>
          <a:xfrm>
            <a:off x="777240" y="5669280"/>
            <a:ext cx="10607040" cy="411480"/>
          </a:xfrm>
          <a:prstGeom prst="rect">
            <a:avLst/>
          </a:prstGeom>
          <a:noFill/>
          <a:ln/>
        </p:spPr>
        <p:txBody>
          <a:bodyPr wrap="square" lIns="0" tIns="0" rIns="0" bIns="0" rtlCol="0" anchor="ctr"/>
          <a:lstStyle/>
          <a:p>
            <a:pPr indent="0" marL="0">
              <a:lnSpc>
                <a:spcPts val="1600"/>
              </a:lnSpc>
              <a:buNone/>
            </a:pPr>
            <a:r>
              <a:rPr lang="en-US" sz="1150" dirty="0">
                <a:solidFill>
                  <a:srgbClr val="CFDAEA"/>
                </a:solidFill>
                <a:latin typeface="Calibri" pitchFamily="34" charset="0"/>
                <a:ea typeface="Calibri" pitchFamily="34" charset="-122"/>
                <a:cs typeface="Calibri" pitchFamily="34" charset="-120"/>
              </a:rPr>
              <a:t>Questions 1 to 3 are phase 0 and take a conversation, not a study. Questions 4 to 6 can be answered while the schema and workflow are built — none of them changes the core model.</a:t>
            </a:r>
            <a:endParaRPr lang="en-US" sz="1150" dirty="0"/>
          </a:p>
        </p:txBody>
      </p:sp>
      <p:sp>
        <p:nvSpPr>
          <p:cNvPr id="44" name="Text 42"/>
          <p:cNvSpPr/>
          <p:nvPr/>
        </p:nvSpPr>
        <p:spPr>
          <a:xfrm>
            <a:off x="502920" y="6364224"/>
            <a:ext cx="91440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Source: PLAN.md §11 open questions</a:t>
            </a:r>
            <a:endParaRPr lang="en-US" sz="850" dirty="0"/>
          </a:p>
        </p:txBody>
      </p:sp>
      <p:sp>
        <p:nvSpPr>
          <p:cNvPr id="45" name="Text 43"/>
          <p:cNvSpPr/>
          <p:nvPr/>
        </p:nvSpPr>
        <p:spPr>
          <a:xfrm>
            <a:off x="10588752" y="6364224"/>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an L1/L2 Support Tower on Jira</dc:title>
  <dc:subject>PptxGenJS Presentation</dc:subject>
  <dc:creator>Platform Engineering</dc:creator>
  <cp:lastModifiedBy>Platform Engineering</cp:lastModifiedBy>
  <cp:revision>1</cp:revision>
  <dcterms:created xsi:type="dcterms:W3CDTF">2026-07-20T06:27:39Z</dcterms:created>
  <dcterms:modified xsi:type="dcterms:W3CDTF">2026-07-20T06:27:39Z</dcterms:modified>
</cp:coreProperties>
</file>